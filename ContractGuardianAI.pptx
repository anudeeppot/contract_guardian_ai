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notesMasterIdLst>
    <p:notesMasterId r:id="rId16"/>
  </p:notesMasterIdLst>
  <p:sldIdLst>
    <p:sldId id="256" r:id="rId2"/>
    <p:sldId id="272" r:id="rId3"/>
    <p:sldId id="257" r:id="rId4"/>
    <p:sldId id="258" r:id="rId5"/>
    <p:sldId id="259" r:id="rId6"/>
    <p:sldId id="260" r:id="rId7"/>
    <p:sldId id="261" r:id="rId8"/>
    <p:sldId id="262" r:id="rId9"/>
    <p:sldId id="263" r:id="rId10"/>
    <p:sldId id="264" r:id="rId11"/>
    <p:sldId id="268" r:id="rId12"/>
    <p:sldId id="273" r:id="rId13"/>
    <p:sldId id="274" r:id="rId14"/>
    <p:sldId id="270" r:id="rId1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13084-CC58-4338-86CD-6D9D03E67050}" v="14" dt="2026-08-07T07:23:32.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RADHAR SATHISH KUMAR" userId="b1fc6a60c48f7264" providerId="LiveId" clId="{C5A35BA0-E7DB-447E-8B55-78753FFFBBF8}"/>
    <pc:docChg chg="undo custSel addSld delSld modSld sldOrd">
      <pc:chgData name="BIRADHAR SATHISH KUMAR" userId="b1fc6a60c48f7264" providerId="LiveId" clId="{C5A35BA0-E7DB-447E-8B55-78753FFFBBF8}" dt="2026-08-07T07:27:24.426" v="73" actId="1076"/>
      <pc:docMkLst>
        <pc:docMk/>
      </pc:docMkLst>
      <pc:sldChg chg="modSp mod">
        <pc:chgData name="BIRADHAR SATHISH KUMAR" userId="b1fc6a60c48f7264" providerId="LiveId" clId="{C5A35BA0-E7DB-447E-8B55-78753FFFBBF8}" dt="2026-08-07T07:25:18.804" v="60" actId="20577"/>
        <pc:sldMkLst>
          <pc:docMk/>
          <pc:sldMk cId="0" sldId="256"/>
        </pc:sldMkLst>
        <pc:spChg chg="mod">
          <ac:chgData name="BIRADHAR SATHISH KUMAR" userId="b1fc6a60c48f7264" providerId="LiveId" clId="{C5A35BA0-E7DB-447E-8B55-78753FFFBBF8}" dt="2026-08-07T07:25:18.804" v="60" actId="20577"/>
          <ac:spMkLst>
            <pc:docMk/>
            <pc:sldMk cId="0" sldId="256"/>
            <ac:spMk id="11" creationId="{00000000-0000-0000-0000-000000000000}"/>
          </ac:spMkLst>
        </pc:spChg>
      </pc:sldChg>
      <pc:sldChg chg="modSp mod">
        <pc:chgData name="BIRADHAR SATHISH KUMAR" userId="b1fc6a60c48f7264" providerId="LiveId" clId="{C5A35BA0-E7DB-447E-8B55-78753FFFBBF8}" dt="2026-08-07T07:24:54.165" v="58" actId="1076"/>
        <pc:sldMkLst>
          <pc:docMk/>
          <pc:sldMk cId="0" sldId="268"/>
        </pc:sldMkLst>
        <pc:spChg chg="mod">
          <ac:chgData name="BIRADHAR SATHISH KUMAR" userId="b1fc6a60c48f7264" providerId="LiveId" clId="{C5A35BA0-E7DB-447E-8B55-78753FFFBBF8}" dt="2026-08-07T07:24:54.165" v="58" actId="1076"/>
          <ac:spMkLst>
            <pc:docMk/>
            <pc:sldMk cId="0" sldId="268"/>
            <ac:spMk id="30" creationId="{00000000-0000-0000-0000-000000000000}"/>
          </ac:spMkLst>
        </pc:spChg>
      </pc:sldChg>
      <pc:sldChg chg="del">
        <pc:chgData name="BIRADHAR SATHISH KUMAR" userId="b1fc6a60c48f7264" providerId="LiveId" clId="{C5A35BA0-E7DB-447E-8B55-78753FFFBBF8}" dt="2026-08-07T07:20:30.543" v="10" actId="47"/>
        <pc:sldMkLst>
          <pc:docMk/>
          <pc:sldMk cId="0" sldId="269"/>
        </pc:sldMkLst>
      </pc:sldChg>
      <pc:sldChg chg="delSp modSp mod">
        <pc:chgData name="BIRADHAR SATHISH KUMAR" userId="b1fc6a60c48f7264" providerId="LiveId" clId="{C5A35BA0-E7DB-447E-8B55-78753FFFBBF8}" dt="2026-08-07T07:27:24.426" v="73" actId="1076"/>
        <pc:sldMkLst>
          <pc:docMk/>
          <pc:sldMk cId="0" sldId="270"/>
        </pc:sldMkLst>
        <pc:spChg chg="del mod">
          <ac:chgData name="BIRADHAR SATHISH KUMAR" userId="b1fc6a60c48f7264" providerId="LiveId" clId="{C5A35BA0-E7DB-447E-8B55-78753FFFBBF8}" dt="2026-08-07T07:25:44.451" v="63" actId="478"/>
          <ac:spMkLst>
            <pc:docMk/>
            <pc:sldMk cId="0" sldId="270"/>
            <ac:spMk id="3" creationId="{00000000-0000-0000-0000-000000000000}"/>
          </ac:spMkLst>
        </pc:spChg>
        <pc:spChg chg="del">
          <ac:chgData name="BIRADHAR SATHISH KUMAR" userId="b1fc6a60c48f7264" providerId="LiveId" clId="{C5A35BA0-E7DB-447E-8B55-78753FFFBBF8}" dt="2026-08-07T07:25:50.023" v="64" actId="478"/>
          <ac:spMkLst>
            <pc:docMk/>
            <pc:sldMk cId="0" sldId="270"/>
            <ac:spMk id="4" creationId="{00000000-0000-0000-0000-000000000000}"/>
          </ac:spMkLst>
        </pc:spChg>
        <pc:spChg chg="mod">
          <ac:chgData name="BIRADHAR SATHISH KUMAR" userId="b1fc6a60c48f7264" providerId="LiveId" clId="{C5A35BA0-E7DB-447E-8B55-78753FFFBBF8}" dt="2026-08-07T07:27:24.426" v="73" actId="1076"/>
          <ac:spMkLst>
            <pc:docMk/>
            <pc:sldMk cId="0" sldId="270"/>
            <ac:spMk id="5" creationId="{00000000-0000-0000-0000-000000000000}"/>
          </ac:spMkLst>
        </pc:spChg>
        <pc:spChg chg="del">
          <ac:chgData name="BIRADHAR SATHISH KUMAR" userId="b1fc6a60c48f7264" providerId="LiveId" clId="{C5A35BA0-E7DB-447E-8B55-78753FFFBBF8}" dt="2026-08-07T07:26:57.596" v="65" actId="478"/>
          <ac:spMkLst>
            <pc:docMk/>
            <pc:sldMk cId="0" sldId="270"/>
            <ac:spMk id="15" creationId="{00000000-0000-0000-0000-000000000000}"/>
          </ac:spMkLst>
        </pc:spChg>
        <pc:spChg chg="del">
          <ac:chgData name="BIRADHAR SATHISH KUMAR" userId="b1fc6a60c48f7264" providerId="LiveId" clId="{C5A35BA0-E7DB-447E-8B55-78753FFFBBF8}" dt="2026-08-07T07:27:07.333" v="68" actId="478"/>
          <ac:spMkLst>
            <pc:docMk/>
            <pc:sldMk cId="0" sldId="270"/>
            <ac:spMk id="16" creationId="{00000000-0000-0000-0000-000000000000}"/>
          </ac:spMkLst>
        </pc:spChg>
        <pc:spChg chg="del mod">
          <ac:chgData name="BIRADHAR SATHISH KUMAR" userId="b1fc6a60c48f7264" providerId="LiveId" clId="{C5A35BA0-E7DB-447E-8B55-78753FFFBBF8}" dt="2026-08-07T07:27:05.608" v="67" actId="478"/>
          <ac:spMkLst>
            <pc:docMk/>
            <pc:sldMk cId="0" sldId="270"/>
            <ac:spMk id="17" creationId="{00000000-0000-0000-0000-000000000000}"/>
          </ac:spMkLst>
        </pc:spChg>
        <pc:spChg chg="del">
          <ac:chgData name="BIRADHAR SATHISH KUMAR" userId="b1fc6a60c48f7264" providerId="LiveId" clId="{C5A35BA0-E7DB-447E-8B55-78753FFFBBF8}" dt="2026-08-07T07:27:09.008" v="69" actId="478"/>
          <ac:spMkLst>
            <pc:docMk/>
            <pc:sldMk cId="0" sldId="270"/>
            <ac:spMk id="18" creationId="{00000000-0000-0000-0000-000000000000}"/>
          </ac:spMkLst>
        </pc:spChg>
        <pc:spChg chg="del">
          <ac:chgData name="BIRADHAR SATHISH KUMAR" userId="b1fc6a60c48f7264" providerId="LiveId" clId="{C5A35BA0-E7DB-447E-8B55-78753FFFBBF8}" dt="2026-08-07T07:27:14.945" v="70" actId="478"/>
          <ac:spMkLst>
            <pc:docMk/>
            <pc:sldMk cId="0" sldId="270"/>
            <ac:spMk id="19" creationId="{00000000-0000-0000-0000-000000000000}"/>
          </ac:spMkLst>
        </pc:spChg>
        <pc:spChg chg="del">
          <ac:chgData name="BIRADHAR SATHISH KUMAR" userId="b1fc6a60c48f7264" providerId="LiveId" clId="{C5A35BA0-E7DB-447E-8B55-78753FFFBBF8}" dt="2026-08-07T07:27:20.326" v="72" actId="478"/>
          <ac:spMkLst>
            <pc:docMk/>
            <pc:sldMk cId="0" sldId="270"/>
            <ac:spMk id="20" creationId="{00000000-0000-0000-0000-000000000000}"/>
          </ac:spMkLst>
        </pc:spChg>
        <pc:spChg chg="del">
          <ac:chgData name="BIRADHAR SATHISH KUMAR" userId="b1fc6a60c48f7264" providerId="LiveId" clId="{C5A35BA0-E7DB-447E-8B55-78753FFFBBF8}" dt="2026-08-07T07:27:18.601" v="71" actId="478"/>
          <ac:spMkLst>
            <pc:docMk/>
            <pc:sldMk cId="0" sldId="270"/>
            <ac:spMk id="21" creationId="{00000000-0000-0000-0000-000000000000}"/>
          </ac:spMkLst>
        </pc:spChg>
      </pc:sldChg>
      <pc:sldChg chg="delSp modSp mod">
        <pc:chgData name="BIRADHAR SATHISH KUMAR" userId="b1fc6a60c48f7264" providerId="LiveId" clId="{C5A35BA0-E7DB-447E-8B55-78753FFFBBF8}" dt="2026-08-07T07:19:41.933" v="9" actId="207"/>
        <pc:sldMkLst>
          <pc:docMk/>
          <pc:sldMk cId="3669127824" sldId="272"/>
        </pc:sldMkLst>
        <pc:spChg chg="mod">
          <ac:chgData name="BIRADHAR SATHISH KUMAR" userId="b1fc6a60c48f7264" providerId="LiveId" clId="{C5A35BA0-E7DB-447E-8B55-78753FFFBBF8}" dt="2026-08-07T07:19:41.933" v="9" actId="207"/>
          <ac:spMkLst>
            <pc:docMk/>
            <pc:sldMk cId="3669127824" sldId="272"/>
            <ac:spMk id="5" creationId="{242FE50E-FCA1-3AD5-E4E4-02BDC90720FF}"/>
          </ac:spMkLst>
        </pc:spChg>
        <pc:spChg chg="del">
          <ac:chgData name="BIRADHAR SATHISH KUMAR" userId="b1fc6a60c48f7264" providerId="LiveId" clId="{C5A35BA0-E7DB-447E-8B55-78753FFFBBF8}" dt="2026-08-07T07:19:03.825" v="4" actId="478"/>
          <ac:spMkLst>
            <pc:docMk/>
            <pc:sldMk cId="3669127824" sldId="272"/>
            <ac:spMk id="24" creationId="{A8EFB8A5-CFE0-2F30-A00E-4B20D6D99ADB}"/>
          </ac:spMkLst>
        </pc:spChg>
      </pc:sldChg>
      <pc:sldChg chg="addSp modSp new mod ord">
        <pc:chgData name="BIRADHAR SATHISH KUMAR" userId="b1fc6a60c48f7264" providerId="LiveId" clId="{C5A35BA0-E7DB-447E-8B55-78753FFFBBF8}" dt="2026-08-07T07:24:34.496" v="56" actId="1076"/>
        <pc:sldMkLst>
          <pc:docMk/>
          <pc:sldMk cId="1855522677" sldId="274"/>
        </pc:sldMkLst>
        <pc:spChg chg="add mod">
          <ac:chgData name="BIRADHAR SATHISH KUMAR" userId="b1fc6a60c48f7264" providerId="LiveId" clId="{C5A35BA0-E7DB-447E-8B55-78753FFFBBF8}" dt="2026-08-07T07:24:34.496" v="56" actId="1076"/>
          <ac:spMkLst>
            <pc:docMk/>
            <pc:sldMk cId="1855522677" sldId="274"/>
            <ac:spMk id="2" creationId="{2415A064-7F52-3660-A2B9-159F4AB57491}"/>
          </ac:spMkLst>
        </pc:spChg>
        <pc:spChg chg="add">
          <ac:chgData name="BIRADHAR SATHISH KUMAR" userId="b1fc6a60c48f7264" providerId="LiveId" clId="{C5A35BA0-E7DB-447E-8B55-78753FFFBBF8}" dt="2026-08-07T07:23:18.972" v="25" actId="22"/>
          <ac:spMkLst>
            <pc:docMk/>
            <pc:sldMk cId="1855522677" sldId="274"/>
            <ac:spMk id="4" creationId="{16AAD36B-499D-9B20-3C31-F3BCF75355CD}"/>
          </ac:spMkLst>
        </pc:spChg>
        <pc:spChg chg="add mod">
          <ac:chgData name="BIRADHAR SATHISH KUMAR" userId="b1fc6a60c48f7264" providerId="LiveId" clId="{C5A35BA0-E7DB-447E-8B55-78753FFFBBF8}" dt="2026-08-07T07:24:27.834" v="55" actId="1076"/>
          <ac:spMkLst>
            <pc:docMk/>
            <pc:sldMk cId="1855522677" sldId="274"/>
            <ac:spMk id="5" creationId="{0C8846AE-188A-9F90-346A-3A773A16846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38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judges and fellow engineers! Contract Guardian AI is our AI-powered platform designed to transform how legal and business professionals handle contract risk analysis. In today's fast-paced business environment, reviewing contracts manually is slow, error-prone, and expensive. Our platform leverages state-of-the-art AI — OpenAI GPT, LangChain, and Sentence Transformers — to automatically detect risky clauses, generate safer alternatives, and deliver a clear risk score. Built with React, FastAPI, and PostgreSQL, secured by JWT and x402 protocol, and deployable via Docker and Vercel, this is a production-ready solution designed for real enterprise impact.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EC93A-E677-BD1A-AD96-1A73AA391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37BC7-0C41-F0E8-DDF9-6BD6226B0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584C0-E02E-FFCB-A724-F99F7D4A88F0}"/>
              </a:ext>
            </a:extLst>
          </p:cNvPr>
          <p:cNvSpPr>
            <a:spLocks noGrp="1"/>
          </p:cNvSpPr>
          <p:nvPr>
            <p:ph type="body" idx="1"/>
          </p:nvPr>
        </p:nvSpPr>
        <p:spPr/>
        <p:txBody>
          <a:bodyPr/>
          <a:lstStyle/>
          <a:p>
            <a:r>
              <a:rPr lang="en-US" dirty="0"/>
              <a:t>This slide captures the magnitude of the problem. Contract review is one of the most time-intensive legal tasks — a single enterprise contract can take an experienced lawyer 60+ hours to review. Studies show $150 billion is lost annually globally due to poor contract management, missed deadlines, and unfavorable terms. 74% of legal disputes stem from ambiguous or risky contract clauses that were either missed or misinterpreted during review. Most critically, 40% of SMEs and startups simply cannot afford dedicated legal counsel, leaving them exposed to significant contractual risk. Contract Guardian AI addresses all these pain points simultaneously with intelligent automation.</a:t>
            </a:r>
          </a:p>
        </p:txBody>
      </p:sp>
      <p:sp>
        <p:nvSpPr>
          <p:cNvPr id="4" name="Slide Number Placeholder 3">
            <a:extLst>
              <a:ext uri="{FF2B5EF4-FFF2-40B4-BE49-F238E27FC236}">
                <a16:creationId xmlns:a16="http://schemas.microsoft.com/office/drawing/2014/main" id="{DB45DA1A-7F21-13D9-2917-63A1DF1F919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4822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captures the magnitude of the problem. Contract review is one of the most time-intensive legal tasks — a single enterprise contract can take an experienced lawyer 60+ hours to review. Studies show $150 billion is lost annually globally due to poor contract management, missed deadlines, and unfavorable terms. 74% of legal disputes stem from ambiguous or risky contract clauses that were either missed or misinterpreted during review. Most critically, 40% of SMEs and startups simply cannot afford dedicated legal counsel, leaving them exposed to significant contractual risk. Contract Guardian AI addresses all these pain points simultaneously with intelligent automation.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are precise and measurable. First, we automate the entire document ingestion pipeline — PDF and DOCX files are parsed using PyMuPDF and python-docx respectively. Second, every extracted clause is classified using GPT-4 with domain-specific prompts, categorized by risk level. Third, for each risky clause, the AI proposes safer legal alternatives. Fourth, a numerical risk score aggregates findings into a single actionable metric. Fifth, all sensitive AI endpoints are protected using JWT authentication combined with the x402 micropayment protocol, enabling a pay-per-use business model. Finally, the platform produces exportable audit-ready reports suitable for legal and compliance teams.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 Guardian AI is a full-stack SaaS platform. Users upload their contracts through a polished React frontend. The FastAPI backend orchestrates the AI pipeline — parsing text with PyMuPDF, embedding clauses with Sentence Transformers, storing vectors in FAISS, and invoking GPT-4 through LangChain for risk analysis. Each risky clause gets a risk level, explanation, and safer alternative. The entire analysis is aggregated into a risk score and a downloadable PDF report. The x402 protocol adds a pay-per-analysis monetization layer, making the platform commercially viable. PostgreSQL stores all contract metadata, analysis history, and user data securely.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workflow is a linear six-stage pipeline. Stage 1 — the user uploads a PDF or DOCX via the React frontend; FastAPI receives and validates the file. Stage 2 — PyMuPDF or python-docx extracts raw text; NLP segmentation identifies individual clauses. Stage 3 — each clause is embedded with Sentence Transformers and passed to GPT-4 via LangChain for risk classification. Stage 4 — for high-risk clauses, the AI generates safer legal alternatives. Stage 5 — a weighted scoring algorithm aggregates all clause risk levels into a composite score. Stage 6 — a complete PDF report is generated with clause annotations, the risk score, and recommendations, ready for download.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is carefully chosen for production readiness. React and TypeScript ensure a type-safe, maintainable frontend; TailwindCSS provides rapid, consistent styling. FastAPI is the fastest Python web framework — ideal for AI-heavy workloads with async support. The AI layer combines LangChain for orchestration, GPT-4o for language understanding, Sentence Transformers for semantic embeddings, and FAISS for millisecond-speed vector similarity search. PostgreSQL handles relational data while FAISS manages vector indices. Security is layered — JWT RS256 for authentication, x402 for payment gating, and OAuth2 scopes for authorization. Docker ensures consistent deployment across dev, staging, and production environments.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follows a clean three-tier pattern. The Client Layer is a React SPA served via Vercel CDN — all communication goes through HTTPS REST calls. The API Layer is a FastAPI service deployed on Render — it handles authentication, request validation, and orchestrates the AI pipeline. JWT middleware protects all endpoints; the x402 guard protects premium AI features. The AI Engine layer processes documents asynchronously — PyMuPDF extracts text, Sentence Transformers embed clauses, FAISS retrieves similar precedents, and LangChain chains coordinate multi-step GPT-4 reasoning. The Data Layer houses PostgreSQL for structured data, FAISS for vector search, Redis for caching frequently accessed analyses, and S3-compatible storage for original contract files.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pipeline is the core differentiator. Stage 1 accepts PDF or DOCX uploads. Stage 2 uses PyMuPDF for PDFs and python-docx for Word files to extract raw text, then NLP heuristics segment text into individual clauses. Stage 3 embeds each clause with Sentence Transformers and searches FAISS for similar high-risk precedents from a curated legal dataset. Stage 4 passes each clause to a LangChain chain backed by GPT-4o with a specialized legal risk classification prompt — returning risk level, explanation, and category. Stage 5 generates safer clause alternatives via a second GPT prompt chain. Stage 6 summarizes the entire contract. Stage 7 runs a weighted scoring algorithm across all clause risks to produce the final 0–100 risk score.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x402 is a breakthrough in API monetization. Traditional SaaS requires subscription billing infrastructure, fraud management, and chargebacks. x402 eliminates all of that. When an unauthenticated client hits our AI analysis endpoint, FastAPI returns HTTP 402 with a price payload specifying the cost in USDC. The client's wallet signs a blockchain transaction and retries the request with an X-Payment header containing the signed proof. Our FastAPI middleware verifies the payment on-chain before executing the expensive AI pipeline. This model is ideal for hackathon projects because it demonstrates commercial viability without requiring a full Stripe integration. It also naturally rate-limits abuse — nobody pays repeatedly just to spam the API.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 Guardian AI's key competitive advantages are: First, LLM-powered analysis goes far beyond keyword matching — GPT-4o understands legal context and can identify risks that rule-based systems miss entirely. Second, multi-format support makes adoption frictionless. Third, the proprietary risk scoring algorithm provides an immediately actionable single metric. Fourth, safer alternative generation turns the platform from a diagnostic tool into a prescriptive one — users don't just know what's wrong, they get the fix. Fifth, x402 micropayment gating demonstrates a novel revenue model. Sixth, the PDF reports are designed to be shared directly with lawyers or executives without additional processing.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 Contract Guardian AI is a complete, production-ready solution for AI-powered contract risk analysis. We've demonstrated a full seven-stage AI pipeline from document ingestion to risk report generation, powered by GPT-4o and LangChain, secured by JWT and the innovative x402 micropayment protocol. The platform addresses a real $150 billion problem with a technically rigorous, commercially viable solution. Our React frontend, FastAPI backend, and PostgreSQL database are all deployed and running. We welcome your questions — whether about the AI pipeline design, the x402 integration, the database schema, or our future roadmap. Thank you for your time and consideration!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C68F9-866A-5270-6760-4973BC83C4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CB8C9C-13D0-7D4B-3C75-6D041EEDB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F7A5ED-59CD-4F49-14A1-B1E926A72655}"/>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947642C9-0C45-6FF0-DA13-C23DE832F491}"/>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0BABA46-C8D3-B368-0FD6-09D9A5DA95CA}"/>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2259937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45BD-7E9F-53F9-DA1E-2A6BB217E7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10D531-E3A4-5853-B694-78C4310E95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622A3B-0554-4881-8984-1C4706CF0CD7}"/>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EA4FC58E-0F78-29CB-A37A-1CFBDBB651A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B8EF9BB-DBF9-8D81-267B-7591D8DBABCF}"/>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603126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53AB-A1A1-B7ED-9EA7-42880051F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9E348F9-F1DB-0268-8B8D-B4C8EB7269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F9CA55-1070-6EC2-914F-799E42537C7C}"/>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37E9D3FA-DE0B-BC98-1951-D561F6AA23A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25BFB8E-D77A-F004-FD7E-D191C4278181}"/>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70506406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C8DA0-7E14-B36A-2C82-538394FA56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F7D2DC-FFE2-A57C-45FC-26B9A913EB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C740E4-5624-20AD-6DC8-7F8F44DF7F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31106C-48AF-F8E3-AC0C-A3BD4FC5A5F3}"/>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6" name="Footer Placeholder 5">
            <a:extLst>
              <a:ext uri="{FF2B5EF4-FFF2-40B4-BE49-F238E27FC236}">
                <a16:creationId xmlns:a16="http://schemas.microsoft.com/office/drawing/2014/main" id="{E963D82B-E121-2AA5-14EB-60794EF3C26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874D2868-3E61-D32B-9A64-91CA3D77DBBE}"/>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1302114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0C328-764C-C542-F8DA-9DF2B456D9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8233A1-7F39-2C13-D5CC-916CC0EE1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574C88-E696-1F2B-5E2B-04E6ABE269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D2045D-11A7-B485-9D6A-49D4BB3FED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18BBC4-7047-700B-0261-547B60A737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C1BB78-2EB2-FBA3-279E-9E7757A66BBC}"/>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8" name="Footer Placeholder 7">
            <a:extLst>
              <a:ext uri="{FF2B5EF4-FFF2-40B4-BE49-F238E27FC236}">
                <a16:creationId xmlns:a16="http://schemas.microsoft.com/office/drawing/2014/main" id="{BDE01BD7-C925-50AC-5A65-86A53735D5F4}"/>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245919C-9523-9488-BA9B-707A153EDCEE}"/>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4407916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72918-AA9E-2D32-0D9E-20B2CC77C4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0AFE1C-1AB3-C0C5-CA13-5B9050F14F5E}"/>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4" name="Footer Placeholder 3">
            <a:extLst>
              <a:ext uri="{FF2B5EF4-FFF2-40B4-BE49-F238E27FC236}">
                <a16:creationId xmlns:a16="http://schemas.microsoft.com/office/drawing/2014/main" id="{6E00CCDE-936D-2CD3-627F-DC5D00E5667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E5776C29-1EC1-4E73-CF27-0E48BADDC83A}"/>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6221087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1380BB-92C0-9AE3-C9A1-577CDC7ACE47}"/>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3" name="Footer Placeholder 2">
            <a:extLst>
              <a:ext uri="{FF2B5EF4-FFF2-40B4-BE49-F238E27FC236}">
                <a16:creationId xmlns:a16="http://schemas.microsoft.com/office/drawing/2014/main" id="{207ED13D-44C5-D246-2CB7-604B557ACFD8}"/>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D79D4DA7-A98A-F276-C57A-CB0780FD20CE}"/>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61126427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4FDFD-97D2-ABDF-C109-5A3B2C175E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6E4300-9ED9-4FEA-0E6A-D7B081DBE8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7B7121-883D-65EB-7333-965E232D33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A5739D-E542-523E-261D-70DA70926E99}"/>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6" name="Footer Placeholder 5">
            <a:extLst>
              <a:ext uri="{FF2B5EF4-FFF2-40B4-BE49-F238E27FC236}">
                <a16:creationId xmlns:a16="http://schemas.microsoft.com/office/drawing/2014/main" id="{3FF22681-B361-80A8-8D74-80BF8EACA275}"/>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C090017F-AE08-083E-FAA0-4D183AE912E6}"/>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45167385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80FEA-A88F-BA7B-03AB-63F3C58DAC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CE4040-0D77-8672-146F-E123EBE4B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C15819-FE0A-9C86-E34D-561967E830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6E9AB8-C467-4760-7632-4AEBCFF4618E}"/>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6" name="Footer Placeholder 5">
            <a:extLst>
              <a:ext uri="{FF2B5EF4-FFF2-40B4-BE49-F238E27FC236}">
                <a16:creationId xmlns:a16="http://schemas.microsoft.com/office/drawing/2014/main" id="{1D58C9B8-7E4E-274F-E5CD-2C325BD0782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A1DDCAFC-423B-DE4F-496F-B102F4579D76}"/>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18036015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7953-A314-E341-0006-A96AB80C00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B8DCA0-B4C9-BC56-7966-123C76E2FD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A7BC6D-DDA4-9E5A-F6E7-D21CB94CC77F}"/>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C41EC89F-F7E7-9F8E-A077-5F0929CC0A0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6F11A5A-6F7F-0741-BE3B-FABE4CD9CE3F}"/>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40162947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7EBE3-BD99-1A9A-D222-86F9A35AAE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DB1479-7158-7016-7ABA-5BF2CD4ADE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2BCD90-6778-DF20-8493-12F37169333F}"/>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0576D77F-1A8A-9531-BD48-05AA8C7EFC5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50B270DA-F43E-92A9-1E57-735A1FD58CF4}"/>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29383337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368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62B095-0E2C-F3F6-54C4-84FC85BEEC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21E972-CE34-6665-697F-1FAE96641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118817-241A-9D87-6990-133F8576FA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9953EAE9-9642-6484-CF63-605F94969E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6EF3B116-1C5F-BB0B-0E98-19C2C1FA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08423108"/>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p:spPr>
      </p:sp>
      <p:sp>
        <p:nvSpPr>
          <p:cNvPr id="3" name="Shape 1"/>
          <p:cNvSpPr/>
          <p:nvPr/>
        </p:nvSpPr>
        <p:spPr>
          <a:xfrm>
            <a:off x="0" y="0"/>
            <a:ext cx="73152" cy="6858000"/>
          </a:xfrm>
          <a:prstGeom prst="rect">
            <a:avLst/>
          </a:prstGeom>
          <a:solidFill>
            <a:srgbClr val="00BCD4"/>
          </a:solidFill>
          <a:ln/>
        </p:spPr>
      </p:sp>
      <p:sp>
        <p:nvSpPr>
          <p:cNvPr id="4" name="Shape 2"/>
          <p:cNvSpPr/>
          <p:nvPr/>
        </p:nvSpPr>
        <p:spPr>
          <a:xfrm>
            <a:off x="9601200" y="-1097280"/>
            <a:ext cx="3657600" cy="3657600"/>
          </a:xfrm>
          <a:prstGeom prst="ellipse">
            <a:avLst/>
          </a:prstGeom>
          <a:solidFill>
            <a:srgbClr val="1565C0"/>
          </a:solidFill>
          <a:ln w="12700">
            <a:solidFill>
              <a:srgbClr val="1565C0"/>
            </a:solidFill>
            <a:prstDash val="solid"/>
          </a:ln>
        </p:spPr>
      </p:sp>
      <p:sp>
        <p:nvSpPr>
          <p:cNvPr id="5" name="Shape 3"/>
          <p:cNvSpPr/>
          <p:nvPr/>
        </p:nvSpPr>
        <p:spPr>
          <a:xfrm>
            <a:off x="10058400" y="-640080"/>
            <a:ext cx="2743200" cy="2743200"/>
          </a:xfrm>
          <a:prstGeom prst="ellipse">
            <a:avLst/>
          </a:prstGeom>
          <a:solidFill>
            <a:srgbClr val="1976D2"/>
          </a:solidFill>
          <a:ln w="12700">
            <a:solidFill>
              <a:srgbClr val="1976D2"/>
            </a:solidFill>
            <a:prstDash val="solid"/>
          </a:ln>
        </p:spPr>
      </p:sp>
      <p:pic>
        <p:nvPicPr>
          <p:cNvPr id="6" name="Image 0" descr="preencoded.png"/>
          <p:cNvPicPr>
            <a:picLocks noChangeAspect="1"/>
          </p:cNvPicPr>
          <p:nvPr/>
        </p:nvPicPr>
        <p:blipFill>
          <a:blip r:embed="rId3"/>
          <a:stretch>
            <a:fillRect/>
          </a:stretch>
        </p:blipFill>
        <p:spPr>
          <a:xfrm>
            <a:off x="640080" y="1371600"/>
            <a:ext cx="1280160" cy="1280160"/>
          </a:xfrm>
          <a:prstGeom prst="rect">
            <a:avLst/>
          </a:prstGeom>
        </p:spPr>
      </p:pic>
      <p:sp>
        <p:nvSpPr>
          <p:cNvPr id="7" name="Text 4"/>
          <p:cNvSpPr/>
          <p:nvPr/>
        </p:nvSpPr>
        <p:spPr>
          <a:xfrm>
            <a:off x="457200" y="2651760"/>
            <a:ext cx="9144000" cy="109728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Contract Guardian AI</a:t>
            </a:r>
            <a:endParaRPr lang="en-US" sz="5200" dirty="0"/>
          </a:p>
        </p:txBody>
      </p:sp>
      <p:sp>
        <p:nvSpPr>
          <p:cNvPr id="8" name="Text 5"/>
          <p:cNvSpPr/>
          <p:nvPr/>
        </p:nvSpPr>
        <p:spPr>
          <a:xfrm>
            <a:off x="457200" y="3703320"/>
            <a:ext cx="8686800" cy="502920"/>
          </a:xfrm>
          <a:prstGeom prst="rect">
            <a:avLst/>
          </a:prstGeom>
          <a:noFill/>
          <a:ln/>
        </p:spPr>
        <p:txBody>
          <a:bodyPr wrap="square" rtlCol="0" anchor="ctr"/>
          <a:lstStyle/>
          <a:p>
            <a:pPr marL="0" indent="0">
              <a:buNone/>
            </a:pPr>
            <a:r>
              <a:rPr lang="en-US" sz="2200" i="1" dirty="0">
                <a:solidFill>
                  <a:srgbClr val="00BCD4"/>
                </a:solidFill>
                <a:latin typeface="Calibri" pitchFamily="34" charset="0"/>
                <a:ea typeface="Calibri" pitchFamily="34" charset="-122"/>
                <a:cs typeface="Calibri" pitchFamily="34" charset="-120"/>
              </a:rPr>
              <a:t>AI-Powered Contract Risk Analysis Platform</a:t>
            </a:r>
            <a:endParaRPr lang="en-US" sz="2200" dirty="0"/>
          </a:p>
        </p:txBody>
      </p:sp>
      <p:sp>
        <p:nvSpPr>
          <p:cNvPr id="9" name="Shape 6"/>
          <p:cNvSpPr/>
          <p:nvPr/>
        </p:nvSpPr>
        <p:spPr>
          <a:xfrm>
            <a:off x="457200" y="4297680"/>
            <a:ext cx="5486400" cy="36576"/>
          </a:xfrm>
          <a:prstGeom prst="rect">
            <a:avLst/>
          </a:prstGeom>
          <a:solidFill>
            <a:srgbClr val="1E88E5"/>
          </a:solidFill>
          <a:ln/>
        </p:spPr>
      </p:sp>
      <p:pic>
        <p:nvPicPr>
          <p:cNvPr id="10" name="Image 1" descr="preencoded.png"/>
          <p:cNvPicPr>
            <a:picLocks noChangeAspect="1"/>
          </p:cNvPicPr>
          <p:nvPr/>
        </p:nvPicPr>
        <p:blipFill>
          <a:blip r:embed="rId4"/>
          <a:stretch>
            <a:fillRect/>
          </a:stretch>
        </p:blipFill>
        <p:spPr>
          <a:xfrm>
            <a:off x="457200" y="4572000"/>
            <a:ext cx="411480" cy="411480"/>
          </a:xfrm>
          <a:prstGeom prst="rect">
            <a:avLst/>
          </a:prstGeom>
        </p:spPr>
      </p:pic>
      <p:sp>
        <p:nvSpPr>
          <p:cNvPr id="11" name="Text 7"/>
          <p:cNvSpPr/>
          <p:nvPr/>
        </p:nvSpPr>
        <p:spPr>
          <a:xfrm>
            <a:off x="914400" y="4572000"/>
            <a:ext cx="2926080" cy="4114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AI Hackathon 2025</a:t>
            </a:r>
            <a:endParaRPr lang="en-US" sz="1300" dirty="0"/>
          </a:p>
        </p:txBody>
      </p:sp>
      <p:pic>
        <p:nvPicPr>
          <p:cNvPr id="12" name="Image 2" descr="preencoded.png"/>
          <p:cNvPicPr>
            <a:picLocks noChangeAspect="1"/>
          </p:cNvPicPr>
          <p:nvPr/>
        </p:nvPicPr>
        <p:blipFill>
          <a:blip r:embed="rId5"/>
          <a:stretch>
            <a:fillRect/>
          </a:stretch>
        </p:blipFill>
        <p:spPr>
          <a:xfrm>
            <a:off x="3931920" y="4572000"/>
            <a:ext cx="411480" cy="411480"/>
          </a:xfrm>
          <a:prstGeom prst="rect">
            <a:avLst/>
          </a:prstGeom>
        </p:spPr>
      </p:pic>
      <p:sp>
        <p:nvSpPr>
          <p:cNvPr id="13" name="Text 8"/>
          <p:cNvSpPr/>
          <p:nvPr/>
        </p:nvSpPr>
        <p:spPr>
          <a:xfrm>
            <a:off x="4389120" y="4572000"/>
            <a:ext cx="2926080" cy="4114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React · FastAPI · LangChain</a:t>
            </a:r>
            <a:endParaRPr lang="en-US" sz="1300" dirty="0"/>
          </a:p>
        </p:txBody>
      </p:sp>
      <p:pic>
        <p:nvPicPr>
          <p:cNvPr id="14" name="Image 3" descr="preencoded.png"/>
          <p:cNvPicPr>
            <a:picLocks noChangeAspect="1"/>
          </p:cNvPicPr>
          <p:nvPr/>
        </p:nvPicPr>
        <p:blipFill>
          <a:blip r:embed="rId6"/>
          <a:stretch>
            <a:fillRect/>
          </a:stretch>
        </p:blipFill>
        <p:spPr>
          <a:xfrm>
            <a:off x="7406640" y="4572000"/>
            <a:ext cx="411480" cy="411480"/>
          </a:xfrm>
          <a:prstGeom prst="rect">
            <a:avLst/>
          </a:prstGeom>
        </p:spPr>
      </p:pic>
      <p:sp>
        <p:nvSpPr>
          <p:cNvPr id="15" name="Text 9"/>
          <p:cNvSpPr/>
          <p:nvPr/>
        </p:nvSpPr>
        <p:spPr>
          <a:xfrm>
            <a:off x="7863840" y="4572000"/>
            <a:ext cx="2926080" cy="4114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x402 · JWT Secured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2873-6CCF-47F9-2AC2-D1B6B498E64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873ED02-A7D9-8838-7918-936A2AEBEEA4}"/>
              </a:ext>
            </a:extLst>
          </p:cNvPr>
          <p:cNvSpPr/>
          <p:nvPr/>
        </p:nvSpPr>
        <p:spPr>
          <a:xfrm>
            <a:off x="0" y="0"/>
            <a:ext cx="12188952" cy="6858000"/>
          </a:xfrm>
          <a:prstGeom prst="rect">
            <a:avLst/>
          </a:prstGeom>
          <a:solidFill>
            <a:srgbClr val="F4F8FF"/>
          </a:solidFill>
          <a:ln/>
        </p:spPr>
      </p:sp>
      <p:sp>
        <p:nvSpPr>
          <p:cNvPr id="3" name="Shape 1">
            <a:extLst>
              <a:ext uri="{FF2B5EF4-FFF2-40B4-BE49-F238E27FC236}">
                <a16:creationId xmlns:a16="http://schemas.microsoft.com/office/drawing/2014/main" id="{3B89C392-5AA3-59C0-41B6-5C441612C9A9}"/>
              </a:ext>
            </a:extLst>
          </p:cNvPr>
          <p:cNvSpPr/>
          <p:nvPr/>
        </p:nvSpPr>
        <p:spPr>
          <a:xfrm>
            <a:off x="0" y="0"/>
            <a:ext cx="9144000" cy="1005840"/>
          </a:xfrm>
          <a:prstGeom prst="rect">
            <a:avLst/>
          </a:prstGeom>
          <a:solidFill>
            <a:srgbClr val="0D1B3E"/>
          </a:solidFill>
          <a:ln/>
        </p:spPr>
      </p:sp>
      <p:sp>
        <p:nvSpPr>
          <p:cNvPr id="4" name="Text 2">
            <a:extLst>
              <a:ext uri="{FF2B5EF4-FFF2-40B4-BE49-F238E27FC236}">
                <a16:creationId xmlns:a16="http://schemas.microsoft.com/office/drawing/2014/main" id="{B0673639-C670-4474-0FAE-702804C7FE96}"/>
              </a:ext>
            </a:extLst>
          </p:cNvPr>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Problem Statement</a:t>
            </a:r>
            <a:endParaRPr lang="en-US" sz="3200" dirty="0"/>
          </a:p>
        </p:txBody>
      </p:sp>
      <p:sp>
        <p:nvSpPr>
          <p:cNvPr id="5" name="Text 3">
            <a:extLst>
              <a:ext uri="{FF2B5EF4-FFF2-40B4-BE49-F238E27FC236}">
                <a16:creationId xmlns:a16="http://schemas.microsoft.com/office/drawing/2014/main" id="{242FE50E-FCA1-3AD5-E4E4-02BDC90720FF}"/>
              </a:ext>
            </a:extLst>
          </p:cNvPr>
          <p:cNvSpPr/>
          <p:nvPr/>
        </p:nvSpPr>
        <p:spPr>
          <a:xfrm>
            <a:off x="337644" y="1348833"/>
            <a:ext cx="9510444" cy="3559069"/>
          </a:xfrm>
          <a:prstGeom prst="rect">
            <a:avLst/>
          </a:prstGeom>
          <a:noFill/>
          <a:ln/>
        </p:spPr>
        <p:txBody>
          <a:bodyPr wrap="square" lIns="0" tIns="0" rIns="0" bIns="0" rtlCol="0" anchor="ctr"/>
          <a:lstStyle/>
          <a:p>
            <a:pPr marL="285750" lvl="0" indent="-285750">
              <a:buFont typeface="Wingdings" panose="05000000000000000000" pitchFamily="2" charset="2"/>
              <a:buChar char="Ø"/>
            </a:pPr>
            <a:r>
              <a:rPr lang="en-IN" sz="2400" dirty="0"/>
              <a:t>People often sign contracts without fully understanding complex legal language. </a:t>
            </a:r>
          </a:p>
          <a:p>
            <a:pPr marL="285750" lvl="0" indent="-285750">
              <a:buFont typeface="Wingdings" panose="05000000000000000000" pitchFamily="2" charset="2"/>
              <a:buChar char="Ø"/>
            </a:pPr>
            <a:endParaRPr lang="en-IN" sz="2400" dirty="0"/>
          </a:p>
          <a:p>
            <a:pPr marL="285750" lvl="0" indent="-285750">
              <a:buFont typeface="Wingdings" panose="05000000000000000000" pitchFamily="2" charset="2"/>
              <a:buChar char="Ø"/>
            </a:pPr>
            <a:r>
              <a:rPr lang="en-IN" sz="2400" dirty="0"/>
              <a:t>Hidden clauses and fine print can lead to financial loss, scams, and legal disputes.</a:t>
            </a:r>
          </a:p>
          <a:p>
            <a:pPr marL="285750" lvl="0" indent="-285750">
              <a:buFont typeface="Wingdings" panose="05000000000000000000" pitchFamily="2" charset="2"/>
              <a:buChar char="Ø"/>
            </a:pPr>
            <a:endParaRPr lang="en-IN" sz="2400" dirty="0"/>
          </a:p>
          <a:p>
            <a:pPr marL="285750" lvl="0" indent="-285750">
              <a:buFont typeface="Wingdings" panose="05000000000000000000" pitchFamily="2" charset="2"/>
              <a:buChar char="Ø"/>
            </a:pPr>
            <a:r>
              <a:rPr lang="en-IN" sz="2400" dirty="0"/>
              <a:t>Existing tools mainly summarize contracts but do not effectively identify risky clauses.</a:t>
            </a:r>
          </a:p>
        </p:txBody>
      </p:sp>
      <p:sp>
        <p:nvSpPr>
          <p:cNvPr id="7" name="Text 5">
            <a:extLst>
              <a:ext uri="{FF2B5EF4-FFF2-40B4-BE49-F238E27FC236}">
                <a16:creationId xmlns:a16="http://schemas.microsoft.com/office/drawing/2014/main" id="{8EA17F94-B8B2-AC21-51EB-62B1DB5313AC}"/>
              </a:ext>
            </a:extLst>
          </p:cNvPr>
          <p:cNvSpPr/>
          <p:nvPr/>
        </p:nvSpPr>
        <p:spPr>
          <a:xfrm>
            <a:off x="667512" y="1572768"/>
            <a:ext cx="1188720" cy="640080"/>
          </a:xfrm>
          <a:prstGeom prst="rect">
            <a:avLst/>
          </a:prstGeom>
          <a:noFill/>
          <a:ln/>
        </p:spPr>
        <p:txBody>
          <a:bodyPr wrap="square" lIns="0" tIns="0" rIns="0" bIns="0" rtlCol="0" anchor="ctr"/>
          <a:lstStyle/>
          <a:p>
            <a:pPr marL="0" indent="0">
              <a:buNone/>
            </a:pPr>
            <a:endParaRPr lang="en-US" sz="3400" dirty="0"/>
          </a:p>
        </p:txBody>
      </p:sp>
      <p:sp>
        <p:nvSpPr>
          <p:cNvPr id="8" name="Text 6">
            <a:extLst>
              <a:ext uri="{FF2B5EF4-FFF2-40B4-BE49-F238E27FC236}">
                <a16:creationId xmlns:a16="http://schemas.microsoft.com/office/drawing/2014/main" id="{360CF040-04E3-7F54-15F0-FF44B5EDEB47}"/>
              </a:ext>
            </a:extLst>
          </p:cNvPr>
          <p:cNvSpPr/>
          <p:nvPr/>
        </p:nvSpPr>
        <p:spPr>
          <a:xfrm>
            <a:off x="667512" y="2176272"/>
            <a:ext cx="2971800" cy="594360"/>
          </a:xfrm>
          <a:prstGeom prst="rect">
            <a:avLst/>
          </a:prstGeom>
          <a:noFill/>
          <a:ln/>
        </p:spPr>
        <p:txBody>
          <a:bodyPr wrap="square" lIns="0" tIns="0" rIns="0" bIns="0" rtlCol="0" anchor="ctr"/>
          <a:lstStyle/>
          <a:p>
            <a:pPr marL="0" indent="0">
              <a:buNone/>
            </a:pPr>
            <a:endParaRPr lang="en-US" sz="1200" dirty="0"/>
          </a:p>
        </p:txBody>
      </p:sp>
      <p:sp>
        <p:nvSpPr>
          <p:cNvPr id="10" name="Text 8">
            <a:extLst>
              <a:ext uri="{FF2B5EF4-FFF2-40B4-BE49-F238E27FC236}">
                <a16:creationId xmlns:a16="http://schemas.microsoft.com/office/drawing/2014/main" id="{54143F51-0544-9B82-3244-50863FEFC449}"/>
              </a:ext>
            </a:extLst>
          </p:cNvPr>
          <p:cNvSpPr/>
          <p:nvPr/>
        </p:nvSpPr>
        <p:spPr>
          <a:xfrm>
            <a:off x="4069080" y="1572768"/>
            <a:ext cx="1188720" cy="640080"/>
          </a:xfrm>
          <a:prstGeom prst="rect">
            <a:avLst/>
          </a:prstGeom>
          <a:noFill/>
          <a:ln/>
        </p:spPr>
        <p:txBody>
          <a:bodyPr wrap="square" lIns="0" tIns="0" rIns="0" bIns="0" rtlCol="0" anchor="ctr"/>
          <a:lstStyle/>
          <a:p>
            <a:pPr marL="0" indent="0">
              <a:buNone/>
            </a:pPr>
            <a:endParaRPr lang="en-US" sz="3400" dirty="0"/>
          </a:p>
        </p:txBody>
      </p:sp>
      <p:sp>
        <p:nvSpPr>
          <p:cNvPr id="13" name="Text 11">
            <a:extLst>
              <a:ext uri="{FF2B5EF4-FFF2-40B4-BE49-F238E27FC236}">
                <a16:creationId xmlns:a16="http://schemas.microsoft.com/office/drawing/2014/main" id="{DC5E677E-0656-3C74-4839-0B91350C91D4}"/>
              </a:ext>
            </a:extLst>
          </p:cNvPr>
          <p:cNvSpPr/>
          <p:nvPr/>
        </p:nvSpPr>
        <p:spPr>
          <a:xfrm>
            <a:off x="7470648" y="1572768"/>
            <a:ext cx="1188720" cy="640080"/>
          </a:xfrm>
          <a:prstGeom prst="rect">
            <a:avLst/>
          </a:prstGeom>
          <a:noFill/>
          <a:ln/>
        </p:spPr>
        <p:txBody>
          <a:bodyPr wrap="square" lIns="0" tIns="0" rIns="0" bIns="0" rtlCol="0" anchor="ctr"/>
          <a:lstStyle/>
          <a:p>
            <a:pPr marL="0" indent="0">
              <a:buNone/>
            </a:pPr>
            <a:endParaRPr lang="en-US" sz="3400" dirty="0"/>
          </a:p>
        </p:txBody>
      </p:sp>
      <p:sp>
        <p:nvSpPr>
          <p:cNvPr id="14" name="Text 12">
            <a:extLst>
              <a:ext uri="{FF2B5EF4-FFF2-40B4-BE49-F238E27FC236}">
                <a16:creationId xmlns:a16="http://schemas.microsoft.com/office/drawing/2014/main" id="{64FA6FBE-44CD-1B37-B6F6-193CCA24E481}"/>
              </a:ext>
            </a:extLst>
          </p:cNvPr>
          <p:cNvSpPr/>
          <p:nvPr/>
        </p:nvSpPr>
        <p:spPr>
          <a:xfrm>
            <a:off x="7470648" y="2176272"/>
            <a:ext cx="2971800" cy="594360"/>
          </a:xfrm>
          <a:prstGeom prst="rect">
            <a:avLst/>
          </a:prstGeom>
          <a:noFill/>
          <a:ln/>
        </p:spPr>
        <p:txBody>
          <a:bodyPr wrap="square" lIns="0" tIns="0" rIns="0" bIns="0" rtlCol="0" anchor="ctr"/>
          <a:lstStyle/>
          <a:p>
            <a:pPr marL="0" indent="0">
              <a:buNone/>
            </a:pPr>
            <a:endParaRPr lang="en-US" sz="1200" dirty="0"/>
          </a:p>
        </p:txBody>
      </p:sp>
      <p:sp>
        <p:nvSpPr>
          <p:cNvPr id="16" name="Text 14">
            <a:extLst>
              <a:ext uri="{FF2B5EF4-FFF2-40B4-BE49-F238E27FC236}">
                <a16:creationId xmlns:a16="http://schemas.microsoft.com/office/drawing/2014/main" id="{7E7FA421-9FF3-85A9-E3FC-836F75212124}"/>
              </a:ext>
            </a:extLst>
          </p:cNvPr>
          <p:cNvSpPr/>
          <p:nvPr/>
        </p:nvSpPr>
        <p:spPr>
          <a:xfrm>
            <a:off x="667512" y="3218688"/>
            <a:ext cx="1188720" cy="640080"/>
          </a:xfrm>
          <a:prstGeom prst="rect">
            <a:avLst/>
          </a:prstGeom>
          <a:noFill/>
          <a:ln/>
        </p:spPr>
        <p:txBody>
          <a:bodyPr wrap="square" lIns="0" tIns="0" rIns="0" bIns="0" rtlCol="0" anchor="ctr"/>
          <a:lstStyle/>
          <a:p>
            <a:pPr marL="0" indent="0">
              <a:buNone/>
            </a:pPr>
            <a:endParaRPr lang="en-US" sz="3400" dirty="0"/>
          </a:p>
        </p:txBody>
      </p:sp>
      <p:sp>
        <p:nvSpPr>
          <p:cNvPr id="19" name="Text 17">
            <a:extLst>
              <a:ext uri="{FF2B5EF4-FFF2-40B4-BE49-F238E27FC236}">
                <a16:creationId xmlns:a16="http://schemas.microsoft.com/office/drawing/2014/main" id="{A1D0F978-C66A-C6AB-0E26-ACAF8FB42892}"/>
              </a:ext>
            </a:extLst>
          </p:cNvPr>
          <p:cNvSpPr/>
          <p:nvPr/>
        </p:nvSpPr>
        <p:spPr>
          <a:xfrm>
            <a:off x="4069080" y="3218688"/>
            <a:ext cx="1188720" cy="640080"/>
          </a:xfrm>
          <a:prstGeom prst="rect">
            <a:avLst/>
          </a:prstGeom>
          <a:noFill/>
          <a:ln/>
        </p:spPr>
        <p:txBody>
          <a:bodyPr wrap="square" lIns="0" tIns="0" rIns="0" bIns="0" rtlCol="0" anchor="ctr"/>
          <a:lstStyle/>
          <a:p>
            <a:pPr marL="0" indent="0">
              <a:buNone/>
            </a:pPr>
            <a:endParaRPr lang="en-US" sz="3400" dirty="0"/>
          </a:p>
        </p:txBody>
      </p:sp>
      <p:sp>
        <p:nvSpPr>
          <p:cNvPr id="22" name="Text 20">
            <a:extLst>
              <a:ext uri="{FF2B5EF4-FFF2-40B4-BE49-F238E27FC236}">
                <a16:creationId xmlns:a16="http://schemas.microsoft.com/office/drawing/2014/main" id="{059F71D1-E875-F9E5-9EC6-6AEE15C9A681}"/>
              </a:ext>
            </a:extLst>
          </p:cNvPr>
          <p:cNvSpPr/>
          <p:nvPr/>
        </p:nvSpPr>
        <p:spPr>
          <a:xfrm>
            <a:off x="7470648" y="3218688"/>
            <a:ext cx="1188720" cy="640080"/>
          </a:xfrm>
          <a:prstGeom prst="rect">
            <a:avLst/>
          </a:prstGeom>
          <a:noFill/>
          <a:ln/>
        </p:spPr>
        <p:txBody>
          <a:bodyPr wrap="square" lIns="0" tIns="0" rIns="0" bIns="0" rtlCol="0" anchor="ctr"/>
          <a:lstStyle/>
          <a:p>
            <a:pPr marL="0" indent="0">
              <a:buNone/>
            </a:pPr>
            <a:endParaRPr lang="en-US" sz="3400" dirty="0"/>
          </a:p>
        </p:txBody>
      </p:sp>
      <p:sp>
        <p:nvSpPr>
          <p:cNvPr id="25" name="Text 23">
            <a:extLst>
              <a:ext uri="{FF2B5EF4-FFF2-40B4-BE49-F238E27FC236}">
                <a16:creationId xmlns:a16="http://schemas.microsoft.com/office/drawing/2014/main" id="{269F04E0-20DC-E7EA-A983-2E58D276C341}"/>
              </a:ext>
            </a:extLst>
          </p:cNvPr>
          <p:cNvSpPr/>
          <p:nvPr/>
        </p:nvSpPr>
        <p:spPr>
          <a:xfrm rot="5400000">
            <a:off x="10716768" y="1828800"/>
            <a:ext cx="1005840" cy="2743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KEY PAIN</a:t>
            </a:r>
            <a:endParaRPr lang="en-US" sz="1100" dirty="0"/>
          </a:p>
        </p:txBody>
      </p:sp>
    </p:spTree>
    <p:extLst>
      <p:ext uri="{BB962C8B-B14F-4D97-AF65-F5344CB8AC3E}">
        <p14:creationId xmlns:p14="http://schemas.microsoft.com/office/powerpoint/2010/main" val="3669127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Problem Statement</a:t>
            </a:r>
            <a:endParaRPr lang="en-US" sz="3200" dirty="0"/>
          </a:p>
        </p:txBody>
      </p:sp>
      <p:sp>
        <p:nvSpPr>
          <p:cNvPr id="6" name="Shape 4"/>
          <p:cNvSpPr/>
          <p:nvPr/>
        </p:nvSpPr>
        <p:spPr>
          <a:xfrm>
            <a:off x="502920" y="1463040"/>
            <a:ext cx="3200400" cy="1417320"/>
          </a:xfrm>
          <a:prstGeom prst="roundRect">
            <a:avLst>
              <a:gd name="adj" fmla="val 5161"/>
            </a:avLst>
          </a:prstGeom>
          <a:solidFill>
            <a:srgbClr val="FFFFFF"/>
          </a:solidFill>
          <a:ln w="12700">
            <a:solidFill>
              <a:srgbClr val="C9D8F5"/>
            </a:solidFill>
            <a:prstDash val="solid"/>
          </a:ln>
        </p:spPr>
      </p:sp>
      <p:sp>
        <p:nvSpPr>
          <p:cNvPr id="7" name="Text 5"/>
          <p:cNvSpPr/>
          <p:nvPr/>
        </p:nvSpPr>
        <p:spPr>
          <a:xfrm>
            <a:off x="667512" y="1572768"/>
            <a:ext cx="1188720" cy="640080"/>
          </a:xfrm>
          <a:prstGeom prst="rect">
            <a:avLst/>
          </a:prstGeom>
          <a:noFill/>
          <a:ln/>
        </p:spPr>
        <p:txBody>
          <a:bodyPr wrap="square" lIns="0" tIns="0" rIns="0" bIns="0" rtlCol="0" anchor="ctr"/>
          <a:lstStyle/>
          <a:p>
            <a:pPr marL="0" indent="0">
              <a:buNone/>
            </a:pPr>
            <a:r>
              <a:rPr lang="en-US" sz="3400" b="1" dirty="0">
                <a:solidFill>
                  <a:srgbClr val="C62828"/>
                </a:solidFill>
                <a:latin typeface="Calibri" pitchFamily="34" charset="0"/>
                <a:ea typeface="Calibri" pitchFamily="34" charset="-122"/>
                <a:cs typeface="Calibri" pitchFamily="34" charset="-120"/>
              </a:rPr>
              <a:t>92%</a:t>
            </a:r>
            <a:endParaRPr lang="en-US" sz="3400" dirty="0"/>
          </a:p>
        </p:txBody>
      </p:sp>
      <p:sp>
        <p:nvSpPr>
          <p:cNvPr id="8" name="Text 6"/>
          <p:cNvSpPr/>
          <p:nvPr/>
        </p:nvSpPr>
        <p:spPr>
          <a:xfrm>
            <a:off x="667512" y="217627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of companies rely on manual contract review</a:t>
            </a:r>
            <a:endParaRPr lang="en-US" sz="1200" dirty="0"/>
          </a:p>
        </p:txBody>
      </p:sp>
      <p:sp>
        <p:nvSpPr>
          <p:cNvPr id="9" name="Shape 7"/>
          <p:cNvSpPr/>
          <p:nvPr/>
        </p:nvSpPr>
        <p:spPr>
          <a:xfrm>
            <a:off x="3904488" y="1463040"/>
            <a:ext cx="3200400" cy="1417320"/>
          </a:xfrm>
          <a:prstGeom prst="roundRect">
            <a:avLst>
              <a:gd name="adj" fmla="val 5161"/>
            </a:avLst>
          </a:prstGeom>
          <a:solidFill>
            <a:srgbClr val="FFFFFF"/>
          </a:solidFill>
          <a:ln w="12700">
            <a:solidFill>
              <a:srgbClr val="C9D8F5"/>
            </a:solidFill>
            <a:prstDash val="solid"/>
          </a:ln>
        </p:spPr>
      </p:sp>
      <p:sp>
        <p:nvSpPr>
          <p:cNvPr id="10" name="Text 8"/>
          <p:cNvSpPr/>
          <p:nvPr/>
        </p:nvSpPr>
        <p:spPr>
          <a:xfrm>
            <a:off x="4069080" y="1572768"/>
            <a:ext cx="1188720" cy="640080"/>
          </a:xfrm>
          <a:prstGeom prst="rect">
            <a:avLst/>
          </a:prstGeom>
          <a:noFill/>
          <a:ln/>
        </p:spPr>
        <p:txBody>
          <a:bodyPr wrap="square" lIns="0" tIns="0" rIns="0" bIns="0" rtlCol="0" anchor="ctr"/>
          <a:lstStyle/>
          <a:p>
            <a:pPr marL="0" indent="0">
              <a:buNone/>
            </a:pPr>
            <a:r>
              <a:rPr lang="en-US" sz="3400" b="1" dirty="0">
                <a:solidFill>
                  <a:srgbClr val="E65100"/>
                </a:solidFill>
                <a:latin typeface="Calibri" pitchFamily="34" charset="0"/>
                <a:ea typeface="Calibri" pitchFamily="34" charset="-122"/>
                <a:cs typeface="Calibri" pitchFamily="34" charset="-120"/>
              </a:rPr>
              <a:t>60+</a:t>
            </a:r>
            <a:endParaRPr lang="en-US" sz="3400" dirty="0"/>
          </a:p>
        </p:txBody>
      </p:sp>
      <p:sp>
        <p:nvSpPr>
          <p:cNvPr id="11" name="Text 9"/>
          <p:cNvSpPr/>
          <p:nvPr/>
        </p:nvSpPr>
        <p:spPr>
          <a:xfrm>
            <a:off x="4069080" y="217627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hours per contract for complex legal documents</a:t>
            </a:r>
            <a:endParaRPr lang="en-US" sz="1200" dirty="0"/>
          </a:p>
        </p:txBody>
      </p:sp>
      <p:sp>
        <p:nvSpPr>
          <p:cNvPr id="12" name="Shape 10"/>
          <p:cNvSpPr/>
          <p:nvPr/>
        </p:nvSpPr>
        <p:spPr>
          <a:xfrm>
            <a:off x="7306056" y="1463040"/>
            <a:ext cx="3200400" cy="1417320"/>
          </a:xfrm>
          <a:prstGeom prst="roundRect">
            <a:avLst>
              <a:gd name="adj" fmla="val 5161"/>
            </a:avLst>
          </a:prstGeom>
          <a:solidFill>
            <a:srgbClr val="FFFFFF"/>
          </a:solidFill>
          <a:ln w="12700">
            <a:solidFill>
              <a:srgbClr val="C9D8F5"/>
            </a:solidFill>
            <a:prstDash val="solid"/>
          </a:ln>
        </p:spPr>
      </p:sp>
      <p:sp>
        <p:nvSpPr>
          <p:cNvPr id="13" name="Text 11"/>
          <p:cNvSpPr/>
          <p:nvPr/>
        </p:nvSpPr>
        <p:spPr>
          <a:xfrm>
            <a:off x="7470648" y="1572768"/>
            <a:ext cx="1188720" cy="640080"/>
          </a:xfrm>
          <a:prstGeom prst="rect">
            <a:avLst/>
          </a:prstGeom>
          <a:noFill/>
          <a:ln/>
        </p:spPr>
        <p:txBody>
          <a:bodyPr wrap="square" lIns="0" tIns="0" rIns="0" bIns="0" rtlCol="0" anchor="ctr"/>
          <a:lstStyle/>
          <a:p>
            <a:pPr marL="0" indent="0">
              <a:buNone/>
            </a:pPr>
            <a:r>
              <a:rPr lang="en-US" sz="3400" b="1" dirty="0">
                <a:solidFill>
                  <a:srgbClr val="1565C0"/>
                </a:solidFill>
                <a:latin typeface="Calibri" pitchFamily="34" charset="0"/>
                <a:ea typeface="Calibri" pitchFamily="34" charset="-122"/>
                <a:cs typeface="Calibri" pitchFamily="34" charset="-120"/>
              </a:rPr>
              <a:t>$150B</a:t>
            </a:r>
            <a:endParaRPr lang="en-US" sz="3400" dirty="0"/>
          </a:p>
        </p:txBody>
      </p:sp>
      <p:sp>
        <p:nvSpPr>
          <p:cNvPr id="14" name="Text 12"/>
          <p:cNvSpPr/>
          <p:nvPr/>
        </p:nvSpPr>
        <p:spPr>
          <a:xfrm>
            <a:off x="7470648" y="217627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lost annually due to poor contract management</a:t>
            </a:r>
            <a:endParaRPr lang="en-US" sz="1200" dirty="0"/>
          </a:p>
        </p:txBody>
      </p:sp>
      <p:sp>
        <p:nvSpPr>
          <p:cNvPr id="15" name="Shape 13"/>
          <p:cNvSpPr/>
          <p:nvPr/>
        </p:nvSpPr>
        <p:spPr>
          <a:xfrm>
            <a:off x="502920" y="3108960"/>
            <a:ext cx="3200400" cy="1417320"/>
          </a:xfrm>
          <a:prstGeom prst="roundRect">
            <a:avLst>
              <a:gd name="adj" fmla="val 5161"/>
            </a:avLst>
          </a:prstGeom>
          <a:solidFill>
            <a:srgbClr val="FFFFFF"/>
          </a:solidFill>
          <a:ln w="12700">
            <a:solidFill>
              <a:srgbClr val="C9D8F5"/>
            </a:solidFill>
            <a:prstDash val="solid"/>
          </a:ln>
        </p:spPr>
      </p:sp>
      <p:sp>
        <p:nvSpPr>
          <p:cNvPr id="16" name="Text 14"/>
          <p:cNvSpPr/>
          <p:nvPr/>
        </p:nvSpPr>
        <p:spPr>
          <a:xfrm>
            <a:off x="667512" y="3218688"/>
            <a:ext cx="1188720" cy="640080"/>
          </a:xfrm>
          <a:prstGeom prst="rect">
            <a:avLst/>
          </a:prstGeom>
          <a:noFill/>
          <a:ln/>
        </p:spPr>
        <p:txBody>
          <a:bodyPr wrap="square" lIns="0" tIns="0" rIns="0" bIns="0" rtlCol="0" anchor="ctr"/>
          <a:lstStyle/>
          <a:p>
            <a:pPr marL="0" indent="0">
              <a:buNone/>
            </a:pPr>
            <a:r>
              <a:rPr lang="en-US" sz="3400" b="1" dirty="0">
                <a:solidFill>
                  <a:srgbClr val="C62828"/>
                </a:solidFill>
                <a:latin typeface="Calibri" pitchFamily="34" charset="0"/>
                <a:ea typeface="Calibri" pitchFamily="34" charset="-122"/>
                <a:cs typeface="Calibri" pitchFamily="34" charset="-120"/>
              </a:rPr>
              <a:t>74%</a:t>
            </a:r>
            <a:endParaRPr lang="en-US" sz="3400" dirty="0"/>
          </a:p>
        </p:txBody>
      </p:sp>
      <p:sp>
        <p:nvSpPr>
          <p:cNvPr id="17" name="Text 15"/>
          <p:cNvSpPr/>
          <p:nvPr/>
        </p:nvSpPr>
        <p:spPr>
          <a:xfrm>
            <a:off x="667512" y="382219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of legal disputes originate from ambiguous clauses</a:t>
            </a:r>
            <a:endParaRPr lang="en-US" sz="1200" dirty="0"/>
          </a:p>
        </p:txBody>
      </p:sp>
      <p:sp>
        <p:nvSpPr>
          <p:cNvPr id="18" name="Shape 16"/>
          <p:cNvSpPr/>
          <p:nvPr/>
        </p:nvSpPr>
        <p:spPr>
          <a:xfrm>
            <a:off x="3904488" y="3108960"/>
            <a:ext cx="3200400" cy="1417320"/>
          </a:xfrm>
          <a:prstGeom prst="roundRect">
            <a:avLst>
              <a:gd name="adj" fmla="val 5161"/>
            </a:avLst>
          </a:prstGeom>
          <a:solidFill>
            <a:srgbClr val="FFFFFF"/>
          </a:solidFill>
          <a:ln w="12700">
            <a:solidFill>
              <a:srgbClr val="C9D8F5"/>
            </a:solidFill>
            <a:prstDash val="solid"/>
          </a:ln>
        </p:spPr>
      </p:sp>
      <p:sp>
        <p:nvSpPr>
          <p:cNvPr id="19" name="Text 17"/>
          <p:cNvSpPr/>
          <p:nvPr/>
        </p:nvSpPr>
        <p:spPr>
          <a:xfrm>
            <a:off x="4069080" y="3218688"/>
            <a:ext cx="1188720" cy="640080"/>
          </a:xfrm>
          <a:prstGeom prst="rect">
            <a:avLst/>
          </a:prstGeom>
          <a:noFill/>
          <a:ln/>
        </p:spPr>
        <p:txBody>
          <a:bodyPr wrap="square" lIns="0" tIns="0" rIns="0" bIns="0" rtlCol="0" anchor="ctr"/>
          <a:lstStyle/>
          <a:p>
            <a:pPr marL="0" indent="0">
              <a:buNone/>
            </a:pPr>
            <a:r>
              <a:rPr lang="en-US" sz="3400" b="1" dirty="0">
                <a:solidFill>
                  <a:srgbClr val="E65100"/>
                </a:solidFill>
                <a:latin typeface="Calibri" pitchFamily="34" charset="0"/>
                <a:ea typeface="Calibri" pitchFamily="34" charset="-122"/>
                <a:cs typeface="Calibri" pitchFamily="34" charset="-120"/>
              </a:rPr>
              <a:t>40%</a:t>
            </a:r>
            <a:endParaRPr lang="en-US" sz="3400" dirty="0"/>
          </a:p>
        </p:txBody>
      </p:sp>
      <p:sp>
        <p:nvSpPr>
          <p:cNvPr id="20" name="Text 18"/>
          <p:cNvSpPr/>
          <p:nvPr/>
        </p:nvSpPr>
        <p:spPr>
          <a:xfrm>
            <a:off x="4069080" y="382219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of SMEs cannot afford dedicated legal counsel</a:t>
            </a:r>
            <a:endParaRPr lang="en-US" sz="1200" dirty="0"/>
          </a:p>
        </p:txBody>
      </p:sp>
      <p:sp>
        <p:nvSpPr>
          <p:cNvPr id="21" name="Shape 19"/>
          <p:cNvSpPr/>
          <p:nvPr/>
        </p:nvSpPr>
        <p:spPr>
          <a:xfrm>
            <a:off x="7306056" y="3108960"/>
            <a:ext cx="3200400" cy="1417320"/>
          </a:xfrm>
          <a:prstGeom prst="roundRect">
            <a:avLst>
              <a:gd name="adj" fmla="val 5161"/>
            </a:avLst>
          </a:prstGeom>
          <a:solidFill>
            <a:srgbClr val="FFFFFF"/>
          </a:solidFill>
          <a:ln w="12700">
            <a:solidFill>
              <a:srgbClr val="C9D8F5"/>
            </a:solidFill>
            <a:prstDash val="solid"/>
          </a:ln>
        </p:spPr>
      </p:sp>
      <p:sp>
        <p:nvSpPr>
          <p:cNvPr id="22" name="Text 20"/>
          <p:cNvSpPr/>
          <p:nvPr/>
        </p:nvSpPr>
        <p:spPr>
          <a:xfrm>
            <a:off x="7470648" y="3218688"/>
            <a:ext cx="1188720" cy="640080"/>
          </a:xfrm>
          <a:prstGeom prst="rect">
            <a:avLst/>
          </a:prstGeom>
          <a:noFill/>
          <a:ln/>
        </p:spPr>
        <p:txBody>
          <a:bodyPr wrap="square" lIns="0" tIns="0" rIns="0" bIns="0" rtlCol="0" anchor="ctr"/>
          <a:lstStyle/>
          <a:p>
            <a:pPr marL="0" indent="0">
              <a:buNone/>
            </a:pPr>
            <a:r>
              <a:rPr lang="en-US" sz="3400" b="1" dirty="0">
                <a:solidFill>
                  <a:srgbClr val="1565C0"/>
                </a:solidFill>
                <a:latin typeface="Calibri" pitchFamily="34" charset="0"/>
                <a:ea typeface="Calibri" pitchFamily="34" charset="-122"/>
                <a:cs typeface="Calibri" pitchFamily="34" charset="-120"/>
              </a:rPr>
              <a:t>3x</a:t>
            </a:r>
            <a:endParaRPr lang="en-US" sz="3400" dirty="0"/>
          </a:p>
        </p:txBody>
      </p:sp>
      <p:sp>
        <p:nvSpPr>
          <p:cNvPr id="23" name="Text 21"/>
          <p:cNvSpPr/>
          <p:nvPr/>
        </p:nvSpPr>
        <p:spPr>
          <a:xfrm>
            <a:off x="7470648" y="382219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more errors in rushed contract review cycles</a:t>
            </a:r>
            <a:endParaRPr lang="en-US" sz="1200" dirty="0"/>
          </a:p>
        </p:txBody>
      </p:sp>
      <p:sp>
        <p:nvSpPr>
          <p:cNvPr id="24" name="Shape 22"/>
          <p:cNvSpPr/>
          <p:nvPr/>
        </p:nvSpPr>
        <p:spPr>
          <a:xfrm>
            <a:off x="10744200" y="1417320"/>
            <a:ext cx="987552" cy="5120640"/>
          </a:xfrm>
          <a:prstGeom prst="rect">
            <a:avLst/>
          </a:prstGeom>
          <a:solidFill>
            <a:srgbClr val="0D1B3E"/>
          </a:solidFill>
          <a:ln/>
        </p:spPr>
      </p:sp>
      <p:sp>
        <p:nvSpPr>
          <p:cNvPr id="25" name="Text 23"/>
          <p:cNvSpPr/>
          <p:nvPr/>
        </p:nvSpPr>
        <p:spPr>
          <a:xfrm rot="5400000">
            <a:off x="10716768" y="1828800"/>
            <a:ext cx="1005840" cy="2743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KEY PAIN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Objectives</a:t>
            </a:r>
            <a:endParaRPr lang="en-US" sz="3200" dirty="0"/>
          </a:p>
        </p:txBody>
      </p:sp>
      <p:sp>
        <p:nvSpPr>
          <p:cNvPr id="6" name="Shape 4"/>
          <p:cNvSpPr/>
          <p:nvPr/>
        </p:nvSpPr>
        <p:spPr>
          <a:xfrm>
            <a:off x="411480" y="1417320"/>
            <a:ext cx="3520440" cy="1554480"/>
          </a:xfrm>
          <a:prstGeom prst="roundRect">
            <a:avLst>
              <a:gd name="adj" fmla="val 4706"/>
            </a:avLst>
          </a:prstGeom>
          <a:solidFill>
            <a:srgbClr val="EEF4FF"/>
          </a:solidFill>
          <a:ln w="12700">
            <a:solidFill>
              <a:srgbClr val="B0C4DE"/>
            </a:solidFill>
            <a:prstDash val="solid"/>
          </a:ln>
        </p:spPr>
      </p:sp>
      <p:pic>
        <p:nvPicPr>
          <p:cNvPr id="7" name="Image 0" descr="preencoded.png"/>
          <p:cNvPicPr>
            <a:picLocks noChangeAspect="1"/>
          </p:cNvPicPr>
          <p:nvPr/>
        </p:nvPicPr>
        <p:blipFill>
          <a:blip r:embed="rId3"/>
          <a:stretch>
            <a:fillRect/>
          </a:stretch>
        </p:blipFill>
        <p:spPr>
          <a:xfrm>
            <a:off x="576072" y="1581912"/>
            <a:ext cx="502920" cy="502920"/>
          </a:xfrm>
          <a:prstGeom prst="rect">
            <a:avLst/>
          </a:prstGeom>
        </p:spPr>
      </p:pic>
      <p:sp>
        <p:nvSpPr>
          <p:cNvPr id="8" name="Text 5"/>
          <p:cNvSpPr/>
          <p:nvPr/>
        </p:nvSpPr>
        <p:spPr>
          <a:xfrm>
            <a:off x="1161288" y="1581912"/>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Automated Extraction</a:t>
            </a:r>
            <a:endParaRPr lang="en-US" sz="1400" dirty="0"/>
          </a:p>
        </p:txBody>
      </p:sp>
      <p:sp>
        <p:nvSpPr>
          <p:cNvPr id="9" name="Text 6"/>
          <p:cNvSpPr/>
          <p:nvPr/>
        </p:nvSpPr>
        <p:spPr>
          <a:xfrm>
            <a:off x="576072" y="2167128"/>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Parse PDF &amp; DOCX contracts; extract clauses and key terms with zero manual effort</a:t>
            </a:r>
            <a:endParaRPr lang="en-US" sz="1150" dirty="0"/>
          </a:p>
        </p:txBody>
      </p:sp>
      <p:sp>
        <p:nvSpPr>
          <p:cNvPr id="10" name="Shape 7"/>
          <p:cNvSpPr/>
          <p:nvPr/>
        </p:nvSpPr>
        <p:spPr>
          <a:xfrm>
            <a:off x="4133088" y="1417320"/>
            <a:ext cx="3520440" cy="1554480"/>
          </a:xfrm>
          <a:prstGeom prst="roundRect">
            <a:avLst>
              <a:gd name="adj" fmla="val 4706"/>
            </a:avLst>
          </a:prstGeom>
          <a:solidFill>
            <a:srgbClr val="EEF4FF"/>
          </a:solidFill>
          <a:ln w="12700">
            <a:solidFill>
              <a:srgbClr val="B0C4DE"/>
            </a:solidFill>
            <a:prstDash val="solid"/>
          </a:ln>
        </p:spPr>
      </p:sp>
      <p:pic>
        <p:nvPicPr>
          <p:cNvPr id="11" name="Image 1" descr="preencoded.png"/>
          <p:cNvPicPr>
            <a:picLocks noChangeAspect="1"/>
          </p:cNvPicPr>
          <p:nvPr/>
        </p:nvPicPr>
        <p:blipFill>
          <a:blip r:embed="rId4"/>
          <a:stretch>
            <a:fillRect/>
          </a:stretch>
        </p:blipFill>
        <p:spPr>
          <a:xfrm>
            <a:off x="4297680" y="1581912"/>
            <a:ext cx="502920" cy="502920"/>
          </a:xfrm>
          <a:prstGeom prst="rect">
            <a:avLst/>
          </a:prstGeom>
        </p:spPr>
      </p:pic>
      <p:sp>
        <p:nvSpPr>
          <p:cNvPr id="12" name="Text 8"/>
          <p:cNvSpPr/>
          <p:nvPr/>
        </p:nvSpPr>
        <p:spPr>
          <a:xfrm>
            <a:off x="4882896" y="1581912"/>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Risk Classification</a:t>
            </a:r>
            <a:endParaRPr lang="en-US" sz="1400" dirty="0"/>
          </a:p>
        </p:txBody>
      </p:sp>
      <p:sp>
        <p:nvSpPr>
          <p:cNvPr id="13" name="Text 9"/>
          <p:cNvSpPr/>
          <p:nvPr/>
        </p:nvSpPr>
        <p:spPr>
          <a:xfrm>
            <a:off x="4297680" y="2167128"/>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Classify clauses as High / Medium / Low risk using GPT-4 and domain-trained prompts</a:t>
            </a:r>
            <a:endParaRPr lang="en-US" sz="1150" dirty="0"/>
          </a:p>
        </p:txBody>
      </p:sp>
      <p:sp>
        <p:nvSpPr>
          <p:cNvPr id="14" name="Shape 10"/>
          <p:cNvSpPr/>
          <p:nvPr/>
        </p:nvSpPr>
        <p:spPr>
          <a:xfrm>
            <a:off x="7854696" y="1417320"/>
            <a:ext cx="3520440" cy="1554480"/>
          </a:xfrm>
          <a:prstGeom prst="roundRect">
            <a:avLst>
              <a:gd name="adj" fmla="val 4706"/>
            </a:avLst>
          </a:prstGeom>
          <a:solidFill>
            <a:srgbClr val="EEF4FF"/>
          </a:solidFill>
          <a:ln w="12700">
            <a:solidFill>
              <a:srgbClr val="B0C4DE"/>
            </a:solidFill>
            <a:prstDash val="solid"/>
          </a:ln>
        </p:spPr>
      </p:sp>
      <p:pic>
        <p:nvPicPr>
          <p:cNvPr id="15" name="Image 2" descr="preencoded.png"/>
          <p:cNvPicPr>
            <a:picLocks noChangeAspect="1"/>
          </p:cNvPicPr>
          <p:nvPr/>
        </p:nvPicPr>
        <p:blipFill>
          <a:blip r:embed="rId5"/>
          <a:stretch>
            <a:fillRect/>
          </a:stretch>
        </p:blipFill>
        <p:spPr>
          <a:xfrm>
            <a:off x="8019288" y="1581912"/>
            <a:ext cx="502920" cy="502920"/>
          </a:xfrm>
          <a:prstGeom prst="rect">
            <a:avLst/>
          </a:prstGeom>
        </p:spPr>
      </p:pic>
      <p:sp>
        <p:nvSpPr>
          <p:cNvPr id="16" name="Text 11"/>
          <p:cNvSpPr/>
          <p:nvPr/>
        </p:nvSpPr>
        <p:spPr>
          <a:xfrm>
            <a:off x="8604504" y="1581912"/>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Safer Alternatives</a:t>
            </a:r>
            <a:endParaRPr lang="en-US" sz="1400" dirty="0"/>
          </a:p>
        </p:txBody>
      </p:sp>
      <p:sp>
        <p:nvSpPr>
          <p:cNvPr id="17" name="Text 12"/>
          <p:cNvSpPr/>
          <p:nvPr/>
        </p:nvSpPr>
        <p:spPr>
          <a:xfrm>
            <a:off x="8019288" y="2167128"/>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Generate legally-informed, safer clause rewrites via LangChain-driven AI pipeline</a:t>
            </a:r>
            <a:endParaRPr lang="en-US" sz="1150" dirty="0"/>
          </a:p>
        </p:txBody>
      </p:sp>
      <p:sp>
        <p:nvSpPr>
          <p:cNvPr id="18" name="Shape 13"/>
          <p:cNvSpPr/>
          <p:nvPr/>
        </p:nvSpPr>
        <p:spPr>
          <a:xfrm>
            <a:off x="411480" y="3172968"/>
            <a:ext cx="3520440" cy="1554480"/>
          </a:xfrm>
          <a:prstGeom prst="roundRect">
            <a:avLst>
              <a:gd name="adj" fmla="val 4706"/>
            </a:avLst>
          </a:prstGeom>
          <a:solidFill>
            <a:srgbClr val="EEF4FF"/>
          </a:solidFill>
          <a:ln w="12700">
            <a:solidFill>
              <a:srgbClr val="B0C4DE"/>
            </a:solidFill>
            <a:prstDash val="solid"/>
          </a:ln>
        </p:spPr>
      </p:sp>
      <p:pic>
        <p:nvPicPr>
          <p:cNvPr id="19" name="Image 3" descr="preencoded.png"/>
          <p:cNvPicPr>
            <a:picLocks noChangeAspect="1"/>
          </p:cNvPicPr>
          <p:nvPr/>
        </p:nvPicPr>
        <p:blipFill>
          <a:blip r:embed="rId6"/>
          <a:stretch>
            <a:fillRect/>
          </a:stretch>
        </p:blipFill>
        <p:spPr>
          <a:xfrm>
            <a:off x="576072" y="3337560"/>
            <a:ext cx="502920" cy="502920"/>
          </a:xfrm>
          <a:prstGeom prst="rect">
            <a:avLst/>
          </a:prstGeom>
        </p:spPr>
      </p:pic>
      <p:sp>
        <p:nvSpPr>
          <p:cNvPr id="20" name="Text 14"/>
          <p:cNvSpPr/>
          <p:nvPr/>
        </p:nvSpPr>
        <p:spPr>
          <a:xfrm>
            <a:off x="1161288" y="3337560"/>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Quantified Risk Score</a:t>
            </a:r>
            <a:endParaRPr lang="en-US" sz="1400" dirty="0"/>
          </a:p>
        </p:txBody>
      </p:sp>
      <p:sp>
        <p:nvSpPr>
          <p:cNvPr id="21" name="Text 15"/>
          <p:cNvSpPr/>
          <p:nvPr/>
        </p:nvSpPr>
        <p:spPr>
          <a:xfrm>
            <a:off x="576072" y="3922776"/>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Produce an overall contract risk score (0–100) with category breakdowns per section</a:t>
            </a:r>
            <a:endParaRPr lang="en-US" sz="1150" dirty="0"/>
          </a:p>
        </p:txBody>
      </p:sp>
      <p:sp>
        <p:nvSpPr>
          <p:cNvPr id="22" name="Shape 16"/>
          <p:cNvSpPr/>
          <p:nvPr/>
        </p:nvSpPr>
        <p:spPr>
          <a:xfrm>
            <a:off x="4133088" y="3172968"/>
            <a:ext cx="3520440" cy="1554480"/>
          </a:xfrm>
          <a:prstGeom prst="roundRect">
            <a:avLst>
              <a:gd name="adj" fmla="val 4706"/>
            </a:avLst>
          </a:prstGeom>
          <a:solidFill>
            <a:srgbClr val="EEF4FF"/>
          </a:solidFill>
          <a:ln w="12700">
            <a:solidFill>
              <a:srgbClr val="B0C4DE"/>
            </a:solidFill>
            <a:prstDash val="solid"/>
          </a:ln>
        </p:spPr>
      </p:sp>
      <p:pic>
        <p:nvPicPr>
          <p:cNvPr id="23" name="Image 4" descr="preencoded.png"/>
          <p:cNvPicPr>
            <a:picLocks noChangeAspect="1"/>
          </p:cNvPicPr>
          <p:nvPr/>
        </p:nvPicPr>
        <p:blipFill>
          <a:blip r:embed="rId7"/>
          <a:stretch>
            <a:fillRect/>
          </a:stretch>
        </p:blipFill>
        <p:spPr>
          <a:xfrm>
            <a:off x="4297680" y="3337560"/>
            <a:ext cx="502920" cy="502920"/>
          </a:xfrm>
          <a:prstGeom prst="rect">
            <a:avLst/>
          </a:prstGeom>
        </p:spPr>
      </p:pic>
      <p:sp>
        <p:nvSpPr>
          <p:cNvPr id="24" name="Text 17"/>
          <p:cNvSpPr/>
          <p:nvPr/>
        </p:nvSpPr>
        <p:spPr>
          <a:xfrm>
            <a:off x="4882896" y="3337560"/>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Secure &amp; Gated Access</a:t>
            </a:r>
            <a:endParaRPr lang="en-US" sz="1400" dirty="0"/>
          </a:p>
        </p:txBody>
      </p:sp>
      <p:sp>
        <p:nvSpPr>
          <p:cNvPr id="25" name="Text 18"/>
          <p:cNvSpPr/>
          <p:nvPr/>
        </p:nvSpPr>
        <p:spPr>
          <a:xfrm>
            <a:off x="4297680" y="3922776"/>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Protect AI endpoints with JWT auth and x402 micropayment protocol for API monetization</a:t>
            </a:r>
            <a:endParaRPr lang="en-US" sz="1150" dirty="0"/>
          </a:p>
        </p:txBody>
      </p:sp>
      <p:sp>
        <p:nvSpPr>
          <p:cNvPr id="26" name="Shape 19"/>
          <p:cNvSpPr/>
          <p:nvPr/>
        </p:nvSpPr>
        <p:spPr>
          <a:xfrm>
            <a:off x="7854696" y="3172968"/>
            <a:ext cx="3520440" cy="1554480"/>
          </a:xfrm>
          <a:prstGeom prst="roundRect">
            <a:avLst>
              <a:gd name="adj" fmla="val 4706"/>
            </a:avLst>
          </a:prstGeom>
          <a:solidFill>
            <a:srgbClr val="EEF4FF"/>
          </a:solidFill>
          <a:ln w="12700">
            <a:solidFill>
              <a:srgbClr val="B0C4DE"/>
            </a:solidFill>
            <a:prstDash val="solid"/>
          </a:ln>
        </p:spPr>
      </p:sp>
      <p:pic>
        <p:nvPicPr>
          <p:cNvPr id="27" name="Image 5" descr="preencoded.png"/>
          <p:cNvPicPr>
            <a:picLocks noChangeAspect="1"/>
          </p:cNvPicPr>
          <p:nvPr/>
        </p:nvPicPr>
        <p:blipFill>
          <a:blip r:embed="rId8"/>
          <a:stretch>
            <a:fillRect/>
          </a:stretch>
        </p:blipFill>
        <p:spPr>
          <a:xfrm>
            <a:off x="8019288" y="3337560"/>
            <a:ext cx="502920" cy="502920"/>
          </a:xfrm>
          <a:prstGeom prst="rect">
            <a:avLst/>
          </a:prstGeom>
        </p:spPr>
      </p:pic>
      <p:sp>
        <p:nvSpPr>
          <p:cNvPr id="28" name="Text 20"/>
          <p:cNvSpPr/>
          <p:nvPr/>
        </p:nvSpPr>
        <p:spPr>
          <a:xfrm>
            <a:off x="8604504" y="3337560"/>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Audit-Ready Reporting</a:t>
            </a:r>
            <a:endParaRPr lang="en-US" sz="1400" dirty="0"/>
          </a:p>
        </p:txBody>
      </p:sp>
      <p:sp>
        <p:nvSpPr>
          <p:cNvPr id="29" name="Text 21"/>
          <p:cNvSpPr/>
          <p:nvPr/>
        </p:nvSpPr>
        <p:spPr>
          <a:xfrm>
            <a:off x="8019288" y="3922776"/>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Generate exportable PDF reports with clause annotations, risk maps, and recommendations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Proposed Solution</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A unified AI platform for contract intelligence</a:t>
            </a:r>
            <a:endParaRPr lang="en-US" sz="1300" dirty="0"/>
          </a:p>
        </p:txBody>
      </p:sp>
      <p:sp>
        <p:nvSpPr>
          <p:cNvPr id="6" name="Shape 4"/>
          <p:cNvSpPr/>
          <p:nvPr/>
        </p:nvSpPr>
        <p:spPr>
          <a:xfrm>
            <a:off x="411480" y="1481328"/>
            <a:ext cx="292608" cy="292608"/>
          </a:xfrm>
          <a:prstGeom prst="ellipse">
            <a:avLst/>
          </a:prstGeom>
          <a:solidFill>
            <a:srgbClr val="1565C0"/>
          </a:solidFill>
          <a:ln w="12700">
            <a:solidFill>
              <a:srgbClr val="1565C0"/>
            </a:solidFill>
            <a:prstDash val="solid"/>
          </a:ln>
        </p:spPr>
      </p:sp>
      <p:sp>
        <p:nvSpPr>
          <p:cNvPr id="7" name="Text 5"/>
          <p:cNvSpPr/>
          <p:nvPr/>
        </p:nvSpPr>
        <p:spPr>
          <a:xfrm>
            <a:off x="411480" y="14721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04672" y="1417320"/>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Upload contracts in PDF or DOCX format via intuitive drag-and-drop UI</a:t>
            </a:r>
            <a:endParaRPr lang="en-US" sz="1300" dirty="0"/>
          </a:p>
        </p:txBody>
      </p:sp>
      <p:sp>
        <p:nvSpPr>
          <p:cNvPr id="9" name="Shape 7"/>
          <p:cNvSpPr/>
          <p:nvPr/>
        </p:nvSpPr>
        <p:spPr>
          <a:xfrm>
            <a:off x="411480" y="2148840"/>
            <a:ext cx="292608" cy="292608"/>
          </a:xfrm>
          <a:prstGeom prst="ellipse">
            <a:avLst/>
          </a:prstGeom>
          <a:solidFill>
            <a:srgbClr val="1565C0"/>
          </a:solidFill>
          <a:ln w="12700">
            <a:solidFill>
              <a:srgbClr val="1565C0"/>
            </a:solidFill>
            <a:prstDash val="solid"/>
          </a:ln>
        </p:spPr>
      </p:sp>
      <p:sp>
        <p:nvSpPr>
          <p:cNvPr id="10" name="Text 8"/>
          <p:cNvSpPr/>
          <p:nvPr/>
        </p:nvSpPr>
        <p:spPr>
          <a:xfrm>
            <a:off x="411480" y="213969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804672" y="2084832"/>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AI pipeline extracts, segments, and semantically embeds all clauses</a:t>
            </a:r>
            <a:endParaRPr lang="en-US" sz="1300" dirty="0"/>
          </a:p>
        </p:txBody>
      </p:sp>
      <p:sp>
        <p:nvSpPr>
          <p:cNvPr id="12" name="Shape 10"/>
          <p:cNvSpPr/>
          <p:nvPr/>
        </p:nvSpPr>
        <p:spPr>
          <a:xfrm>
            <a:off x="411480" y="2816352"/>
            <a:ext cx="292608" cy="292608"/>
          </a:xfrm>
          <a:prstGeom prst="ellipse">
            <a:avLst/>
          </a:prstGeom>
          <a:solidFill>
            <a:srgbClr val="1565C0"/>
          </a:solidFill>
          <a:ln w="12700">
            <a:solidFill>
              <a:srgbClr val="1565C0"/>
            </a:solidFill>
            <a:prstDash val="solid"/>
          </a:ln>
        </p:spPr>
      </p:sp>
      <p:sp>
        <p:nvSpPr>
          <p:cNvPr id="13" name="Text 11"/>
          <p:cNvSpPr/>
          <p:nvPr/>
        </p:nvSpPr>
        <p:spPr>
          <a:xfrm>
            <a:off x="411480" y="28072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804672" y="2752344"/>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GPT-4 classifies each clause; FAISS enables fast similarity search</a:t>
            </a:r>
            <a:endParaRPr lang="en-US" sz="1300" dirty="0"/>
          </a:p>
        </p:txBody>
      </p:sp>
      <p:sp>
        <p:nvSpPr>
          <p:cNvPr id="15" name="Shape 13"/>
          <p:cNvSpPr/>
          <p:nvPr/>
        </p:nvSpPr>
        <p:spPr>
          <a:xfrm>
            <a:off x="411480" y="3483864"/>
            <a:ext cx="292608" cy="292608"/>
          </a:xfrm>
          <a:prstGeom prst="ellipse">
            <a:avLst/>
          </a:prstGeom>
          <a:solidFill>
            <a:srgbClr val="1565C0"/>
          </a:solidFill>
          <a:ln w="12700">
            <a:solidFill>
              <a:srgbClr val="1565C0"/>
            </a:solidFill>
            <a:prstDash val="solid"/>
          </a:ln>
        </p:spPr>
      </p:sp>
      <p:sp>
        <p:nvSpPr>
          <p:cNvPr id="16" name="Text 14"/>
          <p:cNvSpPr/>
          <p:nvPr/>
        </p:nvSpPr>
        <p:spPr>
          <a:xfrm>
            <a:off x="411480" y="34747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804672" y="3419856"/>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LangChain orchestrates multi-step reasoning for risk and remediation</a:t>
            </a:r>
            <a:endParaRPr lang="en-US" sz="1300" dirty="0"/>
          </a:p>
        </p:txBody>
      </p:sp>
      <p:sp>
        <p:nvSpPr>
          <p:cNvPr id="18" name="Shape 16"/>
          <p:cNvSpPr/>
          <p:nvPr/>
        </p:nvSpPr>
        <p:spPr>
          <a:xfrm>
            <a:off x="411480" y="4151376"/>
            <a:ext cx="292608" cy="292608"/>
          </a:xfrm>
          <a:prstGeom prst="ellipse">
            <a:avLst/>
          </a:prstGeom>
          <a:solidFill>
            <a:srgbClr val="1565C0"/>
          </a:solidFill>
          <a:ln w="12700">
            <a:solidFill>
              <a:srgbClr val="1565C0"/>
            </a:solidFill>
            <a:prstDash val="solid"/>
          </a:ln>
        </p:spPr>
      </p:sp>
      <p:sp>
        <p:nvSpPr>
          <p:cNvPr id="19" name="Text 17"/>
          <p:cNvSpPr/>
          <p:nvPr/>
        </p:nvSpPr>
        <p:spPr>
          <a:xfrm>
            <a:off x="411480" y="414223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804672" y="4087368"/>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x402 protocol gates premium AI features with crypto-native micropayments</a:t>
            </a:r>
            <a:endParaRPr lang="en-US" sz="1300" dirty="0"/>
          </a:p>
        </p:txBody>
      </p:sp>
      <p:sp>
        <p:nvSpPr>
          <p:cNvPr id="21" name="Shape 19"/>
          <p:cNvSpPr/>
          <p:nvPr/>
        </p:nvSpPr>
        <p:spPr>
          <a:xfrm>
            <a:off x="411480" y="4818888"/>
            <a:ext cx="292608" cy="292608"/>
          </a:xfrm>
          <a:prstGeom prst="ellipse">
            <a:avLst/>
          </a:prstGeom>
          <a:solidFill>
            <a:srgbClr val="1565C0"/>
          </a:solidFill>
          <a:ln w="12700">
            <a:solidFill>
              <a:srgbClr val="1565C0"/>
            </a:solidFill>
            <a:prstDash val="solid"/>
          </a:ln>
        </p:spPr>
      </p:sp>
      <p:sp>
        <p:nvSpPr>
          <p:cNvPr id="22" name="Text 20"/>
          <p:cNvSpPr/>
          <p:nvPr/>
        </p:nvSpPr>
        <p:spPr>
          <a:xfrm>
            <a:off x="411480" y="48097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p:nvPr/>
        </p:nvSpPr>
        <p:spPr>
          <a:xfrm>
            <a:off x="804672" y="4754880"/>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Dashboard delivers risk scores, heatmaps, and downloadable PDF reports</a:t>
            </a:r>
            <a:endParaRPr lang="en-US" sz="1300" dirty="0"/>
          </a:p>
        </p:txBody>
      </p:sp>
      <p:sp>
        <p:nvSpPr>
          <p:cNvPr id="24" name="Shape 22"/>
          <p:cNvSpPr/>
          <p:nvPr/>
        </p:nvSpPr>
        <p:spPr>
          <a:xfrm>
            <a:off x="6583680" y="1280160"/>
            <a:ext cx="5212080" cy="5257800"/>
          </a:xfrm>
          <a:prstGeom prst="roundRect">
            <a:avLst>
              <a:gd name="adj" fmla="val 1404"/>
            </a:avLst>
          </a:prstGeom>
          <a:solidFill>
            <a:srgbClr val="0D1B3E"/>
          </a:solidFill>
          <a:ln w="12700">
            <a:solidFill>
              <a:srgbClr val="C9D8F5"/>
            </a:solidFill>
            <a:prstDash val="solid"/>
          </a:ln>
        </p:spPr>
      </p:sp>
      <p:sp>
        <p:nvSpPr>
          <p:cNvPr id="25" name="Text 23"/>
          <p:cNvSpPr/>
          <p:nvPr/>
        </p:nvSpPr>
        <p:spPr>
          <a:xfrm>
            <a:off x="6766560" y="1371600"/>
            <a:ext cx="4846320" cy="365760"/>
          </a:xfrm>
          <a:prstGeom prst="rect">
            <a:avLst/>
          </a:prstGeom>
          <a:noFill/>
          <a:ln/>
        </p:spPr>
        <p:txBody>
          <a:bodyPr wrap="square" lIns="0" tIns="0" rIns="0" bIns="0" rtlCol="0" anchor="ctr"/>
          <a:lstStyle/>
          <a:p>
            <a:pPr marL="0" indent="0">
              <a:buNone/>
            </a:pPr>
            <a:r>
              <a:rPr lang="en-US" sz="1300" b="1" dirty="0">
                <a:solidFill>
                  <a:srgbClr val="00BCD4"/>
                </a:solidFill>
                <a:latin typeface="Calibri" pitchFamily="34" charset="0"/>
                <a:ea typeface="Calibri" pitchFamily="34" charset="-122"/>
                <a:cs typeface="Calibri" pitchFamily="34" charset="-120"/>
              </a:rPr>
              <a:t>Solution Overview</a:t>
            </a:r>
            <a:endParaRPr lang="en-US" sz="1300" dirty="0"/>
          </a:p>
        </p:txBody>
      </p:sp>
      <p:sp>
        <p:nvSpPr>
          <p:cNvPr id="26" name="Shape 24"/>
          <p:cNvSpPr/>
          <p:nvPr/>
        </p:nvSpPr>
        <p:spPr>
          <a:xfrm>
            <a:off x="6812280" y="1847088"/>
            <a:ext cx="4754880" cy="749808"/>
          </a:xfrm>
          <a:prstGeom prst="roundRect">
            <a:avLst>
              <a:gd name="adj" fmla="val 7317"/>
            </a:avLst>
          </a:prstGeom>
          <a:solidFill>
            <a:srgbClr val="1565C0"/>
          </a:solidFill>
          <a:ln/>
        </p:spPr>
      </p:sp>
      <p:sp>
        <p:nvSpPr>
          <p:cNvPr id="27" name="Text 25"/>
          <p:cNvSpPr/>
          <p:nvPr/>
        </p:nvSpPr>
        <p:spPr>
          <a:xfrm>
            <a:off x="6995160" y="1883664"/>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Frontend</a:t>
            </a:r>
            <a:endParaRPr lang="en-US" sz="1300" dirty="0"/>
          </a:p>
        </p:txBody>
      </p:sp>
      <p:sp>
        <p:nvSpPr>
          <p:cNvPr id="28" name="Text 26"/>
          <p:cNvSpPr/>
          <p:nvPr/>
        </p:nvSpPr>
        <p:spPr>
          <a:xfrm>
            <a:off x="6995160" y="2194560"/>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React + TypeScript + TailwindCSS</a:t>
            </a:r>
            <a:endParaRPr lang="en-US" sz="1100" dirty="0"/>
          </a:p>
        </p:txBody>
      </p:sp>
      <p:sp>
        <p:nvSpPr>
          <p:cNvPr id="29" name="Shape 27"/>
          <p:cNvSpPr/>
          <p:nvPr/>
        </p:nvSpPr>
        <p:spPr>
          <a:xfrm>
            <a:off x="6812280" y="2743200"/>
            <a:ext cx="4754880" cy="749808"/>
          </a:xfrm>
          <a:prstGeom prst="roundRect">
            <a:avLst>
              <a:gd name="adj" fmla="val 7317"/>
            </a:avLst>
          </a:prstGeom>
          <a:solidFill>
            <a:srgbClr val="1976D2"/>
          </a:solidFill>
          <a:ln/>
        </p:spPr>
      </p:sp>
      <p:sp>
        <p:nvSpPr>
          <p:cNvPr id="30" name="Text 28"/>
          <p:cNvSpPr/>
          <p:nvPr/>
        </p:nvSpPr>
        <p:spPr>
          <a:xfrm>
            <a:off x="6995160" y="2779776"/>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Backend</a:t>
            </a:r>
            <a:endParaRPr lang="en-US" sz="1300" dirty="0"/>
          </a:p>
        </p:txBody>
      </p:sp>
      <p:sp>
        <p:nvSpPr>
          <p:cNvPr id="31" name="Text 29"/>
          <p:cNvSpPr/>
          <p:nvPr/>
        </p:nvSpPr>
        <p:spPr>
          <a:xfrm>
            <a:off x="6995160" y="3090672"/>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FastAPI (Python) — REST API</a:t>
            </a:r>
            <a:endParaRPr lang="en-US" sz="1100" dirty="0"/>
          </a:p>
        </p:txBody>
      </p:sp>
      <p:sp>
        <p:nvSpPr>
          <p:cNvPr id="32" name="Shape 30"/>
          <p:cNvSpPr/>
          <p:nvPr/>
        </p:nvSpPr>
        <p:spPr>
          <a:xfrm>
            <a:off x="6812280" y="3639312"/>
            <a:ext cx="4754880" cy="749808"/>
          </a:xfrm>
          <a:prstGeom prst="roundRect">
            <a:avLst>
              <a:gd name="adj" fmla="val 7317"/>
            </a:avLst>
          </a:prstGeom>
          <a:solidFill>
            <a:srgbClr val="1E88E5"/>
          </a:solidFill>
          <a:ln/>
        </p:spPr>
      </p:sp>
      <p:sp>
        <p:nvSpPr>
          <p:cNvPr id="33" name="Text 31"/>
          <p:cNvSpPr/>
          <p:nvPr/>
        </p:nvSpPr>
        <p:spPr>
          <a:xfrm>
            <a:off x="6995160" y="3675888"/>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AI Core</a:t>
            </a:r>
            <a:endParaRPr lang="en-US" sz="1300" dirty="0"/>
          </a:p>
        </p:txBody>
      </p:sp>
      <p:sp>
        <p:nvSpPr>
          <p:cNvPr id="34" name="Text 32"/>
          <p:cNvSpPr/>
          <p:nvPr/>
        </p:nvSpPr>
        <p:spPr>
          <a:xfrm>
            <a:off x="6995160" y="3986784"/>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LangChain · GPT-4 · Transformers</a:t>
            </a:r>
            <a:endParaRPr lang="en-US" sz="1100" dirty="0"/>
          </a:p>
        </p:txBody>
      </p:sp>
      <p:sp>
        <p:nvSpPr>
          <p:cNvPr id="35" name="Shape 33"/>
          <p:cNvSpPr/>
          <p:nvPr/>
        </p:nvSpPr>
        <p:spPr>
          <a:xfrm>
            <a:off x="6812280" y="4535424"/>
            <a:ext cx="4754880" cy="749808"/>
          </a:xfrm>
          <a:prstGeom prst="roundRect">
            <a:avLst>
              <a:gd name="adj" fmla="val 7317"/>
            </a:avLst>
          </a:prstGeom>
          <a:solidFill>
            <a:srgbClr val="0D47A1"/>
          </a:solidFill>
          <a:ln/>
        </p:spPr>
      </p:sp>
      <p:sp>
        <p:nvSpPr>
          <p:cNvPr id="36" name="Text 34"/>
          <p:cNvSpPr/>
          <p:nvPr/>
        </p:nvSpPr>
        <p:spPr>
          <a:xfrm>
            <a:off x="6995160" y="4572000"/>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Database</a:t>
            </a:r>
            <a:endParaRPr lang="en-US" sz="1300" dirty="0"/>
          </a:p>
        </p:txBody>
      </p:sp>
      <p:sp>
        <p:nvSpPr>
          <p:cNvPr id="37" name="Text 35"/>
          <p:cNvSpPr/>
          <p:nvPr/>
        </p:nvSpPr>
        <p:spPr>
          <a:xfrm>
            <a:off x="6995160" y="4882896"/>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PostgreSQL + FAISS Vector Store</a:t>
            </a:r>
            <a:endParaRPr lang="en-US" sz="1100" dirty="0"/>
          </a:p>
        </p:txBody>
      </p:sp>
      <p:sp>
        <p:nvSpPr>
          <p:cNvPr id="38" name="Shape 36"/>
          <p:cNvSpPr/>
          <p:nvPr/>
        </p:nvSpPr>
        <p:spPr>
          <a:xfrm>
            <a:off x="6812280" y="5431536"/>
            <a:ext cx="4754880" cy="749808"/>
          </a:xfrm>
          <a:prstGeom prst="roundRect">
            <a:avLst>
              <a:gd name="adj" fmla="val 7317"/>
            </a:avLst>
          </a:prstGeom>
          <a:solidFill>
            <a:srgbClr val="283593"/>
          </a:solidFill>
          <a:ln/>
        </p:spPr>
      </p:sp>
      <p:sp>
        <p:nvSpPr>
          <p:cNvPr id="39" name="Text 37"/>
          <p:cNvSpPr/>
          <p:nvPr/>
        </p:nvSpPr>
        <p:spPr>
          <a:xfrm>
            <a:off x="6995160" y="5468112"/>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Security</a:t>
            </a:r>
            <a:endParaRPr lang="en-US" sz="1300" dirty="0"/>
          </a:p>
        </p:txBody>
      </p:sp>
      <p:sp>
        <p:nvSpPr>
          <p:cNvPr id="40" name="Text 38"/>
          <p:cNvSpPr/>
          <p:nvPr/>
        </p:nvSpPr>
        <p:spPr>
          <a:xfrm>
            <a:off x="6995160" y="5779008"/>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JWT Auth + x402 Micropayments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System Workflow</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End-to-end process from upload to report</a:t>
            </a:r>
            <a:endParaRPr lang="en-US" sz="1300" dirty="0"/>
          </a:p>
        </p:txBody>
      </p:sp>
      <p:sp>
        <p:nvSpPr>
          <p:cNvPr id="6" name="Shape 4"/>
          <p:cNvSpPr/>
          <p:nvPr/>
        </p:nvSpPr>
        <p:spPr>
          <a:xfrm>
            <a:off x="265176" y="2103120"/>
            <a:ext cx="1600200" cy="1920240"/>
          </a:xfrm>
          <a:prstGeom prst="roundRect">
            <a:avLst>
              <a:gd name="adj" fmla="val 4571"/>
            </a:avLst>
          </a:prstGeom>
          <a:solidFill>
            <a:srgbClr val="0D1B3E"/>
          </a:solidFill>
          <a:ln w="12700">
            <a:solidFill>
              <a:srgbClr val="C9D8F5"/>
            </a:solidFill>
            <a:prstDash val="solid"/>
          </a:ln>
        </p:spPr>
      </p:sp>
      <p:pic>
        <p:nvPicPr>
          <p:cNvPr id="7" name="Image 0" descr="preencoded.png"/>
          <p:cNvPicPr>
            <a:picLocks noChangeAspect="1"/>
          </p:cNvPicPr>
          <p:nvPr/>
        </p:nvPicPr>
        <p:blipFill>
          <a:blip r:embed="rId3"/>
          <a:stretch>
            <a:fillRect/>
          </a:stretch>
        </p:blipFill>
        <p:spPr>
          <a:xfrm>
            <a:off x="722376" y="2304288"/>
            <a:ext cx="685800" cy="685800"/>
          </a:xfrm>
          <a:prstGeom prst="rect">
            <a:avLst/>
          </a:prstGeom>
        </p:spPr>
      </p:pic>
      <p:sp>
        <p:nvSpPr>
          <p:cNvPr id="8" name="Text 5"/>
          <p:cNvSpPr/>
          <p:nvPr/>
        </p:nvSpPr>
        <p:spPr>
          <a:xfrm>
            <a:off x="26517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Upload</a:t>
            </a:r>
            <a:endParaRPr lang="en-US" sz="1500" dirty="0"/>
          </a:p>
        </p:txBody>
      </p:sp>
      <p:sp>
        <p:nvSpPr>
          <p:cNvPr id="9" name="Text 6"/>
          <p:cNvSpPr/>
          <p:nvPr/>
        </p:nvSpPr>
        <p:spPr>
          <a:xfrm>
            <a:off x="26517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PDF / DOCX</a:t>
            </a:r>
            <a:endParaRPr lang="en-US" sz="1100" dirty="0"/>
          </a:p>
        </p:txBody>
      </p:sp>
      <p:sp>
        <p:nvSpPr>
          <p:cNvPr id="10" name="Shape 7"/>
          <p:cNvSpPr/>
          <p:nvPr/>
        </p:nvSpPr>
        <p:spPr>
          <a:xfrm>
            <a:off x="1545336" y="1938528"/>
            <a:ext cx="347472" cy="347472"/>
          </a:xfrm>
          <a:prstGeom prst="ellipse">
            <a:avLst/>
          </a:prstGeom>
          <a:solidFill>
            <a:srgbClr val="00BCD4"/>
          </a:solidFill>
          <a:ln w="12700">
            <a:solidFill>
              <a:srgbClr val="00BCD4"/>
            </a:solidFill>
            <a:prstDash val="solid"/>
          </a:ln>
        </p:spPr>
      </p:sp>
      <p:sp>
        <p:nvSpPr>
          <p:cNvPr id="11" name="Text 8"/>
          <p:cNvSpPr/>
          <p:nvPr/>
        </p:nvSpPr>
        <p:spPr>
          <a:xfrm>
            <a:off x="154533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1</a:t>
            </a:r>
            <a:endParaRPr lang="en-US" sz="1300" dirty="0"/>
          </a:p>
        </p:txBody>
      </p:sp>
      <p:sp>
        <p:nvSpPr>
          <p:cNvPr id="12" name="Shape 9"/>
          <p:cNvSpPr/>
          <p:nvPr/>
        </p:nvSpPr>
        <p:spPr>
          <a:xfrm>
            <a:off x="1856232" y="3026664"/>
            <a:ext cx="420624" cy="73152"/>
          </a:xfrm>
          <a:prstGeom prst="rect">
            <a:avLst/>
          </a:prstGeom>
          <a:solidFill>
            <a:srgbClr val="00BCD4"/>
          </a:solidFill>
          <a:ln w="12700">
            <a:solidFill>
              <a:srgbClr val="00BCD4"/>
            </a:solidFill>
            <a:prstDash val="solid"/>
          </a:ln>
        </p:spPr>
      </p:sp>
      <p:sp>
        <p:nvSpPr>
          <p:cNvPr id="13" name="Shape 10"/>
          <p:cNvSpPr/>
          <p:nvPr/>
        </p:nvSpPr>
        <p:spPr>
          <a:xfrm rot="5400000">
            <a:off x="2157984" y="2944368"/>
            <a:ext cx="164592" cy="237744"/>
          </a:xfrm>
          <a:prstGeom prst="triangle">
            <a:avLst/>
          </a:prstGeom>
          <a:solidFill>
            <a:srgbClr val="00BCD4"/>
          </a:solidFill>
          <a:ln w="12700">
            <a:solidFill>
              <a:srgbClr val="00BCD4"/>
            </a:solidFill>
            <a:prstDash val="solid"/>
          </a:ln>
        </p:spPr>
      </p:sp>
      <p:sp>
        <p:nvSpPr>
          <p:cNvPr id="14" name="Shape 11"/>
          <p:cNvSpPr/>
          <p:nvPr/>
        </p:nvSpPr>
        <p:spPr>
          <a:xfrm>
            <a:off x="2276856" y="2103120"/>
            <a:ext cx="1600200" cy="1920240"/>
          </a:xfrm>
          <a:prstGeom prst="roundRect">
            <a:avLst>
              <a:gd name="adj" fmla="val 4571"/>
            </a:avLst>
          </a:prstGeom>
          <a:solidFill>
            <a:srgbClr val="0D1B3E"/>
          </a:solidFill>
          <a:ln w="12700">
            <a:solidFill>
              <a:srgbClr val="C9D8F5"/>
            </a:solidFill>
            <a:prstDash val="solid"/>
          </a:ln>
        </p:spPr>
      </p:sp>
      <p:pic>
        <p:nvPicPr>
          <p:cNvPr id="15" name="Image 1" descr="preencoded.png"/>
          <p:cNvPicPr>
            <a:picLocks noChangeAspect="1"/>
          </p:cNvPicPr>
          <p:nvPr/>
        </p:nvPicPr>
        <p:blipFill>
          <a:blip r:embed="rId4"/>
          <a:stretch>
            <a:fillRect/>
          </a:stretch>
        </p:blipFill>
        <p:spPr>
          <a:xfrm>
            <a:off x="2734056" y="2304288"/>
            <a:ext cx="685800" cy="685800"/>
          </a:xfrm>
          <a:prstGeom prst="rect">
            <a:avLst/>
          </a:prstGeom>
        </p:spPr>
      </p:pic>
      <p:sp>
        <p:nvSpPr>
          <p:cNvPr id="16" name="Text 12"/>
          <p:cNvSpPr/>
          <p:nvPr/>
        </p:nvSpPr>
        <p:spPr>
          <a:xfrm>
            <a:off x="227685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Extract</a:t>
            </a:r>
            <a:endParaRPr lang="en-US" sz="1500" dirty="0"/>
          </a:p>
        </p:txBody>
      </p:sp>
      <p:sp>
        <p:nvSpPr>
          <p:cNvPr id="17" name="Text 13"/>
          <p:cNvSpPr/>
          <p:nvPr/>
        </p:nvSpPr>
        <p:spPr>
          <a:xfrm>
            <a:off x="227685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Text &amp; Clauses</a:t>
            </a:r>
            <a:endParaRPr lang="en-US" sz="1100" dirty="0"/>
          </a:p>
        </p:txBody>
      </p:sp>
      <p:sp>
        <p:nvSpPr>
          <p:cNvPr id="18" name="Shape 14"/>
          <p:cNvSpPr/>
          <p:nvPr/>
        </p:nvSpPr>
        <p:spPr>
          <a:xfrm>
            <a:off x="3557016" y="1938528"/>
            <a:ext cx="347472" cy="347472"/>
          </a:xfrm>
          <a:prstGeom prst="ellipse">
            <a:avLst/>
          </a:prstGeom>
          <a:solidFill>
            <a:srgbClr val="00BCD4"/>
          </a:solidFill>
          <a:ln w="12700">
            <a:solidFill>
              <a:srgbClr val="00BCD4"/>
            </a:solidFill>
            <a:prstDash val="solid"/>
          </a:ln>
        </p:spPr>
      </p:sp>
      <p:sp>
        <p:nvSpPr>
          <p:cNvPr id="19" name="Text 15"/>
          <p:cNvSpPr/>
          <p:nvPr/>
        </p:nvSpPr>
        <p:spPr>
          <a:xfrm>
            <a:off x="355701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2</a:t>
            </a:r>
            <a:endParaRPr lang="en-US" sz="1300" dirty="0"/>
          </a:p>
        </p:txBody>
      </p:sp>
      <p:sp>
        <p:nvSpPr>
          <p:cNvPr id="20" name="Shape 16"/>
          <p:cNvSpPr/>
          <p:nvPr/>
        </p:nvSpPr>
        <p:spPr>
          <a:xfrm>
            <a:off x="3867912" y="3026664"/>
            <a:ext cx="420624" cy="73152"/>
          </a:xfrm>
          <a:prstGeom prst="rect">
            <a:avLst/>
          </a:prstGeom>
          <a:solidFill>
            <a:srgbClr val="00BCD4"/>
          </a:solidFill>
          <a:ln w="12700">
            <a:solidFill>
              <a:srgbClr val="00BCD4"/>
            </a:solidFill>
            <a:prstDash val="solid"/>
          </a:ln>
        </p:spPr>
      </p:sp>
      <p:sp>
        <p:nvSpPr>
          <p:cNvPr id="21" name="Shape 17"/>
          <p:cNvSpPr/>
          <p:nvPr/>
        </p:nvSpPr>
        <p:spPr>
          <a:xfrm rot="5400000">
            <a:off x="4169664" y="2944368"/>
            <a:ext cx="164592" cy="237744"/>
          </a:xfrm>
          <a:prstGeom prst="triangle">
            <a:avLst/>
          </a:prstGeom>
          <a:solidFill>
            <a:srgbClr val="00BCD4"/>
          </a:solidFill>
          <a:ln w="12700">
            <a:solidFill>
              <a:srgbClr val="00BCD4"/>
            </a:solidFill>
            <a:prstDash val="solid"/>
          </a:ln>
        </p:spPr>
      </p:sp>
      <p:sp>
        <p:nvSpPr>
          <p:cNvPr id="22" name="Shape 18"/>
          <p:cNvSpPr/>
          <p:nvPr/>
        </p:nvSpPr>
        <p:spPr>
          <a:xfrm>
            <a:off x="4288536" y="2103120"/>
            <a:ext cx="1600200" cy="1920240"/>
          </a:xfrm>
          <a:prstGeom prst="roundRect">
            <a:avLst>
              <a:gd name="adj" fmla="val 4571"/>
            </a:avLst>
          </a:prstGeom>
          <a:solidFill>
            <a:srgbClr val="0D1B3E"/>
          </a:solidFill>
          <a:ln w="12700">
            <a:solidFill>
              <a:srgbClr val="C9D8F5"/>
            </a:solidFill>
            <a:prstDash val="solid"/>
          </a:ln>
        </p:spPr>
      </p:sp>
      <p:pic>
        <p:nvPicPr>
          <p:cNvPr id="23" name="Image 2" descr="preencoded.png"/>
          <p:cNvPicPr>
            <a:picLocks noChangeAspect="1"/>
          </p:cNvPicPr>
          <p:nvPr/>
        </p:nvPicPr>
        <p:blipFill>
          <a:blip r:embed="rId5"/>
          <a:stretch>
            <a:fillRect/>
          </a:stretch>
        </p:blipFill>
        <p:spPr>
          <a:xfrm>
            <a:off x="4745736" y="2304288"/>
            <a:ext cx="685800" cy="685800"/>
          </a:xfrm>
          <a:prstGeom prst="rect">
            <a:avLst/>
          </a:prstGeom>
        </p:spPr>
      </p:pic>
      <p:sp>
        <p:nvSpPr>
          <p:cNvPr id="24" name="Text 19"/>
          <p:cNvSpPr/>
          <p:nvPr/>
        </p:nvSpPr>
        <p:spPr>
          <a:xfrm>
            <a:off x="428853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Analyze</a:t>
            </a:r>
            <a:endParaRPr lang="en-US" sz="1500" dirty="0"/>
          </a:p>
        </p:txBody>
      </p:sp>
      <p:sp>
        <p:nvSpPr>
          <p:cNvPr id="25" name="Text 20"/>
          <p:cNvSpPr/>
          <p:nvPr/>
        </p:nvSpPr>
        <p:spPr>
          <a:xfrm>
            <a:off x="428853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Risk Classification</a:t>
            </a:r>
            <a:endParaRPr lang="en-US" sz="1100" dirty="0"/>
          </a:p>
        </p:txBody>
      </p:sp>
      <p:sp>
        <p:nvSpPr>
          <p:cNvPr id="26" name="Shape 21"/>
          <p:cNvSpPr/>
          <p:nvPr/>
        </p:nvSpPr>
        <p:spPr>
          <a:xfrm>
            <a:off x="5568696" y="1938528"/>
            <a:ext cx="347472" cy="347472"/>
          </a:xfrm>
          <a:prstGeom prst="ellipse">
            <a:avLst/>
          </a:prstGeom>
          <a:solidFill>
            <a:srgbClr val="00BCD4"/>
          </a:solidFill>
          <a:ln w="12700">
            <a:solidFill>
              <a:srgbClr val="00BCD4"/>
            </a:solidFill>
            <a:prstDash val="solid"/>
          </a:ln>
        </p:spPr>
      </p:sp>
      <p:sp>
        <p:nvSpPr>
          <p:cNvPr id="27" name="Text 22"/>
          <p:cNvSpPr/>
          <p:nvPr/>
        </p:nvSpPr>
        <p:spPr>
          <a:xfrm>
            <a:off x="556869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3</a:t>
            </a:r>
            <a:endParaRPr lang="en-US" sz="1300" dirty="0"/>
          </a:p>
        </p:txBody>
      </p:sp>
      <p:sp>
        <p:nvSpPr>
          <p:cNvPr id="28" name="Shape 23"/>
          <p:cNvSpPr/>
          <p:nvPr/>
        </p:nvSpPr>
        <p:spPr>
          <a:xfrm>
            <a:off x="5879592" y="3026664"/>
            <a:ext cx="420624" cy="73152"/>
          </a:xfrm>
          <a:prstGeom prst="rect">
            <a:avLst/>
          </a:prstGeom>
          <a:solidFill>
            <a:srgbClr val="00BCD4"/>
          </a:solidFill>
          <a:ln w="12700">
            <a:solidFill>
              <a:srgbClr val="00BCD4"/>
            </a:solidFill>
            <a:prstDash val="solid"/>
          </a:ln>
        </p:spPr>
      </p:sp>
      <p:sp>
        <p:nvSpPr>
          <p:cNvPr id="29" name="Shape 24"/>
          <p:cNvSpPr/>
          <p:nvPr/>
        </p:nvSpPr>
        <p:spPr>
          <a:xfrm rot="5400000">
            <a:off x="6181344" y="2944368"/>
            <a:ext cx="164592" cy="237744"/>
          </a:xfrm>
          <a:prstGeom prst="triangle">
            <a:avLst/>
          </a:prstGeom>
          <a:solidFill>
            <a:srgbClr val="00BCD4"/>
          </a:solidFill>
          <a:ln w="12700">
            <a:solidFill>
              <a:srgbClr val="00BCD4"/>
            </a:solidFill>
            <a:prstDash val="solid"/>
          </a:ln>
        </p:spPr>
      </p:sp>
      <p:sp>
        <p:nvSpPr>
          <p:cNvPr id="30" name="Shape 25"/>
          <p:cNvSpPr/>
          <p:nvPr/>
        </p:nvSpPr>
        <p:spPr>
          <a:xfrm>
            <a:off x="6300216" y="2103120"/>
            <a:ext cx="1600200" cy="1920240"/>
          </a:xfrm>
          <a:prstGeom prst="roundRect">
            <a:avLst>
              <a:gd name="adj" fmla="val 4571"/>
            </a:avLst>
          </a:prstGeom>
          <a:solidFill>
            <a:srgbClr val="0D1B3E"/>
          </a:solidFill>
          <a:ln w="12700">
            <a:solidFill>
              <a:srgbClr val="C9D8F5"/>
            </a:solidFill>
            <a:prstDash val="solid"/>
          </a:ln>
        </p:spPr>
      </p:sp>
      <p:pic>
        <p:nvPicPr>
          <p:cNvPr id="31" name="Image 3" descr="preencoded.png"/>
          <p:cNvPicPr>
            <a:picLocks noChangeAspect="1"/>
          </p:cNvPicPr>
          <p:nvPr/>
        </p:nvPicPr>
        <p:blipFill>
          <a:blip r:embed="rId6"/>
          <a:stretch>
            <a:fillRect/>
          </a:stretch>
        </p:blipFill>
        <p:spPr>
          <a:xfrm>
            <a:off x="6757416" y="2304288"/>
            <a:ext cx="685800" cy="685800"/>
          </a:xfrm>
          <a:prstGeom prst="rect">
            <a:avLst/>
          </a:prstGeom>
        </p:spPr>
      </p:pic>
      <p:sp>
        <p:nvSpPr>
          <p:cNvPr id="32" name="Text 26"/>
          <p:cNvSpPr/>
          <p:nvPr/>
        </p:nvSpPr>
        <p:spPr>
          <a:xfrm>
            <a:off x="630021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Remediate</a:t>
            </a:r>
            <a:endParaRPr lang="en-US" sz="1500" dirty="0"/>
          </a:p>
        </p:txBody>
      </p:sp>
      <p:sp>
        <p:nvSpPr>
          <p:cNvPr id="33" name="Text 27"/>
          <p:cNvSpPr/>
          <p:nvPr/>
        </p:nvSpPr>
        <p:spPr>
          <a:xfrm>
            <a:off x="630021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Safer Alternatives</a:t>
            </a:r>
            <a:endParaRPr lang="en-US" sz="1100" dirty="0"/>
          </a:p>
        </p:txBody>
      </p:sp>
      <p:sp>
        <p:nvSpPr>
          <p:cNvPr id="34" name="Shape 28"/>
          <p:cNvSpPr/>
          <p:nvPr/>
        </p:nvSpPr>
        <p:spPr>
          <a:xfrm>
            <a:off x="7580376" y="1938528"/>
            <a:ext cx="347472" cy="347472"/>
          </a:xfrm>
          <a:prstGeom prst="ellipse">
            <a:avLst/>
          </a:prstGeom>
          <a:solidFill>
            <a:srgbClr val="00BCD4"/>
          </a:solidFill>
          <a:ln w="12700">
            <a:solidFill>
              <a:srgbClr val="00BCD4"/>
            </a:solidFill>
            <a:prstDash val="solid"/>
          </a:ln>
        </p:spPr>
      </p:sp>
      <p:sp>
        <p:nvSpPr>
          <p:cNvPr id="35" name="Text 29"/>
          <p:cNvSpPr/>
          <p:nvPr/>
        </p:nvSpPr>
        <p:spPr>
          <a:xfrm>
            <a:off x="758037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4</a:t>
            </a:r>
            <a:endParaRPr lang="en-US" sz="1300" dirty="0"/>
          </a:p>
        </p:txBody>
      </p:sp>
      <p:sp>
        <p:nvSpPr>
          <p:cNvPr id="36" name="Shape 30"/>
          <p:cNvSpPr/>
          <p:nvPr/>
        </p:nvSpPr>
        <p:spPr>
          <a:xfrm>
            <a:off x="7891272" y="3026664"/>
            <a:ext cx="420624" cy="73152"/>
          </a:xfrm>
          <a:prstGeom prst="rect">
            <a:avLst/>
          </a:prstGeom>
          <a:solidFill>
            <a:srgbClr val="00BCD4"/>
          </a:solidFill>
          <a:ln w="12700">
            <a:solidFill>
              <a:srgbClr val="00BCD4"/>
            </a:solidFill>
            <a:prstDash val="solid"/>
          </a:ln>
        </p:spPr>
      </p:sp>
      <p:sp>
        <p:nvSpPr>
          <p:cNvPr id="37" name="Shape 31"/>
          <p:cNvSpPr/>
          <p:nvPr/>
        </p:nvSpPr>
        <p:spPr>
          <a:xfrm rot="5400000">
            <a:off x="8193024" y="2944368"/>
            <a:ext cx="164592" cy="237744"/>
          </a:xfrm>
          <a:prstGeom prst="triangle">
            <a:avLst/>
          </a:prstGeom>
          <a:solidFill>
            <a:srgbClr val="00BCD4"/>
          </a:solidFill>
          <a:ln w="12700">
            <a:solidFill>
              <a:srgbClr val="00BCD4"/>
            </a:solidFill>
            <a:prstDash val="solid"/>
          </a:ln>
        </p:spPr>
      </p:sp>
      <p:sp>
        <p:nvSpPr>
          <p:cNvPr id="38" name="Shape 32"/>
          <p:cNvSpPr/>
          <p:nvPr/>
        </p:nvSpPr>
        <p:spPr>
          <a:xfrm>
            <a:off x="8311896" y="2103120"/>
            <a:ext cx="1600200" cy="1920240"/>
          </a:xfrm>
          <a:prstGeom prst="roundRect">
            <a:avLst>
              <a:gd name="adj" fmla="val 4571"/>
            </a:avLst>
          </a:prstGeom>
          <a:solidFill>
            <a:srgbClr val="0D1B3E"/>
          </a:solidFill>
          <a:ln w="12700">
            <a:solidFill>
              <a:srgbClr val="C9D8F5"/>
            </a:solidFill>
            <a:prstDash val="solid"/>
          </a:ln>
        </p:spPr>
      </p:sp>
      <p:pic>
        <p:nvPicPr>
          <p:cNvPr id="39" name="Image 4" descr="preencoded.png"/>
          <p:cNvPicPr>
            <a:picLocks noChangeAspect="1"/>
          </p:cNvPicPr>
          <p:nvPr/>
        </p:nvPicPr>
        <p:blipFill>
          <a:blip r:embed="rId7"/>
          <a:stretch>
            <a:fillRect/>
          </a:stretch>
        </p:blipFill>
        <p:spPr>
          <a:xfrm>
            <a:off x="8769096" y="2304288"/>
            <a:ext cx="685800" cy="685800"/>
          </a:xfrm>
          <a:prstGeom prst="rect">
            <a:avLst/>
          </a:prstGeom>
        </p:spPr>
      </p:pic>
      <p:sp>
        <p:nvSpPr>
          <p:cNvPr id="40" name="Text 33"/>
          <p:cNvSpPr/>
          <p:nvPr/>
        </p:nvSpPr>
        <p:spPr>
          <a:xfrm>
            <a:off x="831189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Score</a:t>
            </a:r>
            <a:endParaRPr lang="en-US" sz="1500" dirty="0"/>
          </a:p>
        </p:txBody>
      </p:sp>
      <p:sp>
        <p:nvSpPr>
          <p:cNvPr id="41" name="Text 34"/>
          <p:cNvSpPr/>
          <p:nvPr/>
        </p:nvSpPr>
        <p:spPr>
          <a:xfrm>
            <a:off x="831189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Risk 0–100</a:t>
            </a:r>
            <a:endParaRPr lang="en-US" sz="1100" dirty="0"/>
          </a:p>
        </p:txBody>
      </p:sp>
      <p:sp>
        <p:nvSpPr>
          <p:cNvPr id="42" name="Shape 35"/>
          <p:cNvSpPr/>
          <p:nvPr/>
        </p:nvSpPr>
        <p:spPr>
          <a:xfrm>
            <a:off x="9592056" y="1938528"/>
            <a:ext cx="347472" cy="347472"/>
          </a:xfrm>
          <a:prstGeom prst="ellipse">
            <a:avLst/>
          </a:prstGeom>
          <a:solidFill>
            <a:srgbClr val="00BCD4"/>
          </a:solidFill>
          <a:ln w="12700">
            <a:solidFill>
              <a:srgbClr val="00BCD4"/>
            </a:solidFill>
            <a:prstDash val="solid"/>
          </a:ln>
        </p:spPr>
      </p:sp>
      <p:sp>
        <p:nvSpPr>
          <p:cNvPr id="43" name="Text 36"/>
          <p:cNvSpPr/>
          <p:nvPr/>
        </p:nvSpPr>
        <p:spPr>
          <a:xfrm>
            <a:off x="959205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5</a:t>
            </a:r>
            <a:endParaRPr lang="en-US" sz="1300" dirty="0"/>
          </a:p>
        </p:txBody>
      </p:sp>
      <p:sp>
        <p:nvSpPr>
          <p:cNvPr id="44" name="Shape 37"/>
          <p:cNvSpPr/>
          <p:nvPr/>
        </p:nvSpPr>
        <p:spPr>
          <a:xfrm>
            <a:off x="9902952" y="3026664"/>
            <a:ext cx="420624" cy="73152"/>
          </a:xfrm>
          <a:prstGeom prst="rect">
            <a:avLst/>
          </a:prstGeom>
          <a:solidFill>
            <a:srgbClr val="00BCD4"/>
          </a:solidFill>
          <a:ln w="12700">
            <a:solidFill>
              <a:srgbClr val="00BCD4"/>
            </a:solidFill>
            <a:prstDash val="solid"/>
          </a:ln>
        </p:spPr>
      </p:sp>
      <p:sp>
        <p:nvSpPr>
          <p:cNvPr id="45" name="Shape 38"/>
          <p:cNvSpPr/>
          <p:nvPr/>
        </p:nvSpPr>
        <p:spPr>
          <a:xfrm rot="5400000">
            <a:off x="10204704" y="2944368"/>
            <a:ext cx="164592" cy="237744"/>
          </a:xfrm>
          <a:prstGeom prst="triangle">
            <a:avLst/>
          </a:prstGeom>
          <a:solidFill>
            <a:srgbClr val="00BCD4"/>
          </a:solidFill>
          <a:ln w="12700">
            <a:solidFill>
              <a:srgbClr val="00BCD4"/>
            </a:solidFill>
            <a:prstDash val="solid"/>
          </a:ln>
        </p:spPr>
      </p:sp>
      <p:sp>
        <p:nvSpPr>
          <p:cNvPr id="46" name="Shape 39"/>
          <p:cNvSpPr/>
          <p:nvPr/>
        </p:nvSpPr>
        <p:spPr>
          <a:xfrm>
            <a:off x="10323576" y="2103120"/>
            <a:ext cx="1600200" cy="1920240"/>
          </a:xfrm>
          <a:prstGeom prst="roundRect">
            <a:avLst>
              <a:gd name="adj" fmla="val 4571"/>
            </a:avLst>
          </a:prstGeom>
          <a:solidFill>
            <a:srgbClr val="0D1B3E"/>
          </a:solidFill>
          <a:ln w="12700">
            <a:solidFill>
              <a:srgbClr val="C9D8F5"/>
            </a:solidFill>
            <a:prstDash val="solid"/>
          </a:ln>
        </p:spPr>
      </p:sp>
      <p:pic>
        <p:nvPicPr>
          <p:cNvPr id="47" name="Image 5" descr="preencoded.png"/>
          <p:cNvPicPr>
            <a:picLocks noChangeAspect="1"/>
          </p:cNvPicPr>
          <p:nvPr/>
        </p:nvPicPr>
        <p:blipFill>
          <a:blip r:embed="rId8"/>
          <a:stretch>
            <a:fillRect/>
          </a:stretch>
        </p:blipFill>
        <p:spPr>
          <a:xfrm>
            <a:off x="10780776" y="2304288"/>
            <a:ext cx="685800" cy="685800"/>
          </a:xfrm>
          <a:prstGeom prst="rect">
            <a:avLst/>
          </a:prstGeom>
        </p:spPr>
      </p:pic>
      <p:sp>
        <p:nvSpPr>
          <p:cNvPr id="48" name="Text 40"/>
          <p:cNvSpPr/>
          <p:nvPr/>
        </p:nvSpPr>
        <p:spPr>
          <a:xfrm>
            <a:off x="1032357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Report</a:t>
            </a:r>
            <a:endParaRPr lang="en-US" sz="1500" dirty="0"/>
          </a:p>
        </p:txBody>
      </p:sp>
      <p:sp>
        <p:nvSpPr>
          <p:cNvPr id="49" name="Text 41"/>
          <p:cNvSpPr/>
          <p:nvPr/>
        </p:nvSpPr>
        <p:spPr>
          <a:xfrm>
            <a:off x="1032357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PDF Export</a:t>
            </a:r>
            <a:endParaRPr lang="en-US" sz="1100" dirty="0"/>
          </a:p>
        </p:txBody>
      </p:sp>
      <p:sp>
        <p:nvSpPr>
          <p:cNvPr id="50" name="Shape 42"/>
          <p:cNvSpPr/>
          <p:nvPr/>
        </p:nvSpPr>
        <p:spPr>
          <a:xfrm>
            <a:off x="11603736" y="1938528"/>
            <a:ext cx="347472" cy="347472"/>
          </a:xfrm>
          <a:prstGeom prst="ellipse">
            <a:avLst/>
          </a:prstGeom>
          <a:solidFill>
            <a:srgbClr val="00BCD4"/>
          </a:solidFill>
          <a:ln w="12700">
            <a:solidFill>
              <a:srgbClr val="00BCD4"/>
            </a:solidFill>
            <a:prstDash val="solid"/>
          </a:ln>
        </p:spPr>
      </p:sp>
      <p:sp>
        <p:nvSpPr>
          <p:cNvPr id="51" name="Text 43"/>
          <p:cNvSpPr/>
          <p:nvPr/>
        </p:nvSpPr>
        <p:spPr>
          <a:xfrm>
            <a:off x="1160373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6</a:t>
            </a:r>
            <a:endParaRPr lang="en-US" sz="1300" dirty="0"/>
          </a:p>
        </p:txBody>
      </p:sp>
      <p:sp>
        <p:nvSpPr>
          <p:cNvPr id="52" name="Text 44"/>
          <p:cNvSpPr/>
          <p:nvPr/>
        </p:nvSpPr>
        <p:spPr>
          <a:xfrm>
            <a:off x="26517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Drag &amp; Drop UI → FastAPI</a:t>
            </a:r>
            <a:endParaRPr lang="en-US" sz="1000" dirty="0"/>
          </a:p>
        </p:txBody>
      </p:sp>
      <p:sp>
        <p:nvSpPr>
          <p:cNvPr id="53" name="Text 45"/>
          <p:cNvSpPr/>
          <p:nvPr/>
        </p:nvSpPr>
        <p:spPr>
          <a:xfrm>
            <a:off x="227685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PyMuPDF / python-docx</a:t>
            </a:r>
            <a:endParaRPr lang="en-US" sz="1000" dirty="0"/>
          </a:p>
        </p:txBody>
      </p:sp>
      <p:sp>
        <p:nvSpPr>
          <p:cNvPr id="54" name="Text 46"/>
          <p:cNvSpPr/>
          <p:nvPr/>
        </p:nvSpPr>
        <p:spPr>
          <a:xfrm>
            <a:off x="428853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GPT-4 + LangChain</a:t>
            </a:r>
            <a:endParaRPr lang="en-US" sz="1000" dirty="0"/>
          </a:p>
        </p:txBody>
      </p:sp>
      <p:sp>
        <p:nvSpPr>
          <p:cNvPr id="55" name="Text 47"/>
          <p:cNvSpPr/>
          <p:nvPr/>
        </p:nvSpPr>
        <p:spPr>
          <a:xfrm>
            <a:off x="630021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Prompt Engineering</a:t>
            </a:r>
            <a:endParaRPr lang="en-US" sz="1000" dirty="0"/>
          </a:p>
        </p:txBody>
      </p:sp>
      <p:sp>
        <p:nvSpPr>
          <p:cNvPr id="56" name="Text 48"/>
          <p:cNvSpPr/>
          <p:nvPr/>
        </p:nvSpPr>
        <p:spPr>
          <a:xfrm>
            <a:off x="831189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Weighted Algorithm</a:t>
            </a:r>
            <a:endParaRPr lang="en-US" sz="1000" dirty="0"/>
          </a:p>
        </p:txBody>
      </p:sp>
      <p:sp>
        <p:nvSpPr>
          <p:cNvPr id="57" name="Text 49"/>
          <p:cNvSpPr/>
          <p:nvPr/>
        </p:nvSpPr>
        <p:spPr>
          <a:xfrm>
            <a:off x="1032357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ReportLab PDF Gen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Technology Stack</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Battle-tested tools powering every layer</a:t>
            </a:r>
            <a:endParaRPr lang="en-US" sz="1300" dirty="0"/>
          </a:p>
        </p:txBody>
      </p:sp>
      <p:sp>
        <p:nvSpPr>
          <p:cNvPr id="6" name="Shape 4"/>
          <p:cNvSpPr/>
          <p:nvPr/>
        </p:nvSpPr>
        <p:spPr>
          <a:xfrm>
            <a:off x="411480" y="1371600"/>
            <a:ext cx="3520440" cy="2240280"/>
          </a:xfrm>
          <a:prstGeom prst="roundRect">
            <a:avLst>
              <a:gd name="adj" fmla="val 3265"/>
            </a:avLst>
          </a:prstGeom>
          <a:solidFill>
            <a:srgbClr val="FFFFFF"/>
          </a:solidFill>
          <a:ln w="12700">
            <a:solidFill>
              <a:srgbClr val="C9D8F5"/>
            </a:solidFill>
            <a:prstDash val="solid"/>
          </a:ln>
        </p:spPr>
      </p:sp>
      <p:sp>
        <p:nvSpPr>
          <p:cNvPr id="7" name="Shape 5"/>
          <p:cNvSpPr/>
          <p:nvPr/>
        </p:nvSpPr>
        <p:spPr>
          <a:xfrm>
            <a:off x="411480" y="1371600"/>
            <a:ext cx="3520440" cy="475488"/>
          </a:xfrm>
          <a:prstGeom prst="roundRect">
            <a:avLst>
              <a:gd name="adj" fmla="val 15385"/>
            </a:avLst>
          </a:prstGeom>
          <a:solidFill>
            <a:srgbClr val="1565C0"/>
          </a:solidFill>
          <a:ln/>
        </p:spPr>
      </p:sp>
      <p:sp>
        <p:nvSpPr>
          <p:cNvPr id="8" name="Text 6"/>
          <p:cNvSpPr/>
          <p:nvPr/>
        </p:nvSpPr>
        <p:spPr>
          <a:xfrm>
            <a:off x="548640" y="141732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Frontend</a:t>
            </a:r>
            <a:endParaRPr lang="en-US" sz="1300" dirty="0"/>
          </a:p>
        </p:txBody>
      </p:sp>
      <p:sp>
        <p:nvSpPr>
          <p:cNvPr id="9" name="Shape 7"/>
          <p:cNvSpPr/>
          <p:nvPr/>
        </p:nvSpPr>
        <p:spPr>
          <a:xfrm>
            <a:off x="594360" y="2029968"/>
            <a:ext cx="109728" cy="109728"/>
          </a:xfrm>
          <a:prstGeom prst="ellipse">
            <a:avLst/>
          </a:prstGeom>
          <a:solidFill>
            <a:srgbClr val="00BCD4"/>
          </a:solidFill>
          <a:ln w="12700">
            <a:solidFill>
              <a:srgbClr val="00BCD4"/>
            </a:solidFill>
            <a:prstDash val="solid"/>
          </a:ln>
        </p:spPr>
      </p:sp>
      <p:sp>
        <p:nvSpPr>
          <p:cNvPr id="10" name="Text 8"/>
          <p:cNvSpPr/>
          <p:nvPr/>
        </p:nvSpPr>
        <p:spPr>
          <a:xfrm>
            <a:off x="777240" y="19385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React 18 + TypeScript</a:t>
            </a:r>
            <a:endParaRPr lang="en-US" sz="1200" dirty="0"/>
          </a:p>
        </p:txBody>
      </p:sp>
      <p:sp>
        <p:nvSpPr>
          <p:cNvPr id="11" name="Shape 9"/>
          <p:cNvSpPr/>
          <p:nvPr/>
        </p:nvSpPr>
        <p:spPr>
          <a:xfrm>
            <a:off x="594360" y="2350008"/>
            <a:ext cx="109728" cy="109728"/>
          </a:xfrm>
          <a:prstGeom prst="ellipse">
            <a:avLst/>
          </a:prstGeom>
          <a:solidFill>
            <a:srgbClr val="00BCD4"/>
          </a:solidFill>
          <a:ln w="12700">
            <a:solidFill>
              <a:srgbClr val="00BCD4"/>
            </a:solidFill>
            <a:prstDash val="solid"/>
          </a:ln>
        </p:spPr>
      </p:sp>
      <p:sp>
        <p:nvSpPr>
          <p:cNvPr id="12" name="Text 10"/>
          <p:cNvSpPr/>
          <p:nvPr/>
        </p:nvSpPr>
        <p:spPr>
          <a:xfrm>
            <a:off x="777240" y="22585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TailwindCSS 3</a:t>
            </a:r>
            <a:endParaRPr lang="en-US" sz="1200" dirty="0"/>
          </a:p>
        </p:txBody>
      </p:sp>
      <p:sp>
        <p:nvSpPr>
          <p:cNvPr id="13" name="Shape 11"/>
          <p:cNvSpPr/>
          <p:nvPr/>
        </p:nvSpPr>
        <p:spPr>
          <a:xfrm>
            <a:off x="594360" y="2670048"/>
            <a:ext cx="109728" cy="109728"/>
          </a:xfrm>
          <a:prstGeom prst="ellipse">
            <a:avLst/>
          </a:prstGeom>
          <a:solidFill>
            <a:srgbClr val="00BCD4"/>
          </a:solidFill>
          <a:ln w="12700">
            <a:solidFill>
              <a:srgbClr val="00BCD4"/>
            </a:solidFill>
            <a:prstDash val="solid"/>
          </a:ln>
        </p:spPr>
      </p:sp>
      <p:sp>
        <p:nvSpPr>
          <p:cNvPr id="14" name="Text 12"/>
          <p:cNvSpPr/>
          <p:nvPr/>
        </p:nvSpPr>
        <p:spPr>
          <a:xfrm>
            <a:off x="777240" y="25786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Vite Build Tool</a:t>
            </a:r>
            <a:endParaRPr lang="en-US" sz="1200" dirty="0"/>
          </a:p>
        </p:txBody>
      </p:sp>
      <p:sp>
        <p:nvSpPr>
          <p:cNvPr id="15" name="Shape 13"/>
          <p:cNvSpPr/>
          <p:nvPr/>
        </p:nvSpPr>
        <p:spPr>
          <a:xfrm>
            <a:off x="594360" y="2990088"/>
            <a:ext cx="109728" cy="109728"/>
          </a:xfrm>
          <a:prstGeom prst="ellipse">
            <a:avLst/>
          </a:prstGeom>
          <a:solidFill>
            <a:srgbClr val="00BCD4"/>
          </a:solidFill>
          <a:ln w="12700">
            <a:solidFill>
              <a:srgbClr val="00BCD4"/>
            </a:solidFill>
            <a:prstDash val="solid"/>
          </a:ln>
        </p:spPr>
      </p:sp>
      <p:sp>
        <p:nvSpPr>
          <p:cNvPr id="16" name="Text 14"/>
          <p:cNvSpPr/>
          <p:nvPr/>
        </p:nvSpPr>
        <p:spPr>
          <a:xfrm>
            <a:off x="777240" y="28986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React Query</a:t>
            </a:r>
            <a:endParaRPr lang="en-US" sz="1200" dirty="0"/>
          </a:p>
        </p:txBody>
      </p:sp>
      <p:sp>
        <p:nvSpPr>
          <p:cNvPr id="17" name="Shape 15"/>
          <p:cNvSpPr/>
          <p:nvPr/>
        </p:nvSpPr>
        <p:spPr>
          <a:xfrm>
            <a:off x="594360" y="3310128"/>
            <a:ext cx="109728" cy="109728"/>
          </a:xfrm>
          <a:prstGeom prst="ellipse">
            <a:avLst/>
          </a:prstGeom>
          <a:solidFill>
            <a:srgbClr val="00BCD4"/>
          </a:solidFill>
          <a:ln w="12700">
            <a:solidFill>
              <a:srgbClr val="00BCD4"/>
            </a:solidFill>
            <a:prstDash val="solid"/>
          </a:ln>
        </p:spPr>
      </p:sp>
      <p:sp>
        <p:nvSpPr>
          <p:cNvPr id="18" name="Text 16"/>
          <p:cNvSpPr/>
          <p:nvPr/>
        </p:nvSpPr>
        <p:spPr>
          <a:xfrm>
            <a:off x="777240" y="3218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Axios HTTP Client</a:t>
            </a:r>
            <a:endParaRPr lang="en-US" sz="1200" dirty="0"/>
          </a:p>
        </p:txBody>
      </p:sp>
      <p:sp>
        <p:nvSpPr>
          <p:cNvPr id="19" name="Shape 17"/>
          <p:cNvSpPr/>
          <p:nvPr/>
        </p:nvSpPr>
        <p:spPr>
          <a:xfrm>
            <a:off x="4114800" y="1371600"/>
            <a:ext cx="3520440" cy="2240280"/>
          </a:xfrm>
          <a:prstGeom prst="roundRect">
            <a:avLst>
              <a:gd name="adj" fmla="val 3265"/>
            </a:avLst>
          </a:prstGeom>
          <a:solidFill>
            <a:srgbClr val="FFFFFF"/>
          </a:solidFill>
          <a:ln w="12700">
            <a:solidFill>
              <a:srgbClr val="C9D8F5"/>
            </a:solidFill>
            <a:prstDash val="solid"/>
          </a:ln>
        </p:spPr>
      </p:sp>
      <p:sp>
        <p:nvSpPr>
          <p:cNvPr id="20" name="Shape 18"/>
          <p:cNvSpPr/>
          <p:nvPr/>
        </p:nvSpPr>
        <p:spPr>
          <a:xfrm>
            <a:off x="4114800" y="1371600"/>
            <a:ext cx="3520440" cy="475488"/>
          </a:xfrm>
          <a:prstGeom prst="roundRect">
            <a:avLst>
              <a:gd name="adj" fmla="val 15385"/>
            </a:avLst>
          </a:prstGeom>
          <a:solidFill>
            <a:srgbClr val="1565C0"/>
          </a:solidFill>
          <a:ln/>
        </p:spPr>
      </p:sp>
      <p:sp>
        <p:nvSpPr>
          <p:cNvPr id="21" name="Text 19"/>
          <p:cNvSpPr/>
          <p:nvPr/>
        </p:nvSpPr>
        <p:spPr>
          <a:xfrm>
            <a:off x="4251960" y="141732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Backend</a:t>
            </a:r>
            <a:endParaRPr lang="en-US" sz="1300" dirty="0"/>
          </a:p>
        </p:txBody>
      </p:sp>
      <p:sp>
        <p:nvSpPr>
          <p:cNvPr id="22" name="Shape 20"/>
          <p:cNvSpPr/>
          <p:nvPr/>
        </p:nvSpPr>
        <p:spPr>
          <a:xfrm>
            <a:off x="4297680" y="2029968"/>
            <a:ext cx="109728" cy="109728"/>
          </a:xfrm>
          <a:prstGeom prst="ellipse">
            <a:avLst/>
          </a:prstGeom>
          <a:solidFill>
            <a:srgbClr val="00BCD4"/>
          </a:solidFill>
          <a:ln w="12700">
            <a:solidFill>
              <a:srgbClr val="00BCD4"/>
            </a:solidFill>
            <a:prstDash val="solid"/>
          </a:ln>
        </p:spPr>
      </p:sp>
      <p:sp>
        <p:nvSpPr>
          <p:cNvPr id="23" name="Text 21"/>
          <p:cNvSpPr/>
          <p:nvPr/>
        </p:nvSpPr>
        <p:spPr>
          <a:xfrm>
            <a:off x="4480560" y="19385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FastAPI (Python 3.11)</a:t>
            </a:r>
            <a:endParaRPr lang="en-US" sz="1200" dirty="0"/>
          </a:p>
        </p:txBody>
      </p:sp>
      <p:sp>
        <p:nvSpPr>
          <p:cNvPr id="24" name="Shape 22"/>
          <p:cNvSpPr/>
          <p:nvPr/>
        </p:nvSpPr>
        <p:spPr>
          <a:xfrm>
            <a:off x="4297680" y="2350008"/>
            <a:ext cx="109728" cy="109728"/>
          </a:xfrm>
          <a:prstGeom prst="ellipse">
            <a:avLst/>
          </a:prstGeom>
          <a:solidFill>
            <a:srgbClr val="00BCD4"/>
          </a:solidFill>
          <a:ln w="12700">
            <a:solidFill>
              <a:srgbClr val="00BCD4"/>
            </a:solidFill>
            <a:prstDash val="solid"/>
          </a:ln>
        </p:spPr>
      </p:sp>
      <p:sp>
        <p:nvSpPr>
          <p:cNvPr id="25" name="Text 23"/>
          <p:cNvSpPr/>
          <p:nvPr/>
        </p:nvSpPr>
        <p:spPr>
          <a:xfrm>
            <a:off x="4480560" y="22585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Pydantic v2</a:t>
            </a:r>
            <a:endParaRPr lang="en-US" sz="1200" dirty="0"/>
          </a:p>
        </p:txBody>
      </p:sp>
      <p:sp>
        <p:nvSpPr>
          <p:cNvPr id="26" name="Shape 24"/>
          <p:cNvSpPr/>
          <p:nvPr/>
        </p:nvSpPr>
        <p:spPr>
          <a:xfrm>
            <a:off x="4297680" y="2670048"/>
            <a:ext cx="109728" cy="109728"/>
          </a:xfrm>
          <a:prstGeom prst="ellipse">
            <a:avLst/>
          </a:prstGeom>
          <a:solidFill>
            <a:srgbClr val="00BCD4"/>
          </a:solidFill>
          <a:ln w="12700">
            <a:solidFill>
              <a:srgbClr val="00BCD4"/>
            </a:solidFill>
            <a:prstDash val="solid"/>
          </a:ln>
        </p:spPr>
      </p:sp>
      <p:sp>
        <p:nvSpPr>
          <p:cNvPr id="27" name="Text 25"/>
          <p:cNvSpPr/>
          <p:nvPr/>
        </p:nvSpPr>
        <p:spPr>
          <a:xfrm>
            <a:off x="4480560" y="25786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SQLAlchemy ORM</a:t>
            </a:r>
            <a:endParaRPr lang="en-US" sz="1200" dirty="0"/>
          </a:p>
        </p:txBody>
      </p:sp>
      <p:sp>
        <p:nvSpPr>
          <p:cNvPr id="28" name="Shape 26"/>
          <p:cNvSpPr/>
          <p:nvPr/>
        </p:nvSpPr>
        <p:spPr>
          <a:xfrm>
            <a:off x="4297680" y="2990088"/>
            <a:ext cx="109728" cy="109728"/>
          </a:xfrm>
          <a:prstGeom prst="ellipse">
            <a:avLst/>
          </a:prstGeom>
          <a:solidFill>
            <a:srgbClr val="00BCD4"/>
          </a:solidFill>
          <a:ln w="12700">
            <a:solidFill>
              <a:srgbClr val="00BCD4"/>
            </a:solidFill>
            <a:prstDash val="solid"/>
          </a:ln>
        </p:spPr>
      </p:sp>
      <p:sp>
        <p:nvSpPr>
          <p:cNvPr id="29" name="Text 27"/>
          <p:cNvSpPr/>
          <p:nvPr/>
        </p:nvSpPr>
        <p:spPr>
          <a:xfrm>
            <a:off x="4480560" y="28986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Alembic Migrations</a:t>
            </a:r>
            <a:endParaRPr lang="en-US" sz="1200" dirty="0"/>
          </a:p>
        </p:txBody>
      </p:sp>
      <p:sp>
        <p:nvSpPr>
          <p:cNvPr id="30" name="Shape 28"/>
          <p:cNvSpPr/>
          <p:nvPr/>
        </p:nvSpPr>
        <p:spPr>
          <a:xfrm>
            <a:off x="4297680" y="3310128"/>
            <a:ext cx="109728" cy="109728"/>
          </a:xfrm>
          <a:prstGeom prst="ellipse">
            <a:avLst/>
          </a:prstGeom>
          <a:solidFill>
            <a:srgbClr val="00BCD4"/>
          </a:solidFill>
          <a:ln w="12700">
            <a:solidFill>
              <a:srgbClr val="00BCD4"/>
            </a:solidFill>
            <a:prstDash val="solid"/>
          </a:ln>
        </p:spPr>
      </p:sp>
      <p:sp>
        <p:nvSpPr>
          <p:cNvPr id="31" name="Text 29"/>
          <p:cNvSpPr/>
          <p:nvPr/>
        </p:nvSpPr>
        <p:spPr>
          <a:xfrm>
            <a:off x="4480560" y="3218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Uvicorn ASGI</a:t>
            </a:r>
            <a:endParaRPr lang="en-US" sz="1200" dirty="0"/>
          </a:p>
        </p:txBody>
      </p:sp>
      <p:sp>
        <p:nvSpPr>
          <p:cNvPr id="32" name="Shape 30"/>
          <p:cNvSpPr/>
          <p:nvPr/>
        </p:nvSpPr>
        <p:spPr>
          <a:xfrm>
            <a:off x="7818120" y="1371600"/>
            <a:ext cx="3520440" cy="2240280"/>
          </a:xfrm>
          <a:prstGeom prst="roundRect">
            <a:avLst>
              <a:gd name="adj" fmla="val 3265"/>
            </a:avLst>
          </a:prstGeom>
          <a:solidFill>
            <a:srgbClr val="FFFFFF"/>
          </a:solidFill>
          <a:ln w="12700">
            <a:solidFill>
              <a:srgbClr val="C9D8F5"/>
            </a:solidFill>
            <a:prstDash val="solid"/>
          </a:ln>
        </p:spPr>
      </p:sp>
      <p:sp>
        <p:nvSpPr>
          <p:cNvPr id="33" name="Shape 31"/>
          <p:cNvSpPr/>
          <p:nvPr/>
        </p:nvSpPr>
        <p:spPr>
          <a:xfrm>
            <a:off x="7818120" y="1371600"/>
            <a:ext cx="3520440" cy="475488"/>
          </a:xfrm>
          <a:prstGeom prst="roundRect">
            <a:avLst>
              <a:gd name="adj" fmla="val 15385"/>
            </a:avLst>
          </a:prstGeom>
          <a:solidFill>
            <a:srgbClr val="0277BD"/>
          </a:solidFill>
          <a:ln/>
        </p:spPr>
      </p:sp>
      <p:sp>
        <p:nvSpPr>
          <p:cNvPr id="34" name="Text 32"/>
          <p:cNvSpPr/>
          <p:nvPr/>
        </p:nvSpPr>
        <p:spPr>
          <a:xfrm>
            <a:off x="7955280" y="141732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AI / ML</a:t>
            </a:r>
            <a:endParaRPr lang="en-US" sz="1300" dirty="0"/>
          </a:p>
        </p:txBody>
      </p:sp>
      <p:sp>
        <p:nvSpPr>
          <p:cNvPr id="35" name="Shape 33"/>
          <p:cNvSpPr/>
          <p:nvPr/>
        </p:nvSpPr>
        <p:spPr>
          <a:xfrm>
            <a:off x="8001000" y="2029968"/>
            <a:ext cx="109728" cy="109728"/>
          </a:xfrm>
          <a:prstGeom prst="ellipse">
            <a:avLst/>
          </a:prstGeom>
          <a:solidFill>
            <a:srgbClr val="00BCD4"/>
          </a:solidFill>
          <a:ln w="12700">
            <a:solidFill>
              <a:srgbClr val="00BCD4"/>
            </a:solidFill>
            <a:prstDash val="solid"/>
          </a:ln>
        </p:spPr>
      </p:sp>
      <p:sp>
        <p:nvSpPr>
          <p:cNvPr id="36" name="Text 34"/>
          <p:cNvSpPr/>
          <p:nvPr/>
        </p:nvSpPr>
        <p:spPr>
          <a:xfrm>
            <a:off x="8183880" y="19385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LangChain 0.2</a:t>
            </a:r>
            <a:endParaRPr lang="en-US" sz="1200" dirty="0"/>
          </a:p>
        </p:txBody>
      </p:sp>
      <p:sp>
        <p:nvSpPr>
          <p:cNvPr id="37" name="Shape 35"/>
          <p:cNvSpPr/>
          <p:nvPr/>
        </p:nvSpPr>
        <p:spPr>
          <a:xfrm>
            <a:off x="8001000" y="2350008"/>
            <a:ext cx="109728" cy="109728"/>
          </a:xfrm>
          <a:prstGeom prst="ellipse">
            <a:avLst/>
          </a:prstGeom>
          <a:solidFill>
            <a:srgbClr val="00BCD4"/>
          </a:solidFill>
          <a:ln w="12700">
            <a:solidFill>
              <a:srgbClr val="00BCD4"/>
            </a:solidFill>
            <a:prstDash val="solid"/>
          </a:ln>
        </p:spPr>
      </p:sp>
      <p:sp>
        <p:nvSpPr>
          <p:cNvPr id="38" name="Text 36"/>
          <p:cNvSpPr/>
          <p:nvPr/>
        </p:nvSpPr>
        <p:spPr>
          <a:xfrm>
            <a:off x="8183880" y="22585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OpenAI GPT-4o</a:t>
            </a:r>
            <a:endParaRPr lang="en-US" sz="1200" dirty="0"/>
          </a:p>
        </p:txBody>
      </p:sp>
      <p:sp>
        <p:nvSpPr>
          <p:cNvPr id="39" name="Shape 37"/>
          <p:cNvSpPr/>
          <p:nvPr/>
        </p:nvSpPr>
        <p:spPr>
          <a:xfrm>
            <a:off x="8001000" y="2670048"/>
            <a:ext cx="109728" cy="109728"/>
          </a:xfrm>
          <a:prstGeom prst="ellipse">
            <a:avLst/>
          </a:prstGeom>
          <a:solidFill>
            <a:srgbClr val="00BCD4"/>
          </a:solidFill>
          <a:ln w="12700">
            <a:solidFill>
              <a:srgbClr val="00BCD4"/>
            </a:solidFill>
            <a:prstDash val="solid"/>
          </a:ln>
        </p:spPr>
      </p:sp>
      <p:sp>
        <p:nvSpPr>
          <p:cNvPr id="40" name="Text 38"/>
          <p:cNvSpPr/>
          <p:nvPr/>
        </p:nvSpPr>
        <p:spPr>
          <a:xfrm>
            <a:off x="8183880" y="25786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Sentence Transformers</a:t>
            </a:r>
            <a:endParaRPr lang="en-US" sz="1200" dirty="0"/>
          </a:p>
        </p:txBody>
      </p:sp>
      <p:sp>
        <p:nvSpPr>
          <p:cNvPr id="41" name="Shape 39"/>
          <p:cNvSpPr/>
          <p:nvPr/>
        </p:nvSpPr>
        <p:spPr>
          <a:xfrm>
            <a:off x="8001000" y="2990088"/>
            <a:ext cx="109728" cy="109728"/>
          </a:xfrm>
          <a:prstGeom prst="ellipse">
            <a:avLst/>
          </a:prstGeom>
          <a:solidFill>
            <a:srgbClr val="00BCD4"/>
          </a:solidFill>
          <a:ln w="12700">
            <a:solidFill>
              <a:srgbClr val="00BCD4"/>
            </a:solidFill>
            <a:prstDash val="solid"/>
          </a:ln>
        </p:spPr>
      </p:sp>
      <p:sp>
        <p:nvSpPr>
          <p:cNvPr id="42" name="Text 40"/>
          <p:cNvSpPr/>
          <p:nvPr/>
        </p:nvSpPr>
        <p:spPr>
          <a:xfrm>
            <a:off x="8183880" y="28986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FAISS Vector Store</a:t>
            </a:r>
            <a:endParaRPr lang="en-US" sz="1200" dirty="0"/>
          </a:p>
        </p:txBody>
      </p:sp>
      <p:sp>
        <p:nvSpPr>
          <p:cNvPr id="43" name="Shape 41"/>
          <p:cNvSpPr/>
          <p:nvPr/>
        </p:nvSpPr>
        <p:spPr>
          <a:xfrm>
            <a:off x="8001000" y="3310128"/>
            <a:ext cx="109728" cy="109728"/>
          </a:xfrm>
          <a:prstGeom prst="ellipse">
            <a:avLst/>
          </a:prstGeom>
          <a:solidFill>
            <a:srgbClr val="00BCD4"/>
          </a:solidFill>
          <a:ln w="12700">
            <a:solidFill>
              <a:srgbClr val="00BCD4"/>
            </a:solidFill>
            <a:prstDash val="solid"/>
          </a:ln>
        </p:spPr>
      </p:sp>
      <p:sp>
        <p:nvSpPr>
          <p:cNvPr id="44" name="Text 42"/>
          <p:cNvSpPr/>
          <p:nvPr/>
        </p:nvSpPr>
        <p:spPr>
          <a:xfrm>
            <a:off x="8183880" y="3218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PyMuPDF + python-docx</a:t>
            </a:r>
            <a:endParaRPr lang="en-US" sz="1200" dirty="0"/>
          </a:p>
        </p:txBody>
      </p:sp>
      <p:sp>
        <p:nvSpPr>
          <p:cNvPr id="45" name="Shape 43"/>
          <p:cNvSpPr/>
          <p:nvPr/>
        </p:nvSpPr>
        <p:spPr>
          <a:xfrm>
            <a:off x="411480" y="3794760"/>
            <a:ext cx="3520440" cy="2240280"/>
          </a:xfrm>
          <a:prstGeom prst="roundRect">
            <a:avLst>
              <a:gd name="adj" fmla="val 3265"/>
            </a:avLst>
          </a:prstGeom>
          <a:solidFill>
            <a:srgbClr val="FFFFFF"/>
          </a:solidFill>
          <a:ln w="12700">
            <a:solidFill>
              <a:srgbClr val="C9D8F5"/>
            </a:solidFill>
            <a:prstDash val="solid"/>
          </a:ln>
        </p:spPr>
      </p:sp>
      <p:sp>
        <p:nvSpPr>
          <p:cNvPr id="46" name="Shape 44"/>
          <p:cNvSpPr/>
          <p:nvPr/>
        </p:nvSpPr>
        <p:spPr>
          <a:xfrm>
            <a:off x="411480" y="3794760"/>
            <a:ext cx="3520440" cy="475488"/>
          </a:xfrm>
          <a:prstGeom prst="roundRect">
            <a:avLst>
              <a:gd name="adj" fmla="val 15385"/>
            </a:avLst>
          </a:prstGeom>
          <a:solidFill>
            <a:srgbClr val="01579B"/>
          </a:solidFill>
          <a:ln/>
        </p:spPr>
      </p:sp>
      <p:sp>
        <p:nvSpPr>
          <p:cNvPr id="47" name="Text 45"/>
          <p:cNvSpPr/>
          <p:nvPr/>
        </p:nvSpPr>
        <p:spPr>
          <a:xfrm>
            <a:off x="548640" y="384048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Data</a:t>
            </a:r>
            <a:endParaRPr lang="en-US" sz="1300" dirty="0"/>
          </a:p>
        </p:txBody>
      </p:sp>
      <p:sp>
        <p:nvSpPr>
          <p:cNvPr id="48" name="Shape 46"/>
          <p:cNvSpPr/>
          <p:nvPr/>
        </p:nvSpPr>
        <p:spPr>
          <a:xfrm>
            <a:off x="594360" y="4453128"/>
            <a:ext cx="109728" cy="109728"/>
          </a:xfrm>
          <a:prstGeom prst="ellipse">
            <a:avLst/>
          </a:prstGeom>
          <a:solidFill>
            <a:srgbClr val="00BCD4"/>
          </a:solidFill>
          <a:ln w="12700">
            <a:solidFill>
              <a:srgbClr val="00BCD4"/>
            </a:solidFill>
            <a:prstDash val="solid"/>
          </a:ln>
        </p:spPr>
      </p:sp>
      <p:sp>
        <p:nvSpPr>
          <p:cNvPr id="49" name="Text 47"/>
          <p:cNvSpPr/>
          <p:nvPr/>
        </p:nvSpPr>
        <p:spPr>
          <a:xfrm>
            <a:off x="777240" y="4361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PostgreSQL 15</a:t>
            </a:r>
            <a:endParaRPr lang="en-US" sz="1200" dirty="0"/>
          </a:p>
        </p:txBody>
      </p:sp>
      <p:sp>
        <p:nvSpPr>
          <p:cNvPr id="50" name="Shape 48"/>
          <p:cNvSpPr/>
          <p:nvPr/>
        </p:nvSpPr>
        <p:spPr>
          <a:xfrm>
            <a:off x="594360" y="4773168"/>
            <a:ext cx="109728" cy="109728"/>
          </a:xfrm>
          <a:prstGeom prst="ellipse">
            <a:avLst/>
          </a:prstGeom>
          <a:solidFill>
            <a:srgbClr val="00BCD4"/>
          </a:solidFill>
          <a:ln w="12700">
            <a:solidFill>
              <a:srgbClr val="00BCD4"/>
            </a:solidFill>
            <a:prstDash val="solid"/>
          </a:ln>
        </p:spPr>
      </p:sp>
      <p:sp>
        <p:nvSpPr>
          <p:cNvPr id="51" name="Text 49"/>
          <p:cNvSpPr/>
          <p:nvPr/>
        </p:nvSpPr>
        <p:spPr>
          <a:xfrm>
            <a:off x="777240" y="46817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FAISS Index</a:t>
            </a:r>
            <a:endParaRPr lang="en-US" sz="1200" dirty="0"/>
          </a:p>
        </p:txBody>
      </p:sp>
      <p:sp>
        <p:nvSpPr>
          <p:cNvPr id="52" name="Shape 50"/>
          <p:cNvSpPr/>
          <p:nvPr/>
        </p:nvSpPr>
        <p:spPr>
          <a:xfrm>
            <a:off x="594360" y="5093208"/>
            <a:ext cx="109728" cy="109728"/>
          </a:xfrm>
          <a:prstGeom prst="ellipse">
            <a:avLst/>
          </a:prstGeom>
          <a:solidFill>
            <a:srgbClr val="00BCD4"/>
          </a:solidFill>
          <a:ln w="12700">
            <a:solidFill>
              <a:srgbClr val="00BCD4"/>
            </a:solidFill>
            <a:prstDash val="solid"/>
          </a:ln>
        </p:spPr>
      </p:sp>
      <p:sp>
        <p:nvSpPr>
          <p:cNvPr id="53" name="Text 51"/>
          <p:cNvSpPr/>
          <p:nvPr/>
        </p:nvSpPr>
        <p:spPr>
          <a:xfrm>
            <a:off x="777240" y="50017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Redis (Cache)</a:t>
            </a:r>
            <a:endParaRPr lang="en-US" sz="1200" dirty="0"/>
          </a:p>
        </p:txBody>
      </p:sp>
      <p:sp>
        <p:nvSpPr>
          <p:cNvPr id="54" name="Shape 52"/>
          <p:cNvSpPr/>
          <p:nvPr/>
        </p:nvSpPr>
        <p:spPr>
          <a:xfrm>
            <a:off x="594360" y="5413248"/>
            <a:ext cx="109728" cy="109728"/>
          </a:xfrm>
          <a:prstGeom prst="ellipse">
            <a:avLst/>
          </a:prstGeom>
          <a:solidFill>
            <a:srgbClr val="00BCD4"/>
          </a:solidFill>
          <a:ln w="12700">
            <a:solidFill>
              <a:srgbClr val="00BCD4"/>
            </a:solidFill>
            <a:prstDash val="solid"/>
          </a:ln>
        </p:spPr>
      </p:sp>
      <p:sp>
        <p:nvSpPr>
          <p:cNvPr id="55" name="Text 53"/>
          <p:cNvSpPr/>
          <p:nvPr/>
        </p:nvSpPr>
        <p:spPr>
          <a:xfrm>
            <a:off x="777240" y="53218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S3 File Storage</a:t>
            </a:r>
            <a:endParaRPr lang="en-US" sz="1200" dirty="0"/>
          </a:p>
        </p:txBody>
      </p:sp>
      <p:sp>
        <p:nvSpPr>
          <p:cNvPr id="56" name="Shape 54"/>
          <p:cNvSpPr/>
          <p:nvPr/>
        </p:nvSpPr>
        <p:spPr>
          <a:xfrm>
            <a:off x="594360" y="5733288"/>
            <a:ext cx="109728" cy="109728"/>
          </a:xfrm>
          <a:prstGeom prst="ellipse">
            <a:avLst/>
          </a:prstGeom>
          <a:solidFill>
            <a:srgbClr val="00BCD4"/>
          </a:solidFill>
          <a:ln w="12700">
            <a:solidFill>
              <a:srgbClr val="00BCD4"/>
            </a:solidFill>
            <a:prstDash val="solid"/>
          </a:ln>
        </p:spPr>
      </p:sp>
      <p:sp>
        <p:nvSpPr>
          <p:cNvPr id="57" name="Text 55"/>
          <p:cNvSpPr/>
          <p:nvPr/>
        </p:nvSpPr>
        <p:spPr>
          <a:xfrm>
            <a:off x="777240" y="56418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pgvector Extension</a:t>
            </a:r>
            <a:endParaRPr lang="en-US" sz="1200" dirty="0"/>
          </a:p>
        </p:txBody>
      </p:sp>
      <p:sp>
        <p:nvSpPr>
          <p:cNvPr id="58" name="Shape 56"/>
          <p:cNvSpPr/>
          <p:nvPr/>
        </p:nvSpPr>
        <p:spPr>
          <a:xfrm>
            <a:off x="4114800" y="3794760"/>
            <a:ext cx="3520440" cy="2240280"/>
          </a:xfrm>
          <a:prstGeom prst="roundRect">
            <a:avLst>
              <a:gd name="adj" fmla="val 3265"/>
            </a:avLst>
          </a:prstGeom>
          <a:solidFill>
            <a:srgbClr val="FFFFFF"/>
          </a:solidFill>
          <a:ln w="12700">
            <a:solidFill>
              <a:srgbClr val="C9D8F5"/>
            </a:solidFill>
            <a:prstDash val="solid"/>
          </a:ln>
        </p:spPr>
      </p:sp>
      <p:sp>
        <p:nvSpPr>
          <p:cNvPr id="59" name="Shape 57"/>
          <p:cNvSpPr/>
          <p:nvPr/>
        </p:nvSpPr>
        <p:spPr>
          <a:xfrm>
            <a:off x="4114800" y="3794760"/>
            <a:ext cx="3520440" cy="475488"/>
          </a:xfrm>
          <a:prstGeom prst="roundRect">
            <a:avLst>
              <a:gd name="adj" fmla="val 15385"/>
            </a:avLst>
          </a:prstGeom>
          <a:solidFill>
            <a:srgbClr val="283593"/>
          </a:solidFill>
          <a:ln/>
        </p:spPr>
      </p:sp>
      <p:sp>
        <p:nvSpPr>
          <p:cNvPr id="60" name="Text 58"/>
          <p:cNvSpPr/>
          <p:nvPr/>
        </p:nvSpPr>
        <p:spPr>
          <a:xfrm>
            <a:off x="4251960" y="384048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Security</a:t>
            </a:r>
            <a:endParaRPr lang="en-US" sz="1300" dirty="0"/>
          </a:p>
        </p:txBody>
      </p:sp>
      <p:sp>
        <p:nvSpPr>
          <p:cNvPr id="61" name="Shape 59"/>
          <p:cNvSpPr/>
          <p:nvPr/>
        </p:nvSpPr>
        <p:spPr>
          <a:xfrm>
            <a:off x="4297680" y="4453128"/>
            <a:ext cx="109728" cy="109728"/>
          </a:xfrm>
          <a:prstGeom prst="ellipse">
            <a:avLst/>
          </a:prstGeom>
          <a:solidFill>
            <a:srgbClr val="00BCD4"/>
          </a:solidFill>
          <a:ln w="12700">
            <a:solidFill>
              <a:srgbClr val="00BCD4"/>
            </a:solidFill>
            <a:prstDash val="solid"/>
          </a:ln>
        </p:spPr>
      </p:sp>
      <p:sp>
        <p:nvSpPr>
          <p:cNvPr id="62" name="Text 60"/>
          <p:cNvSpPr/>
          <p:nvPr/>
        </p:nvSpPr>
        <p:spPr>
          <a:xfrm>
            <a:off x="4480560" y="4361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JWT (RS256)</a:t>
            </a:r>
            <a:endParaRPr lang="en-US" sz="1200" dirty="0"/>
          </a:p>
        </p:txBody>
      </p:sp>
      <p:sp>
        <p:nvSpPr>
          <p:cNvPr id="63" name="Shape 61"/>
          <p:cNvSpPr/>
          <p:nvPr/>
        </p:nvSpPr>
        <p:spPr>
          <a:xfrm>
            <a:off x="4297680" y="4773168"/>
            <a:ext cx="109728" cy="109728"/>
          </a:xfrm>
          <a:prstGeom prst="ellipse">
            <a:avLst/>
          </a:prstGeom>
          <a:solidFill>
            <a:srgbClr val="00BCD4"/>
          </a:solidFill>
          <a:ln w="12700">
            <a:solidFill>
              <a:srgbClr val="00BCD4"/>
            </a:solidFill>
            <a:prstDash val="solid"/>
          </a:ln>
        </p:spPr>
      </p:sp>
      <p:sp>
        <p:nvSpPr>
          <p:cNvPr id="64" name="Text 62"/>
          <p:cNvSpPr/>
          <p:nvPr/>
        </p:nvSpPr>
        <p:spPr>
          <a:xfrm>
            <a:off x="4480560" y="46817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x402 Protocol</a:t>
            </a:r>
            <a:endParaRPr lang="en-US" sz="1200" dirty="0"/>
          </a:p>
        </p:txBody>
      </p:sp>
      <p:sp>
        <p:nvSpPr>
          <p:cNvPr id="65" name="Shape 63"/>
          <p:cNvSpPr/>
          <p:nvPr/>
        </p:nvSpPr>
        <p:spPr>
          <a:xfrm>
            <a:off x="4297680" y="5093208"/>
            <a:ext cx="109728" cy="109728"/>
          </a:xfrm>
          <a:prstGeom prst="ellipse">
            <a:avLst/>
          </a:prstGeom>
          <a:solidFill>
            <a:srgbClr val="00BCD4"/>
          </a:solidFill>
          <a:ln w="12700">
            <a:solidFill>
              <a:srgbClr val="00BCD4"/>
            </a:solidFill>
            <a:prstDash val="solid"/>
          </a:ln>
        </p:spPr>
      </p:sp>
      <p:sp>
        <p:nvSpPr>
          <p:cNvPr id="66" name="Text 64"/>
          <p:cNvSpPr/>
          <p:nvPr/>
        </p:nvSpPr>
        <p:spPr>
          <a:xfrm>
            <a:off x="4480560" y="50017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HTTPS / TLS</a:t>
            </a:r>
            <a:endParaRPr lang="en-US" sz="1200" dirty="0"/>
          </a:p>
        </p:txBody>
      </p:sp>
      <p:sp>
        <p:nvSpPr>
          <p:cNvPr id="67" name="Shape 65"/>
          <p:cNvSpPr/>
          <p:nvPr/>
        </p:nvSpPr>
        <p:spPr>
          <a:xfrm>
            <a:off x="4297680" y="5413248"/>
            <a:ext cx="109728" cy="109728"/>
          </a:xfrm>
          <a:prstGeom prst="ellipse">
            <a:avLst/>
          </a:prstGeom>
          <a:solidFill>
            <a:srgbClr val="00BCD4"/>
          </a:solidFill>
          <a:ln w="12700">
            <a:solidFill>
              <a:srgbClr val="00BCD4"/>
            </a:solidFill>
            <a:prstDash val="solid"/>
          </a:ln>
        </p:spPr>
      </p:sp>
      <p:sp>
        <p:nvSpPr>
          <p:cNvPr id="68" name="Text 66"/>
          <p:cNvSpPr/>
          <p:nvPr/>
        </p:nvSpPr>
        <p:spPr>
          <a:xfrm>
            <a:off x="4480560" y="53218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OAuth2 Scopes</a:t>
            </a:r>
            <a:endParaRPr lang="en-US" sz="1200" dirty="0"/>
          </a:p>
        </p:txBody>
      </p:sp>
      <p:sp>
        <p:nvSpPr>
          <p:cNvPr id="69" name="Shape 67"/>
          <p:cNvSpPr/>
          <p:nvPr/>
        </p:nvSpPr>
        <p:spPr>
          <a:xfrm>
            <a:off x="4297680" y="5733288"/>
            <a:ext cx="109728" cy="109728"/>
          </a:xfrm>
          <a:prstGeom prst="ellipse">
            <a:avLst/>
          </a:prstGeom>
          <a:solidFill>
            <a:srgbClr val="00BCD4"/>
          </a:solidFill>
          <a:ln w="12700">
            <a:solidFill>
              <a:srgbClr val="00BCD4"/>
            </a:solidFill>
            <a:prstDash val="solid"/>
          </a:ln>
        </p:spPr>
      </p:sp>
      <p:sp>
        <p:nvSpPr>
          <p:cNvPr id="70" name="Text 68"/>
          <p:cNvSpPr/>
          <p:nvPr/>
        </p:nvSpPr>
        <p:spPr>
          <a:xfrm>
            <a:off x="4480560" y="56418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Rate Limiting</a:t>
            </a:r>
            <a:endParaRPr lang="en-US" sz="1200" dirty="0"/>
          </a:p>
        </p:txBody>
      </p:sp>
      <p:sp>
        <p:nvSpPr>
          <p:cNvPr id="71" name="Shape 69"/>
          <p:cNvSpPr/>
          <p:nvPr/>
        </p:nvSpPr>
        <p:spPr>
          <a:xfrm>
            <a:off x="7818120" y="3794760"/>
            <a:ext cx="3520440" cy="2240280"/>
          </a:xfrm>
          <a:prstGeom prst="roundRect">
            <a:avLst>
              <a:gd name="adj" fmla="val 3265"/>
            </a:avLst>
          </a:prstGeom>
          <a:solidFill>
            <a:srgbClr val="FFFFFF"/>
          </a:solidFill>
          <a:ln w="12700">
            <a:solidFill>
              <a:srgbClr val="C9D8F5"/>
            </a:solidFill>
            <a:prstDash val="solid"/>
          </a:ln>
        </p:spPr>
      </p:sp>
      <p:sp>
        <p:nvSpPr>
          <p:cNvPr id="72" name="Shape 70"/>
          <p:cNvSpPr/>
          <p:nvPr/>
        </p:nvSpPr>
        <p:spPr>
          <a:xfrm>
            <a:off x="7818120" y="3794760"/>
            <a:ext cx="3520440" cy="475488"/>
          </a:xfrm>
          <a:prstGeom prst="roundRect">
            <a:avLst>
              <a:gd name="adj" fmla="val 15385"/>
            </a:avLst>
          </a:prstGeom>
          <a:solidFill>
            <a:srgbClr val="1A237E"/>
          </a:solidFill>
          <a:ln/>
        </p:spPr>
      </p:sp>
      <p:sp>
        <p:nvSpPr>
          <p:cNvPr id="73" name="Text 71"/>
          <p:cNvSpPr/>
          <p:nvPr/>
        </p:nvSpPr>
        <p:spPr>
          <a:xfrm>
            <a:off x="7955280" y="384048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DevOps</a:t>
            </a:r>
            <a:endParaRPr lang="en-US" sz="1300" dirty="0"/>
          </a:p>
        </p:txBody>
      </p:sp>
      <p:sp>
        <p:nvSpPr>
          <p:cNvPr id="74" name="Shape 72"/>
          <p:cNvSpPr/>
          <p:nvPr/>
        </p:nvSpPr>
        <p:spPr>
          <a:xfrm>
            <a:off x="8001000" y="4453128"/>
            <a:ext cx="109728" cy="109728"/>
          </a:xfrm>
          <a:prstGeom prst="ellipse">
            <a:avLst/>
          </a:prstGeom>
          <a:solidFill>
            <a:srgbClr val="00BCD4"/>
          </a:solidFill>
          <a:ln w="12700">
            <a:solidFill>
              <a:srgbClr val="00BCD4"/>
            </a:solidFill>
            <a:prstDash val="solid"/>
          </a:ln>
        </p:spPr>
      </p:sp>
      <p:sp>
        <p:nvSpPr>
          <p:cNvPr id="75" name="Text 73"/>
          <p:cNvSpPr/>
          <p:nvPr/>
        </p:nvSpPr>
        <p:spPr>
          <a:xfrm>
            <a:off x="8183880" y="4361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Docker + Compose</a:t>
            </a:r>
            <a:endParaRPr lang="en-US" sz="1200" dirty="0"/>
          </a:p>
        </p:txBody>
      </p:sp>
      <p:sp>
        <p:nvSpPr>
          <p:cNvPr id="76" name="Shape 74"/>
          <p:cNvSpPr/>
          <p:nvPr/>
        </p:nvSpPr>
        <p:spPr>
          <a:xfrm>
            <a:off x="8001000" y="4773168"/>
            <a:ext cx="109728" cy="109728"/>
          </a:xfrm>
          <a:prstGeom prst="ellipse">
            <a:avLst/>
          </a:prstGeom>
          <a:solidFill>
            <a:srgbClr val="00BCD4"/>
          </a:solidFill>
          <a:ln w="12700">
            <a:solidFill>
              <a:srgbClr val="00BCD4"/>
            </a:solidFill>
            <a:prstDash val="solid"/>
          </a:ln>
        </p:spPr>
      </p:sp>
      <p:sp>
        <p:nvSpPr>
          <p:cNvPr id="77" name="Text 75"/>
          <p:cNvSpPr/>
          <p:nvPr/>
        </p:nvSpPr>
        <p:spPr>
          <a:xfrm>
            <a:off x="8183880" y="46817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Vercel (Frontend)</a:t>
            </a:r>
            <a:endParaRPr lang="en-US" sz="1200" dirty="0"/>
          </a:p>
        </p:txBody>
      </p:sp>
      <p:sp>
        <p:nvSpPr>
          <p:cNvPr id="78" name="Shape 76"/>
          <p:cNvSpPr/>
          <p:nvPr/>
        </p:nvSpPr>
        <p:spPr>
          <a:xfrm>
            <a:off x="8001000" y="5093208"/>
            <a:ext cx="109728" cy="109728"/>
          </a:xfrm>
          <a:prstGeom prst="ellipse">
            <a:avLst/>
          </a:prstGeom>
          <a:solidFill>
            <a:srgbClr val="00BCD4"/>
          </a:solidFill>
          <a:ln w="12700">
            <a:solidFill>
              <a:srgbClr val="00BCD4"/>
            </a:solidFill>
            <a:prstDash val="solid"/>
          </a:ln>
        </p:spPr>
      </p:sp>
      <p:sp>
        <p:nvSpPr>
          <p:cNvPr id="79" name="Text 77"/>
          <p:cNvSpPr/>
          <p:nvPr/>
        </p:nvSpPr>
        <p:spPr>
          <a:xfrm>
            <a:off x="8183880" y="50017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Render (Backend)</a:t>
            </a:r>
            <a:endParaRPr lang="en-US" sz="1200" dirty="0"/>
          </a:p>
        </p:txBody>
      </p:sp>
      <p:sp>
        <p:nvSpPr>
          <p:cNvPr id="80" name="Shape 78"/>
          <p:cNvSpPr/>
          <p:nvPr/>
        </p:nvSpPr>
        <p:spPr>
          <a:xfrm>
            <a:off x="8001000" y="5413248"/>
            <a:ext cx="109728" cy="109728"/>
          </a:xfrm>
          <a:prstGeom prst="ellipse">
            <a:avLst/>
          </a:prstGeom>
          <a:solidFill>
            <a:srgbClr val="00BCD4"/>
          </a:solidFill>
          <a:ln w="12700">
            <a:solidFill>
              <a:srgbClr val="00BCD4"/>
            </a:solidFill>
            <a:prstDash val="solid"/>
          </a:ln>
        </p:spPr>
      </p:sp>
      <p:sp>
        <p:nvSpPr>
          <p:cNvPr id="81" name="Text 79"/>
          <p:cNvSpPr/>
          <p:nvPr/>
        </p:nvSpPr>
        <p:spPr>
          <a:xfrm>
            <a:off x="8183880" y="53218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GitHub Actions CI</a:t>
            </a:r>
            <a:endParaRPr lang="en-US" sz="1200" dirty="0"/>
          </a:p>
        </p:txBody>
      </p:sp>
      <p:sp>
        <p:nvSpPr>
          <p:cNvPr id="82" name="Shape 80"/>
          <p:cNvSpPr/>
          <p:nvPr/>
        </p:nvSpPr>
        <p:spPr>
          <a:xfrm>
            <a:off x="8001000" y="5733288"/>
            <a:ext cx="109728" cy="109728"/>
          </a:xfrm>
          <a:prstGeom prst="ellipse">
            <a:avLst/>
          </a:prstGeom>
          <a:solidFill>
            <a:srgbClr val="00BCD4"/>
          </a:solidFill>
          <a:ln w="12700">
            <a:solidFill>
              <a:srgbClr val="00BCD4"/>
            </a:solidFill>
            <a:prstDash val="solid"/>
          </a:ln>
        </p:spPr>
      </p:sp>
      <p:sp>
        <p:nvSpPr>
          <p:cNvPr id="83" name="Text 81"/>
          <p:cNvSpPr/>
          <p:nvPr/>
        </p:nvSpPr>
        <p:spPr>
          <a:xfrm>
            <a:off x="8183880" y="56418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Sentry Monitoring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18288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System Architecture</a:t>
            </a:r>
            <a:endParaRPr lang="en-US" sz="3200" dirty="0"/>
          </a:p>
        </p:txBody>
      </p:sp>
      <p:sp>
        <p:nvSpPr>
          <p:cNvPr id="7" name="Shape 5"/>
          <p:cNvSpPr/>
          <p:nvPr/>
        </p:nvSpPr>
        <p:spPr>
          <a:xfrm>
            <a:off x="457200" y="1188720"/>
            <a:ext cx="3383280" cy="3657600"/>
          </a:xfrm>
          <a:prstGeom prst="roundRect">
            <a:avLst>
              <a:gd name="adj" fmla="val 2162"/>
            </a:avLst>
          </a:prstGeom>
          <a:solidFill>
            <a:srgbClr val="1565C0"/>
          </a:solidFill>
          <a:ln w="12700">
            <a:solidFill>
              <a:srgbClr val="C9D8F5"/>
            </a:solidFill>
            <a:prstDash val="solid"/>
          </a:ln>
        </p:spPr>
      </p:sp>
      <p:sp>
        <p:nvSpPr>
          <p:cNvPr id="8" name="Text 6"/>
          <p:cNvSpPr/>
          <p:nvPr/>
        </p:nvSpPr>
        <p:spPr>
          <a:xfrm>
            <a:off x="594360" y="1234440"/>
            <a:ext cx="3108960" cy="411480"/>
          </a:xfrm>
          <a:prstGeom prst="rect">
            <a:avLst/>
          </a:prstGeom>
          <a:noFill/>
          <a:ln/>
        </p:spPr>
        <p:txBody>
          <a:bodyPr wrap="square" lIns="0" tIns="0" rIns="0" bIns="0" rtlCol="0" anchor="ctr"/>
          <a:lstStyle/>
          <a:p>
            <a:pPr marL="0" indent="0" algn="ctr">
              <a:buNone/>
            </a:pPr>
            <a:r>
              <a:rPr lang="en-US" sz="1300" b="1" dirty="0">
                <a:solidFill>
                  <a:srgbClr val="00BCD4"/>
                </a:solidFill>
                <a:latin typeface="Calibri" pitchFamily="34" charset="0"/>
                <a:ea typeface="Calibri" pitchFamily="34" charset="-122"/>
                <a:cs typeface="Calibri" pitchFamily="34" charset="-120"/>
              </a:rPr>
              <a:t>CLIENT LAYER</a:t>
            </a:r>
            <a:endParaRPr lang="en-US" sz="1300" dirty="0"/>
          </a:p>
        </p:txBody>
      </p:sp>
      <p:sp>
        <p:nvSpPr>
          <p:cNvPr id="9" name="Shape 7"/>
          <p:cNvSpPr/>
          <p:nvPr/>
        </p:nvSpPr>
        <p:spPr>
          <a:xfrm>
            <a:off x="640080" y="1783080"/>
            <a:ext cx="3017520" cy="457200"/>
          </a:xfrm>
          <a:prstGeom prst="roundRect">
            <a:avLst>
              <a:gd name="adj" fmla="val 10000"/>
            </a:avLst>
          </a:prstGeom>
          <a:solidFill>
            <a:srgbClr val="0D1B3E"/>
          </a:solidFill>
          <a:ln/>
        </p:spPr>
      </p:sp>
      <p:sp>
        <p:nvSpPr>
          <p:cNvPr id="10" name="Text 8"/>
          <p:cNvSpPr/>
          <p:nvPr/>
        </p:nvSpPr>
        <p:spPr>
          <a:xfrm>
            <a:off x="685800" y="1783080"/>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React SPA</a:t>
            </a:r>
            <a:endParaRPr lang="en-US" sz="1200" dirty="0"/>
          </a:p>
        </p:txBody>
      </p:sp>
      <p:sp>
        <p:nvSpPr>
          <p:cNvPr id="11" name="Shape 9"/>
          <p:cNvSpPr/>
          <p:nvPr/>
        </p:nvSpPr>
        <p:spPr>
          <a:xfrm>
            <a:off x="640080" y="2350008"/>
            <a:ext cx="3017520" cy="457200"/>
          </a:xfrm>
          <a:prstGeom prst="roundRect">
            <a:avLst>
              <a:gd name="adj" fmla="val 10000"/>
            </a:avLst>
          </a:prstGeom>
          <a:solidFill>
            <a:srgbClr val="0D1B3E"/>
          </a:solidFill>
          <a:ln/>
        </p:spPr>
      </p:sp>
      <p:sp>
        <p:nvSpPr>
          <p:cNvPr id="12" name="Text 10"/>
          <p:cNvSpPr/>
          <p:nvPr/>
        </p:nvSpPr>
        <p:spPr>
          <a:xfrm>
            <a:off x="685800" y="2350008"/>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TypeScript UI</a:t>
            </a:r>
            <a:endParaRPr lang="en-US" sz="1200" dirty="0"/>
          </a:p>
        </p:txBody>
      </p:sp>
      <p:sp>
        <p:nvSpPr>
          <p:cNvPr id="13" name="Shape 11"/>
          <p:cNvSpPr/>
          <p:nvPr/>
        </p:nvSpPr>
        <p:spPr>
          <a:xfrm>
            <a:off x="640080" y="2916936"/>
            <a:ext cx="3017520" cy="457200"/>
          </a:xfrm>
          <a:prstGeom prst="roundRect">
            <a:avLst>
              <a:gd name="adj" fmla="val 10000"/>
            </a:avLst>
          </a:prstGeom>
          <a:solidFill>
            <a:srgbClr val="0D1B3E"/>
          </a:solidFill>
          <a:ln/>
        </p:spPr>
      </p:sp>
      <p:sp>
        <p:nvSpPr>
          <p:cNvPr id="14" name="Text 12"/>
          <p:cNvSpPr/>
          <p:nvPr/>
        </p:nvSpPr>
        <p:spPr>
          <a:xfrm>
            <a:off x="685800" y="2916936"/>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TailwindCSS</a:t>
            </a:r>
            <a:endParaRPr lang="en-US" sz="1200" dirty="0"/>
          </a:p>
        </p:txBody>
      </p:sp>
      <p:sp>
        <p:nvSpPr>
          <p:cNvPr id="15" name="Shape 13"/>
          <p:cNvSpPr/>
          <p:nvPr/>
        </p:nvSpPr>
        <p:spPr>
          <a:xfrm>
            <a:off x="640080" y="3483864"/>
            <a:ext cx="3017520" cy="457200"/>
          </a:xfrm>
          <a:prstGeom prst="roundRect">
            <a:avLst>
              <a:gd name="adj" fmla="val 10000"/>
            </a:avLst>
          </a:prstGeom>
          <a:solidFill>
            <a:srgbClr val="0D1B3E"/>
          </a:solidFill>
          <a:ln/>
        </p:spPr>
      </p:sp>
      <p:sp>
        <p:nvSpPr>
          <p:cNvPr id="16" name="Text 14"/>
          <p:cNvSpPr/>
          <p:nvPr/>
        </p:nvSpPr>
        <p:spPr>
          <a:xfrm>
            <a:off x="685800" y="3483864"/>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Vite Bundler</a:t>
            </a:r>
            <a:endParaRPr lang="en-US" sz="1200" dirty="0"/>
          </a:p>
        </p:txBody>
      </p:sp>
      <p:sp>
        <p:nvSpPr>
          <p:cNvPr id="17" name="Shape 15"/>
          <p:cNvSpPr/>
          <p:nvPr/>
        </p:nvSpPr>
        <p:spPr>
          <a:xfrm>
            <a:off x="4480560" y="1188720"/>
            <a:ext cx="3383280" cy="3657600"/>
          </a:xfrm>
          <a:prstGeom prst="roundRect">
            <a:avLst>
              <a:gd name="adj" fmla="val 2162"/>
            </a:avLst>
          </a:prstGeom>
          <a:solidFill>
            <a:srgbClr val="0277BD"/>
          </a:solidFill>
          <a:ln w="12700">
            <a:solidFill>
              <a:srgbClr val="C9D8F5"/>
            </a:solidFill>
            <a:prstDash val="solid"/>
          </a:ln>
        </p:spPr>
      </p:sp>
      <p:sp>
        <p:nvSpPr>
          <p:cNvPr id="18" name="Text 16"/>
          <p:cNvSpPr/>
          <p:nvPr/>
        </p:nvSpPr>
        <p:spPr>
          <a:xfrm>
            <a:off x="4617720" y="1234440"/>
            <a:ext cx="3108960" cy="411480"/>
          </a:xfrm>
          <a:prstGeom prst="rect">
            <a:avLst/>
          </a:prstGeom>
          <a:noFill/>
          <a:ln/>
        </p:spPr>
        <p:txBody>
          <a:bodyPr wrap="square" lIns="0" tIns="0" rIns="0" bIns="0" rtlCol="0" anchor="ctr"/>
          <a:lstStyle/>
          <a:p>
            <a:pPr marL="0" indent="0" algn="ctr">
              <a:buNone/>
            </a:pPr>
            <a:r>
              <a:rPr lang="en-US" sz="1300" b="1" dirty="0">
                <a:solidFill>
                  <a:srgbClr val="00BCD4"/>
                </a:solidFill>
                <a:latin typeface="Calibri" pitchFamily="34" charset="0"/>
                <a:ea typeface="Calibri" pitchFamily="34" charset="-122"/>
                <a:cs typeface="Calibri" pitchFamily="34" charset="-120"/>
              </a:rPr>
              <a:t>API LAYER</a:t>
            </a:r>
            <a:endParaRPr lang="en-US" sz="1300" dirty="0"/>
          </a:p>
        </p:txBody>
      </p:sp>
      <p:sp>
        <p:nvSpPr>
          <p:cNvPr id="19" name="Shape 17"/>
          <p:cNvSpPr/>
          <p:nvPr/>
        </p:nvSpPr>
        <p:spPr>
          <a:xfrm>
            <a:off x="4663440" y="1783080"/>
            <a:ext cx="3017520" cy="457200"/>
          </a:xfrm>
          <a:prstGeom prst="roundRect">
            <a:avLst>
              <a:gd name="adj" fmla="val 10000"/>
            </a:avLst>
          </a:prstGeom>
          <a:solidFill>
            <a:srgbClr val="0D1B3E"/>
          </a:solidFill>
          <a:ln/>
        </p:spPr>
      </p:sp>
      <p:sp>
        <p:nvSpPr>
          <p:cNvPr id="20" name="Text 18"/>
          <p:cNvSpPr/>
          <p:nvPr/>
        </p:nvSpPr>
        <p:spPr>
          <a:xfrm>
            <a:off x="4709160" y="1783080"/>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FastAPI Routes</a:t>
            </a:r>
            <a:endParaRPr lang="en-US" sz="1200" dirty="0"/>
          </a:p>
        </p:txBody>
      </p:sp>
      <p:sp>
        <p:nvSpPr>
          <p:cNvPr id="21" name="Shape 19"/>
          <p:cNvSpPr/>
          <p:nvPr/>
        </p:nvSpPr>
        <p:spPr>
          <a:xfrm>
            <a:off x="4663440" y="2350008"/>
            <a:ext cx="3017520" cy="457200"/>
          </a:xfrm>
          <a:prstGeom prst="roundRect">
            <a:avLst>
              <a:gd name="adj" fmla="val 10000"/>
            </a:avLst>
          </a:prstGeom>
          <a:solidFill>
            <a:srgbClr val="0D1B3E"/>
          </a:solidFill>
          <a:ln/>
        </p:spPr>
      </p:sp>
      <p:sp>
        <p:nvSpPr>
          <p:cNvPr id="22" name="Text 20"/>
          <p:cNvSpPr/>
          <p:nvPr/>
        </p:nvSpPr>
        <p:spPr>
          <a:xfrm>
            <a:off x="4709160" y="2350008"/>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JWT Middleware</a:t>
            </a:r>
            <a:endParaRPr lang="en-US" sz="1200" dirty="0"/>
          </a:p>
        </p:txBody>
      </p:sp>
      <p:sp>
        <p:nvSpPr>
          <p:cNvPr id="23" name="Shape 21"/>
          <p:cNvSpPr/>
          <p:nvPr/>
        </p:nvSpPr>
        <p:spPr>
          <a:xfrm>
            <a:off x="4663440" y="2916936"/>
            <a:ext cx="3017520" cy="457200"/>
          </a:xfrm>
          <a:prstGeom prst="roundRect">
            <a:avLst>
              <a:gd name="adj" fmla="val 10000"/>
            </a:avLst>
          </a:prstGeom>
          <a:solidFill>
            <a:srgbClr val="0D1B3E"/>
          </a:solidFill>
          <a:ln/>
        </p:spPr>
      </p:sp>
      <p:sp>
        <p:nvSpPr>
          <p:cNvPr id="24" name="Text 22"/>
          <p:cNvSpPr/>
          <p:nvPr/>
        </p:nvSpPr>
        <p:spPr>
          <a:xfrm>
            <a:off x="4709160" y="2916936"/>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x402 Guard</a:t>
            </a:r>
            <a:endParaRPr lang="en-US" sz="1200" dirty="0"/>
          </a:p>
        </p:txBody>
      </p:sp>
      <p:sp>
        <p:nvSpPr>
          <p:cNvPr id="25" name="Shape 23"/>
          <p:cNvSpPr/>
          <p:nvPr/>
        </p:nvSpPr>
        <p:spPr>
          <a:xfrm>
            <a:off x="4663440" y="3483864"/>
            <a:ext cx="3017520" cy="457200"/>
          </a:xfrm>
          <a:prstGeom prst="roundRect">
            <a:avLst>
              <a:gd name="adj" fmla="val 10000"/>
            </a:avLst>
          </a:prstGeom>
          <a:solidFill>
            <a:srgbClr val="0D1B3E"/>
          </a:solidFill>
          <a:ln/>
        </p:spPr>
      </p:sp>
      <p:sp>
        <p:nvSpPr>
          <p:cNvPr id="26" name="Text 24"/>
          <p:cNvSpPr/>
          <p:nvPr/>
        </p:nvSpPr>
        <p:spPr>
          <a:xfrm>
            <a:off x="4709160" y="3483864"/>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Pydantic Models</a:t>
            </a:r>
            <a:endParaRPr lang="en-US" sz="1200" dirty="0"/>
          </a:p>
        </p:txBody>
      </p:sp>
      <p:sp>
        <p:nvSpPr>
          <p:cNvPr id="27" name="Shape 25"/>
          <p:cNvSpPr/>
          <p:nvPr/>
        </p:nvSpPr>
        <p:spPr>
          <a:xfrm>
            <a:off x="4663440" y="4050792"/>
            <a:ext cx="3017520" cy="457200"/>
          </a:xfrm>
          <a:prstGeom prst="roundRect">
            <a:avLst>
              <a:gd name="adj" fmla="val 10000"/>
            </a:avLst>
          </a:prstGeom>
          <a:solidFill>
            <a:srgbClr val="0D1B3E"/>
          </a:solidFill>
          <a:ln/>
        </p:spPr>
      </p:sp>
      <p:sp>
        <p:nvSpPr>
          <p:cNvPr id="28" name="Text 26"/>
          <p:cNvSpPr/>
          <p:nvPr/>
        </p:nvSpPr>
        <p:spPr>
          <a:xfrm>
            <a:off x="4709160" y="4050792"/>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CORS Handler</a:t>
            </a:r>
            <a:endParaRPr lang="en-US" sz="1200" dirty="0"/>
          </a:p>
        </p:txBody>
      </p:sp>
      <p:sp>
        <p:nvSpPr>
          <p:cNvPr id="29" name="Shape 27"/>
          <p:cNvSpPr/>
          <p:nvPr/>
        </p:nvSpPr>
        <p:spPr>
          <a:xfrm>
            <a:off x="8503920" y="1188720"/>
            <a:ext cx="3383280" cy="3657600"/>
          </a:xfrm>
          <a:prstGeom prst="roundRect">
            <a:avLst>
              <a:gd name="adj" fmla="val 2162"/>
            </a:avLst>
          </a:prstGeom>
          <a:solidFill>
            <a:srgbClr val="01579B"/>
          </a:solidFill>
          <a:ln w="12700">
            <a:solidFill>
              <a:srgbClr val="C9D8F5"/>
            </a:solidFill>
            <a:prstDash val="solid"/>
          </a:ln>
        </p:spPr>
      </p:sp>
      <p:sp>
        <p:nvSpPr>
          <p:cNvPr id="30" name="Text 28"/>
          <p:cNvSpPr/>
          <p:nvPr/>
        </p:nvSpPr>
        <p:spPr>
          <a:xfrm>
            <a:off x="8641080" y="1234440"/>
            <a:ext cx="3108960" cy="411480"/>
          </a:xfrm>
          <a:prstGeom prst="rect">
            <a:avLst/>
          </a:prstGeom>
          <a:noFill/>
          <a:ln/>
        </p:spPr>
        <p:txBody>
          <a:bodyPr wrap="square" lIns="0" tIns="0" rIns="0" bIns="0" rtlCol="0" anchor="ctr"/>
          <a:lstStyle/>
          <a:p>
            <a:pPr marL="0" indent="0" algn="ctr">
              <a:buNone/>
            </a:pPr>
            <a:r>
              <a:rPr lang="en-US" sz="1300" b="1" dirty="0">
                <a:solidFill>
                  <a:srgbClr val="00BCD4"/>
                </a:solidFill>
                <a:latin typeface="Calibri" pitchFamily="34" charset="0"/>
                <a:ea typeface="Calibri" pitchFamily="34" charset="-122"/>
                <a:cs typeface="Calibri" pitchFamily="34" charset="-120"/>
              </a:rPr>
              <a:t>AI ENGINE</a:t>
            </a:r>
            <a:endParaRPr lang="en-US" sz="1300" dirty="0"/>
          </a:p>
        </p:txBody>
      </p:sp>
      <p:sp>
        <p:nvSpPr>
          <p:cNvPr id="31" name="Shape 29"/>
          <p:cNvSpPr/>
          <p:nvPr/>
        </p:nvSpPr>
        <p:spPr>
          <a:xfrm>
            <a:off x="8686800" y="1783080"/>
            <a:ext cx="3017520" cy="457200"/>
          </a:xfrm>
          <a:prstGeom prst="roundRect">
            <a:avLst>
              <a:gd name="adj" fmla="val 10000"/>
            </a:avLst>
          </a:prstGeom>
          <a:solidFill>
            <a:srgbClr val="0D1B3E"/>
          </a:solidFill>
          <a:ln/>
        </p:spPr>
      </p:sp>
      <p:sp>
        <p:nvSpPr>
          <p:cNvPr id="32" name="Text 30"/>
          <p:cNvSpPr/>
          <p:nvPr/>
        </p:nvSpPr>
        <p:spPr>
          <a:xfrm>
            <a:off x="8732520" y="1783080"/>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LangChain Chains</a:t>
            </a:r>
            <a:endParaRPr lang="en-US" sz="1200" dirty="0"/>
          </a:p>
        </p:txBody>
      </p:sp>
      <p:sp>
        <p:nvSpPr>
          <p:cNvPr id="33" name="Shape 31"/>
          <p:cNvSpPr/>
          <p:nvPr/>
        </p:nvSpPr>
        <p:spPr>
          <a:xfrm>
            <a:off x="8686800" y="2350008"/>
            <a:ext cx="3017520" cy="457200"/>
          </a:xfrm>
          <a:prstGeom prst="roundRect">
            <a:avLst>
              <a:gd name="adj" fmla="val 10000"/>
            </a:avLst>
          </a:prstGeom>
          <a:solidFill>
            <a:srgbClr val="0D1B3E"/>
          </a:solidFill>
          <a:ln/>
        </p:spPr>
      </p:sp>
      <p:sp>
        <p:nvSpPr>
          <p:cNvPr id="34" name="Text 32"/>
          <p:cNvSpPr/>
          <p:nvPr/>
        </p:nvSpPr>
        <p:spPr>
          <a:xfrm>
            <a:off x="8732520" y="2350008"/>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GPT-4o API</a:t>
            </a:r>
            <a:endParaRPr lang="en-US" sz="1200" dirty="0"/>
          </a:p>
        </p:txBody>
      </p:sp>
      <p:sp>
        <p:nvSpPr>
          <p:cNvPr id="35" name="Shape 33"/>
          <p:cNvSpPr/>
          <p:nvPr/>
        </p:nvSpPr>
        <p:spPr>
          <a:xfrm>
            <a:off x="8686800" y="2916936"/>
            <a:ext cx="3017520" cy="457200"/>
          </a:xfrm>
          <a:prstGeom prst="roundRect">
            <a:avLst>
              <a:gd name="adj" fmla="val 10000"/>
            </a:avLst>
          </a:prstGeom>
          <a:solidFill>
            <a:srgbClr val="0D1B3E"/>
          </a:solidFill>
          <a:ln/>
        </p:spPr>
      </p:sp>
      <p:sp>
        <p:nvSpPr>
          <p:cNvPr id="36" name="Text 34"/>
          <p:cNvSpPr/>
          <p:nvPr/>
        </p:nvSpPr>
        <p:spPr>
          <a:xfrm>
            <a:off x="8732520" y="2916936"/>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Sentence Transformers</a:t>
            </a:r>
            <a:endParaRPr lang="en-US" sz="1200" dirty="0"/>
          </a:p>
        </p:txBody>
      </p:sp>
      <p:sp>
        <p:nvSpPr>
          <p:cNvPr id="37" name="Shape 35"/>
          <p:cNvSpPr/>
          <p:nvPr/>
        </p:nvSpPr>
        <p:spPr>
          <a:xfrm>
            <a:off x="8686800" y="3483864"/>
            <a:ext cx="3017520" cy="457200"/>
          </a:xfrm>
          <a:prstGeom prst="roundRect">
            <a:avLst>
              <a:gd name="adj" fmla="val 10000"/>
            </a:avLst>
          </a:prstGeom>
          <a:solidFill>
            <a:srgbClr val="0D1B3E"/>
          </a:solidFill>
          <a:ln/>
        </p:spPr>
      </p:sp>
      <p:sp>
        <p:nvSpPr>
          <p:cNvPr id="38" name="Text 36"/>
          <p:cNvSpPr/>
          <p:nvPr/>
        </p:nvSpPr>
        <p:spPr>
          <a:xfrm>
            <a:off x="8732520" y="3483864"/>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FAISS Index</a:t>
            </a:r>
            <a:endParaRPr lang="en-US" sz="1200" dirty="0"/>
          </a:p>
        </p:txBody>
      </p:sp>
      <p:sp>
        <p:nvSpPr>
          <p:cNvPr id="39" name="Shape 37"/>
          <p:cNvSpPr/>
          <p:nvPr/>
        </p:nvSpPr>
        <p:spPr>
          <a:xfrm>
            <a:off x="8686800" y="4050792"/>
            <a:ext cx="3017520" cy="457200"/>
          </a:xfrm>
          <a:prstGeom prst="roundRect">
            <a:avLst>
              <a:gd name="adj" fmla="val 10000"/>
            </a:avLst>
          </a:prstGeom>
          <a:solidFill>
            <a:srgbClr val="0D1B3E"/>
          </a:solidFill>
          <a:ln/>
        </p:spPr>
      </p:sp>
      <p:sp>
        <p:nvSpPr>
          <p:cNvPr id="40" name="Text 38"/>
          <p:cNvSpPr/>
          <p:nvPr/>
        </p:nvSpPr>
        <p:spPr>
          <a:xfrm>
            <a:off x="8732520" y="4050792"/>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PyMuPDF Parser</a:t>
            </a:r>
            <a:endParaRPr lang="en-US" sz="1200" dirty="0"/>
          </a:p>
        </p:txBody>
      </p:sp>
      <p:sp>
        <p:nvSpPr>
          <p:cNvPr id="41" name="Shape 39"/>
          <p:cNvSpPr/>
          <p:nvPr/>
        </p:nvSpPr>
        <p:spPr>
          <a:xfrm>
            <a:off x="3840480" y="2980944"/>
            <a:ext cx="640080" cy="73152"/>
          </a:xfrm>
          <a:prstGeom prst="rect">
            <a:avLst/>
          </a:prstGeom>
          <a:solidFill>
            <a:srgbClr val="00BCD4"/>
          </a:solidFill>
          <a:ln w="12700">
            <a:solidFill>
              <a:srgbClr val="00BCD4"/>
            </a:solidFill>
            <a:prstDash val="solid"/>
          </a:ln>
        </p:spPr>
      </p:sp>
      <p:sp>
        <p:nvSpPr>
          <p:cNvPr id="42" name="Shape 40"/>
          <p:cNvSpPr/>
          <p:nvPr/>
        </p:nvSpPr>
        <p:spPr>
          <a:xfrm rot="5400000">
            <a:off x="4315968" y="2880360"/>
            <a:ext cx="201168" cy="274320"/>
          </a:xfrm>
          <a:prstGeom prst="triangle">
            <a:avLst/>
          </a:prstGeom>
          <a:solidFill>
            <a:srgbClr val="00BCD4"/>
          </a:solidFill>
          <a:ln w="12700">
            <a:solidFill>
              <a:srgbClr val="00BCD4"/>
            </a:solidFill>
            <a:prstDash val="solid"/>
          </a:ln>
        </p:spPr>
      </p:sp>
      <p:sp>
        <p:nvSpPr>
          <p:cNvPr id="43" name="Shape 41"/>
          <p:cNvSpPr/>
          <p:nvPr/>
        </p:nvSpPr>
        <p:spPr>
          <a:xfrm>
            <a:off x="7863840" y="2980944"/>
            <a:ext cx="640080" cy="73152"/>
          </a:xfrm>
          <a:prstGeom prst="rect">
            <a:avLst/>
          </a:prstGeom>
          <a:solidFill>
            <a:srgbClr val="00BCD4"/>
          </a:solidFill>
          <a:ln w="12700">
            <a:solidFill>
              <a:srgbClr val="00BCD4"/>
            </a:solidFill>
            <a:prstDash val="solid"/>
          </a:ln>
        </p:spPr>
      </p:sp>
      <p:sp>
        <p:nvSpPr>
          <p:cNvPr id="44" name="Shape 42"/>
          <p:cNvSpPr/>
          <p:nvPr/>
        </p:nvSpPr>
        <p:spPr>
          <a:xfrm rot="5400000">
            <a:off x="8339328" y="2880360"/>
            <a:ext cx="201168" cy="274320"/>
          </a:xfrm>
          <a:prstGeom prst="triangle">
            <a:avLst/>
          </a:prstGeom>
          <a:solidFill>
            <a:srgbClr val="00BCD4"/>
          </a:solidFill>
          <a:ln w="12700">
            <a:solidFill>
              <a:srgbClr val="00BCD4"/>
            </a:solidFill>
            <a:prstDash val="solid"/>
          </a:ln>
        </p:spPr>
      </p:sp>
      <p:sp>
        <p:nvSpPr>
          <p:cNvPr id="45" name="Shape 43"/>
          <p:cNvSpPr/>
          <p:nvPr/>
        </p:nvSpPr>
        <p:spPr>
          <a:xfrm>
            <a:off x="457200" y="5029200"/>
            <a:ext cx="11274552" cy="1508760"/>
          </a:xfrm>
          <a:prstGeom prst="roundRect">
            <a:avLst>
              <a:gd name="adj" fmla="val 4848"/>
            </a:avLst>
          </a:prstGeom>
          <a:solidFill>
            <a:srgbClr val="0D47A1"/>
          </a:solidFill>
          <a:ln w="12700">
            <a:solidFill>
              <a:srgbClr val="C9D8F5"/>
            </a:solidFill>
            <a:prstDash val="solid"/>
          </a:ln>
        </p:spPr>
      </p:sp>
      <p:sp>
        <p:nvSpPr>
          <p:cNvPr id="46" name="Text 44"/>
          <p:cNvSpPr/>
          <p:nvPr/>
        </p:nvSpPr>
        <p:spPr>
          <a:xfrm>
            <a:off x="594360" y="5074920"/>
            <a:ext cx="2743200" cy="347472"/>
          </a:xfrm>
          <a:prstGeom prst="rect">
            <a:avLst/>
          </a:prstGeom>
          <a:noFill/>
          <a:ln/>
        </p:spPr>
        <p:txBody>
          <a:bodyPr wrap="square" lIns="0" tIns="0" rIns="0" bIns="0"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DATA LAYER</a:t>
            </a:r>
            <a:endParaRPr lang="en-US" sz="1200" dirty="0"/>
          </a:p>
        </p:txBody>
      </p:sp>
      <p:sp>
        <p:nvSpPr>
          <p:cNvPr id="47" name="Shape 45"/>
          <p:cNvSpPr/>
          <p:nvPr/>
        </p:nvSpPr>
        <p:spPr>
          <a:xfrm>
            <a:off x="594360" y="5486400"/>
            <a:ext cx="1737360" cy="822960"/>
          </a:xfrm>
          <a:prstGeom prst="roundRect">
            <a:avLst>
              <a:gd name="adj" fmla="val 5556"/>
            </a:avLst>
          </a:prstGeom>
          <a:solidFill>
            <a:srgbClr val="0D1B3E"/>
          </a:solidFill>
          <a:ln/>
        </p:spPr>
      </p:sp>
      <p:sp>
        <p:nvSpPr>
          <p:cNvPr id="48" name="Text 46"/>
          <p:cNvSpPr/>
          <p:nvPr/>
        </p:nvSpPr>
        <p:spPr>
          <a:xfrm>
            <a:off x="594360"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PostgreSQL (Relational)</a:t>
            </a:r>
            <a:endParaRPr lang="en-US" sz="1100" dirty="0"/>
          </a:p>
        </p:txBody>
      </p:sp>
      <p:sp>
        <p:nvSpPr>
          <p:cNvPr id="49" name="Shape 47"/>
          <p:cNvSpPr/>
          <p:nvPr/>
        </p:nvSpPr>
        <p:spPr>
          <a:xfrm>
            <a:off x="2441448" y="5486400"/>
            <a:ext cx="1737360" cy="822960"/>
          </a:xfrm>
          <a:prstGeom prst="roundRect">
            <a:avLst>
              <a:gd name="adj" fmla="val 5556"/>
            </a:avLst>
          </a:prstGeom>
          <a:solidFill>
            <a:srgbClr val="0D1B3E"/>
          </a:solidFill>
          <a:ln/>
        </p:spPr>
      </p:sp>
      <p:sp>
        <p:nvSpPr>
          <p:cNvPr id="50" name="Text 48"/>
          <p:cNvSpPr/>
          <p:nvPr/>
        </p:nvSpPr>
        <p:spPr>
          <a:xfrm>
            <a:off x="2441448"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FAISS (Vectors)</a:t>
            </a:r>
            <a:endParaRPr lang="en-US" sz="1100" dirty="0"/>
          </a:p>
        </p:txBody>
      </p:sp>
      <p:sp>
        <p:nvSpPr>
          <p:cNvPr id="51" name="Shape 49"/>
          <p:cNvSpPr/>
          <p:nvPr/>
        </p:nvSpPr>
        <p:spPr>
          <a:xfrm>
            <a:off x="4288536" y="5486400"/>
            <a:ext cx="1737360" cy="822960"/>
          </a:xfrm>
          <a:prstGeom prst="roundRect">
            <a:avLst>
              <a:gd name="adj" fmla="val 5556"/>
            </a:avLst>
          </a:prstGeom>
          <a:solidFill>
            <a:srgbClr val="0D1B3E"/>
          </a:solidFill>
          <a:ln/>
        </p:spPr>
      </p:sp>
      <p:sp>
        <p:nvSpPr>
          <p:cNvPr id="52" name="Text 50"/>
          <p:cNvSpPr/>
          <p:nvPr/>
        </p:nvSpPr>
        <p:spPr>
          <a:xfrm>
            <a:off x="4288536"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Redis (Cache)</a:t>
            </a:r>
            <a:endParaRPr lang="en-US" sz="1100" dirty="0"/>
          </a:p>
        </p:txBody>
      </p:sp>
      <p:sp>
        <p:nvSpPr>
          <p:cNvPr id="53" name="Shape 51"/>
          <p:cNvSpPr/>
          <p:nvPr/>
        </p:nvSpPr>
        <p:spPr>
          <a:xfrm>
            <a:off x="6135624" y="5486400"/>
            <a:ext cx="1737360" cy="822960"/>
          </a:xfrm>
          <a:prstGeom prst="roundRect">
            <a:avLst>
              <a:gd name="adj" fmla="val 5556"/>
            </a:avLst>
          </a:prstGeom>
          <a:solidFill>
            <a:srgbClr val="0D1B3E"/>
          </a:solidFill>
          <a:ln/>
        </p:spPr>
      </p:sp>
      <p:sp>
        <p:nvSpPr>
          <p:cNvPr id="54" name="Text 52"/>
          <p:cNvSpPr/>
          <p:nvPr/>
        </p:nvSpPr>
        <p:spPr>
          <a:xfrm>
            <a:off x="6135624"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S3 (Files)</a:t>
            </a:r>
            <a:endParaRPr lang="en-US" sz="1100" dirty="0"/>
          </a:p>
        </p:txBody>
      </p:sp>
      <p:sp>
        <p:nvSpPr>
          <p:cNvPr id="55" name="Shape 53"/>
          <p:cNvSpPr/>
          <p:nvPr/>
        </p:nvSpPr>
        <p:spPr>
          <a:xfrm>
            <a:off x="7982712" y="5486400"/>
            <a:ext cx="1737360" cy="822960"/>
          </a:xfrm>
          <a:prstGeom prst="roundRect">
            <a:avLst>
              <a:gd name="adj" fmla="val 5556"/>
            </a:avLst>
          </a:prstGeom>
          <a:solidFill>
            <a:srgbClr val="0D1B3E"/>
          </a:solidFill>
          <a:ln/>
        </p:spPr>
      </p:sp>
      <p:sp>
        <p:nvSpPr>
          <p:cNvPr id="56" name="Text 54"/>
          <p:cNvSpPr/>
          <p:nvPr/>
        </p:nvSpPr>
        <p:spPr>
          <a:xfrm>
            <a:off x="7982712"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pgvector</a:t>
            </a:r>
            <a:endParaRPr lang="en-US" sz="1100" dirty="0"/>
          </a:p>
        </p:txBody>
      </p:sp>
      <p:sp>
        <p:nvSpPr>
          <p:cNvPr id="57" name="Shape 55"/>
          <p:cNvSpPr/>
          <p:nvPr/>
        </p:nvSpPr>
        <p:spPr>
          <a:xfrm>
            <a:off x="9829800" y="5486400"/>
            <a:ext cx="1737360" cy="822960"/>
          </a:xfrm>
          <a:prstGeom prst="roundRect">
            <a:avLst>
              <a:gd name="adj" fmla="val 5556"/>
            </a:avLst>
          </a:prstGeom>
          <a:solidFill>
            <a:srgbClr val="0D1B3E"/>
          </a:solidFill>
          <a:ln/>
        </p:spPr>
      </p:sp>
      <p:sp>
        <p:nvSpPr>
          <p:cNvPr id="58" name="Text 56"/>
          <p:cNvSpPr/>
          <p:nvPr/>
        </p:nvSpPr>
        <p:spPr>
          <a:xfrm>
            <a:off x="9829800"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Alembic Migrations</a:t>
            </a:r>
            <a:endParaRPr lang="en-US" sz="1100" dirty="0"/>
          </a:p>
        </p:txBody>
      </p:sp>
      <p:sp>
        <p:nvSpPr>
          <p:cNvPr id="59" name="Shape 57"/>
          <p:cNvSpPr/>
          <p:nvPr/>
        </p:nvSpPr>
        <p:spPr>
          <a:xfrm>
            <a:off x="2011680" y="4846320"/>
            <a:ext cx="73152" cy="228600"/>
          </a:xfrm>
          <a:prstGeom prst="rect">
            <a:avLst/>
          </a:prstGeom>
          <a:solidFill>
            <a:srgbClr val="00BCD4"/>
          </a:solidFill>
          <a:ln w="12700">
            <a:solidFill>
              <a:srgbClr val="00BCD4"/>
            </a:solidFill>
            <a:prstDash val="solid"/>
          </a:ln>
        </p:spPr>
      </p:sp>
      <p:sp>
        <p:nvSpPr>
          <p:cNvPr id="60" name="Shape 58"/>
          <p:cNvSpPr/>
          <p:nvPr/>
        </p:nvSpPr>
        <p:spPr>
          <a:xfrm>
            <a:off x="6035040" y="4846320"/>
            <a:ext cx="73152" cy="228600"/>
          </a:xfrm>
          <a:prstGeom prst="rect">
            <a:avLst/>
          </a:prstGeom>
          <a:solidFill>
            <a:srgbClr val="00BCD4"/>
          </a:solidFill>
          <a:ln w="12700">
            <a:solidFill>
              <a:srgbClr val="00BCD4"/>
            </a:solidFill>
            <a:prstDash val="solid"/>
          </a:ln>
        </p:spPr>
      </p:sp>
      <p:sp>
        <p:nvSpPr>
          <p:cNvPr id="61" name="Shape 59"/>
          <p:cNvSpPr/>
          <p:nvPr/>
        </p:nvSpPr>
        <p:spPr>
          <a:xfrm>
            <a:off x="10058400" y="4846320"/>
            <a:ext cx="73152" cy="228600"/>
          </a:xfrm>
          <a:prstGeom prst="rect">
            <a:avLst/>
          </a:prstGeom>
          <a:solidFill>
            <a:srgbClr val="00BCD4"/>
          </a:solidFill>
          <a:ln w="12700">
            <a:solidFill>
              <a:srgbClr val="00BCD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AI Pipeline</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Seven-stage intelligent contract processing</a:t>
            </a:r>
            <a:endParaRPr lang="en-US" sz="1300" dirty="0"/>
          </a:p>
        </p:txBody>
      </p:sp>
      <p:sp>
        <p:nvSpPr>
          <p:cNvPr id="6" name="Shape 4"/>
          <p:cNvSpPr/>
          <p:nvPr/>
        </p:nvSpPr>
        <p:spPr>
          <a:xfrm>
            <a:off x="333756" y="1417320"/>
            <a:ext cx="1371600" cy="3474720"/>
          </a:xfrm>
          <a:prstGeom prst="roundRect">
            <a:avLst>
              <a:gd name="adj" fmla="val 4667"/>
            </a:avLst>
          </a:prstGeom>
          <a:solidFill>
            <a:srgbClr val="1565C0"/>
          </a:solidFill>
          <a:ln/>
        </p:spPr>
      </p:sp>
      <p:sp>
        <p:nvSpPr>
          <p:cNvPr id="7" name="Text 5"/>
          <p:cNvSpPr/>
          <p:nvPr/>
        </p:nvSpPr>
        <p:spPr>
          <a:xfrm>
            <a:off x="33375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01</a:t>
            </a:r>
            <a:endParaRPr lang="en-US" sz="1800" dirty="0"/>
          </a:p>
        </p:txBody>
      </p:sp>
      <p:sp>
        <p:nvSpPr>
          <p:cNvPr id="8" name="Shape 6"/>
          <p:cNvSpPr/>
          <p:nvPr/>
        </p:nvSpPr>
        <p:spPr>
          <a:xfrm>
            <a:off x="470916" y="2011680"/>
            <a:ext cx="1097280" cy="27432"/>
          </a:xfrm>
          <a:prstGeom prst="rect">
            <a:avLst/>
          </a:prstGeom>
          <a:solidFill>
            <a:srgbClr val="FFFFFF"/>
          </a:solidFill>
          <a:ln/>
        </p:spPr>
      </p:sp>
      <p:sp>
        <p:nvSpPr>
          <p:cNvPr id="9" name="Text 7"/>
          <p:cNvSpPr/>
          <p:nvPr/>
        </p:nvSpPr>
        <p:spPr>
          <a:xfrm>
            <a:off x="42519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PDF / DOCX Input</a:t>
            </a:r>
            <a:endParaRPr lang="en-US" sz="1250" dirty="0"/>
          </a:p>
        </p:txBody>
      </p:sp>
      <p:sp>
        <p:nvSpPr>
          <p:cNvPr id="10" name="Text 8"/>
          <p:cNvSpPr/>
          <p:nvPr/>
        </p:nvSpPr>
        <p:spPr>
          <a:xfrm>
            <a:off x="42519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PyMuPDF · python-docx</a:t>
            </a:r>
            <a:endParaRPr lang="en-US" sz="1000" dirty="0"/>
          </a:p>
        </p:txBody>
      </p:sp>
      <p:sp>
        <p:nvSpPr>
          <p:cNvPr id="11" name="Shape 9"/>
          <p:cNvSpPr/>
          <p:nvPr/>
        </p:nvSpPr>
        <p:spPr>
          <a:xfrm>
            <a:off x="1705356" y="3118104"/>
            <a:ext cx="320040" cy="73152"/>
          </a:xfrm>
          <a:prstGeom prst="rect">
            <a:avLst/>
          </a:prstGeom>
          <a:solidFill>
            <a:srgbClr val="0D1B3E"/>
          </a:solidFill>
          <a:ln w="12700">
            <a:solidFill>
              <a:srgbClr val="0D1B3E"/>
            </a:solidFill>
            <a:prstDash val="solid"/>
          </a:ln>
        </p:spPr>
      </p:sp>
      <p:sp>
        <p:nvSpPr>
          <p:cNvPr id="12" name="Shape 10"/>
          <p:cNvSpPr/>
          <p:nvPr/>
        </p:nvSpPr>
        <p:spPr>
          <a:xfrm rot="5400000">
            <a:off x="1888236" y="3035808"/>
            <a:ext cx="164592" cy="237744"/>
          </a:xfrm>
          <a:prstGeom prst="triangle">
            <a:avLst/>
          </a:prstGeom>
          <a:solidFill>
            <a:srgbClr val="0D1B3E"/>
          </a:solidFill>
          <a:ln w="12700">
            <a:solidFill>
              <a:srgbClr val="0D1B3E"/>
            </a:solidFill>
            <a:prstDash val="solid"/>
          </a:ln>
        </p:spPr>
      </p:sp>
      <p:sp>
        <p:nvSpPr>
          <p:cNvPr id="13" name="Shape 11"/>
          <p:cNvSpPr/>
          <p:nvPr/>
        </p:nvSpPr>
        <p:spPr>
          <a:xfrm>
            <a:off x="2025396" y="1417320"/>
            <a:ext cx="1371600" cy="3474720"/>
          </a:xfrm>
          <a:prstGeom prst="roundRect">
            <a:avLst>
              <a:gd name="adj" fmla="val 4667"/>
            </a:avLst>
          </a:prstGeom>
          <a:solidFill>
            <a:srgbClr val="1976D2"/>
          </a:solidFill>
          <a:ln/>
        </p:spPr>
      </p:sp>
      <p:sp>
        <p:nvSpPr>
          <p:cNvPr id="14" name="Text 12"/>
          <p:cNvSpPr/>
          <p:nvPr/>
        </p:nvSpPr>
        <p:spPr>
          <a:xfrm>
            <a:off x="202539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02</a:t>
            </a:r>
            <a:endParaRPr lang="en-US" sz="1800" dirty="0"/>
          </a:p>
        </p:txBody>
      </p:sp>
      <p:sp>
        <p:nvSpPr>
          <p:cNvPr id="15" name="Shape 13"/>
          <p:cNvSpPr/>
          <p:nvPr/>
        </p:nvSpPr>
        <p:spPr>
          <a:xfrm>
            <a:off x="2162556" y="2011680"/>
            <a:ext cx="1097280" cy="27432"/>
          </a:xfrm>
          <a:prstGeom prst="rect">
            <a:avLst/>
          </a:prstGeom>
          <a:solidFill>
            <a:srgbClr val="FFFFFF"/>
          </a:solidFill>
          <a:ln/>
        </p:spPr>
      </p:sp>
      <p:sp>
        <p:nvSpPr>
          <p:cNvPr id="16" name="Text 14"/>
          <p:cNvSpPr/>
          <p:nvPr/>
        </p:nvSpPr>
        <p:spPr>
          <a:xfrm>
            <a:off x="211683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Text Extraction</a:t>
            </a:r>
            <a:endParaRPr lang="en-US" sz="1250" dirty="0"/>
          </a:p>
        </p:txBody>
      </p:sp>
      <p:sp>
        <p:nvSpPr>
          <p:cNvPr id="17" name="Text 15"/>
          <p:cNvSpPr/>
          <p:nvPr/>
        </p:nvSpPr>
        <p:spPr>
          <a:xfrm>
            <a:off x="211683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Regex + NLP Segmentation</a:t>
            </a:r>
            <a:endParaRPr lang="en-US" sz="1000" dirty="0"/>
          </a:p>
        </p:txBody>
      </p:sp>
      <p:sp>
        <p:nvSpPr>
          <p:cNvPr id="18" name="Shape 16"/>
          <p:cNvSpPr/>
          <p:nvPr/>
        </p:nvSpPr>
        <p:spPr>
          <a:xfrm>
            <a:off x="3396996" y="3118104"/>
            <a:ext cx="320040" cy="73152"/>
          </a:xfrm>
          <a:prstGeom prst="rect">
            <a:avLst/>
          </a:prstGeom>
          <a:solidFill>
            <a:srgbClr val="0D1B3E"/>
          </a:solidFill>
          <a:ln w="12700">
            <a:solidFill>
              <a:srgbClr val="0D1B3E"/>
            </a:solidFill>
            <a:prstDash val="solid"/>
          </a:ln>
        </p:spPr>
      </p:sp>
      <p:sp>
        <p:nvSpPr>
          <p:cNvPr id="19" name="Shape 17"/>
          <p:cNvSpPr/>
          <p:nvPr/>
        </p:nvSpPr>
        <p:spPr>
          <a:xfrm rot="5400000">
            <a:off x="3579876" y="3035808"/>
            <a:ext cx="164592" cy="237744"/>
          </a:xfrm>
          <a:prstGeom prst="triangle">
            <a:avLst/>
          </a:prstGeom>
          <a:solidFill>
            <a:srgbClr val="0D1B3E"/>
          </a:solidFill>
          <a:ln w="12700">
            <a:solidFill>
              <a:srgbClr val="0D1B3E"/>
            </a:solidFill>
            <a:prstDash val="solid"/>
          </a:ln>
        </p:spPr>
      </p:sp>
      <p:sp>
        <p:nvSpPr>
          <p:cNvPr id="20" name="Shape 18"/>
          <p:cNvSpPr/>
          <p:nvPr/>
        </p:nvSpPr>
        <p:spPr>
          <a:xfrm>
            <a:off x="3717036" y="1417320"/>
            <a:ext cx="1371600" cy="3474720"/>
          </a:xfrm>
          <a:prstGeom prst="roundRect">
            <a:avLst>
              <a:gd name="adj" fmla="val 4667"/>
            </a:avLst>
          </a:prstGeom>
          <a:solidFill>
            <a:srgbClr val="1E88E5"/>
          </a:solidFill>
          <a:ln/>
        </p:spPr>
      </p:sp>
      <p:sp>
        <p:nvSpPr>
          <p:cNvPr id="21" name="Text 19"/>
          <p:cNvSpPr/>
          <p:nvPr/>
        </p:nvSpPr>
        <p:spPr>
          <a:xfrm>
            <a:off x="371703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03</a:t>
            </a:r>
            <a:endParaRPr lang="en-US" sz="1800" dirty="0"/>
          </a:p>
        </p:txBody>
      </p:sp>
      <p:sp>
        <p:nvSpPr>
          <p:cNvPr id="22" name="Shape 20"/>
          <p:cNvSpPr/>
          <p:nvPr/>
        </p:nvSpPr>
        <p:spPr>
          <a:xfrm>
            <a:off x="3854196" y="2011680"/>
            <a:ext cx="1097280" cy="27432"/>
          </a:xfrm>
          <a:prstGeom prst="rect">
            <a:avLst/>
          </a:prstGeom>
          <a:solidFill>
            <a:srgbClr val="FFFFFF"/>
          </a:solidFill>
          <a:ln/>
        </p:spPr>
      </p:sp>
      <p:sp>
        <p:nvSpPr>
          <p:cNvPr id="23" name="Text 21"/>
          <p:cNvSpPr/>
          <p:nvPr/>
        </p:nvSpPr>
        <p:spPr>
          <a:xfrm>
            <a:off x="380847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Clause Detection</a:t>
            </a:r>
            <a:endParaRPr lang="en-US" sz="1250" dirty="0"/>
          </a:p>
        </p:txBody>
      </p:sp>
      <p:sp>
        <p:nvSpPr>
          <p:cNvPr id="24" name="Text 22"/>
          <p:cNvSpPr/>
          <p:nvPr/>
        </p:nvSpPr>
        <p:spPr>
          <a:xfrm>
            <a:off x="380847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Sentence Transformers + FAISS</a:t>
            </a:r>
            <a:endParaRPr lang="en-US" sz="1000" dirty="0"/>
          </a:p>
        </p:txBody>
      </p:sp>
      <p:sp>
        <p:nvSpPr>
          <p:cNvPr id="25" name="Shape 23"/>
          <p:cNvSpPr/>
          <p:nvPr/>
        </p:nvSpPr>
        <p:spPr>
          <a:xfrm>
            <a:off x="5088636" y="3118104"/>
            <a:ext cx="320040" cy="73152"/>
          </a:xfrm>
          <a:prstGeom prst="rect">
            <a:avLst/>
          </a:prstGeom>
          <a:solidFill>
            <a:srgbClr val="0D1B3E"/>
          </a:solidFill>
          <a:ln w="12700">
            <a:solidFill>
              <a:srgbClr val="0D1B3E"/>
            </a:solidFill>
            <a:prstDash val="solid"/>
          </a:ln>
        </p:spPr>
      </p:sp>
      <p:sp>
        <p:nvSpPr>
          <p:cNvPr id="26" name="Shape 24"/>
          <p:cNvSpPr/>
          <p:nvPr/>
        </p:nvSpPr>
        <p:spPr>
          <a:xfrm rot="5400000">
            <a:off x="5271516" y="3035808"/>
            <a:ext cx="164592" cy="237744"/>
          </a:xfrm>
          <a:prstGeom prst="triangle">
            <a:avLst/>
          </a:prstGeom>
          <a:solidFill>
            <a:srgbClr val="0D1B3E"/>
          </a:solidFill>
          <a:ln w="12700">
            <a:solidFill>
              <a:srgbClr val="0D1B3E"/>
            </a:solidFill>
            <a:prstDash val="solid"/>
          </a:ln>
        </p:spPr>
      </p:sp>
      <p:sp>
        <p:nvSpPr>
          <p:cNvPr id="27" name="Shape 25"/>
          <p:cNvSpPr/>
          <p:nvPr/>
        </p:nvSpPr>
        <p:spPr>
          <a:xfrm>
            <a:off x="5408676" y="1417320"/>
            <a:ext cx="1371600" cy="3474720"/>
          </a:xfrm>
          <a:prstGeom prst="roundRect">
            <a:avLst>
              <a:gd name="adj" fmla="val 4667"/>
            </a:avLst>
          </a:prstGeom>
          <a:solidFill>
            <a:srgbClr val="0288D1"/>
          </a:solidFill>
          <a:ln/>
        </p:spPr>
      </p:sp>
      <p:sp>
        <p:nvSpPr>
          <p:cNvPr id="28" name="Text 26"/>
          <p:cNvSpPr/>
          <p:nvPr/>
        </p:nvSpPr>
        <p:spPr>
          <a:xfrm>
            <a:off x="540867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04</a:t>
            </a:r>
            <a:endParaRPr lang="en-US" sz="1800" dirty="0"/>
          </a:p>
        </p:txBody>
      </p:sp>
      <p:sp>
        <p:nvSpPr>
          <p:cNvPr id="29" name="Shape 27"/>
          <p:cNvSpPr/>
          <p:nvPr/>
        </p:nvSpPr>
        <p:spPr>
          <a:xfrm>
            <a:off x="5545836" y="2011680"/>
            <a:ext cx="1097280" cy="27432"/>
          </a:xfrm>
          <a:prstGeom prst="rect">
            <a:avLst/>
          </a:prstGeom>
          <a:solidFill>
            <a:srgbClr val="FFFFFF"/>
          </a:solidFill>
          <a:ln/>
        </p:spPr>
      </p:sp>
      <p:sp>
        <p:nvSpPr>
          <p:cNvPr id="30" name="Text 28"/>
          <p:cNvSpPr/>
          <p:nvPr/>
        </p:nvSpPr>
        <p:spPr>
          <a:xfrm>
            <a:off x="550011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Risk Analysis</a:t>
            </a:r>
            <a:endParaRPr lang="en-US" sz="1250" dirty="0"/>
          </a:p>
        </p:txBody>
      </p:sp>
      <p:sp>
        <p:nvSpPr>
          <p:cNvPr id="31" name="Text 29"/>
          <p:cNvSpPr/>
          <p:nvPr/>
        </p:nvSpPr>
        <p:spPr>
          <a:xfrm>
            <a:off x="550011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GPT-4o + LangChain Chains</a:t>
            </a:r>
            <a:endParaRPr lang="en-US" sz="1000" dirty="0"/>
          </a:p>
        </p:txBody>
      </p:sp>
      <p:sp>
        <p:nvSpPr>
          <p:cNvPr id="32" name="Shape 30"/>
          <p:cNvSpPr/>
          <p:nvPr/>
        </p:nvSpPr>
        <p:spPr>
          <a:xfrm>
            <a:off x="6780276" y="3118104"/>
            <a:ext cx="320040" cy="73152"/>
          </a:xfrm>
          <a:prstGeom prst="rect">
            <a:avLst/>
          </a:prstGeom>
          <a:solidFill>
            <a:srgbClr val="0D1B3E"/>
          </a:solidFill>
          <a:ln w="12700">
            <a:solidFill>
              <a:srgbClr val="0D1B3E"/>
            </a:solidFill>
            <a:prstDash val="solid"/>
          </a:ln>
        </p:spPr>
      </p:sp>
      <p:sp>
        <p:nvSpPr>
          <p:cNvPr id="33" name="Shape 31"/>
          <p:cNvSpPr/>
          <p:nvPr/>
        </p:nvSpPr>
        <p:spPr>
          <a:xfrm rot="5400000">
            <a:off x="6963156" y="3035808"/>
            <a:ext cx="164592" cy="237744"/>
          </a:xfrm>
          <a:prstGeom prst="triangle">
            <a:avLst/>
          </a:prstGeom>
          <a:solidFill>
            <a:srgbClr val="0D1B3E"/>
          </a:solidFill>
          <a:ln w="12700">
            <a:solidFill>
              <a:srgbClr val="0D1B3E"/>
            </a:solidFill>
            <a:prstDash val="solid"/>
          </a:ln>
        </p:spPr>
      </p:sp>
      <p:sp>
        <p:nvSpPr>
          <p:cNvPr id="34" name="Shape 32"/>
          <p:cNvSpPr/>
          <p:nvPr/>
        </p:nvSpPr>
        <p:spPr>
          <a:xfrm>
            <a:off x="7100316" y="1417320"/>
            <a:ext cx="1371600" cy="3474720"/>
          </a:xfrm>
          <a:prstGeom prst="roundRect">
            <a:avLst>
              <a:gd name="adj" fmla="val 4667"/>
            </a:avLst>
          </a:prstGeom>
          <a:solidFill>
            <a:srgbClr val="0097A7"/>
          </a:solidFill>
          <a:ln/>
        </p:spPr>
      </p:sp>
      <p:sp>
        <p:nvSpPr>
          <p:cNvPr id="35" name="Text 33"/>
          <p:cNvSpPr/>
          <p:nvPr/>
        </p:nvSpPr>
        <p:spPr>
          <a:xfrm>
            <a:off x="710031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05</a:t>
            </a:r>
            <a:endParaRPr lang="en-US" sz="1800" dirty="0"/>
          </a:p>
        </p:txBody>
      </p:sp>
      <p:sp>
        <p:nvSpPr>
          <p:cNvPr id="36" name="Shape 34"/>
          <p:cNvSpPr/>
          <p:nvPr/>
        </p:nvSpPr>
        <p:spPr>
          <a:xfrm>
            <a:off x="7237476" y="2011680"/>
            <a:ext cx="1097280" cy="27432"/>
          </a:xfrm>
          <a:prstGeom prst="rect">
            <a:avLst/>
          </a:prstGeom>
          <a:solidFill>
            <a:srgbClr val="FFFFFF"/>
          </a:solidFill>
          <a:ln/>
        </p:spPr>
      </p:sp>
      <p:sp>
        <p:nvSpPr>
          <p:cNvPr id="37" name="Text 35"/>
          <p:cNvSpPr/>
          <p:nvPr/>
        </p:nvSpPr>
        <p:spPr>
          <a:xfrm>
            <a:off x="719175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Safer Alternatives</a:t>
            </a:r>
            <a:endParaRPr lang="en-US" sz="1250" dirty="0"/>
          </a:p>
        </p:txBody>
      </p:sp>
      <p:sp>
        <p:nvSpPr>
          <p:cNvPr id="38" name="Text 36"/>
          <p:cNvSpPr/>
          <p:nvPr/>
        </p:nvSpPr>
        <p:spPr>
          <a:xfrm>
            <a:off x="719175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Prompt Engineering + GPT</a:t>
            </a:r>
            <a:endParaRPr lang="en-US" sz="1000" dirty="0"/>
          </a:p>
        </p:txBody>
      </p:sp>
      <p:sp>
        <p:nvSpPr>
          <p:cNvPr id="39" name="Shape 37"/>
          <p:cNvSpPr/>
          <p:nvPr/>
        </p:nvSpPr>
        <p:spPr>
          <a:xfrm>
            <a:off x="8471916" y="3118104"/>
            <a:ext cx="320040" cy="73152"/>
          </a:xfrm>
          <a:prstGeom prst="rect">
            <a:avLst/>
          </a:prstGeom>
          <a:solidFill>
            <a:srgbClr val="0D1B3E"/>
          </a:solidFill>
          <a:ln w="12700">
            <a:solidFill>
              <a:srgbClr val="0D1B3E"/>
            </a:solidFill>
            <a:prstDash val="solid"/>
          </a:ln>
        </p:spPr>
      </p:sp>
      <p:sp>
        <p:nvSpPr>
          <p:cNvPr id="40" name="Shape 38"/>
          <p:cNvSpPr/>
          <p:nvPr/>
        </p:nvSpPr>
        <p:spPr>
          <a:xfrm rot="5400000">
            <a:off x="8654796" y="3035808"/>
            <a:ext cx="164592" cy="237744"/>
          </a:xfrm>
          <a:prstGeom prst="triangle">
            <a:avLst/>
          </a:prstGeom>
          <a:solidFill>
            <a:srgbClr val="0D1B3E"/>
          </a:solidFill>
          <a:ln w="12700">
            <a:solidFill>
              <a:srgbClr val="0D1B3E"/>
            </a:solidFill>
            <a:prstDash val="solid"/>
          </a:ln>
        </p:spPr>
      </p:sp>
      <p:sp>
        <p:nvSpPr>
          <p:cNvPr id="41" name="Shape 39"/>
          <p:cNvSpPr/>
          <p:nvPr/>
        </p:nvSpPr>
        <p:spPr>
          <a:xfrm>
            <a:off x="8791956" y="1417320"/>
            <a:ext cx="1371600" cy="3474720"/>
          </a:xfrm>
          <a:prstGeom prst="roundRect">
            <a:avLst>
              <a:gd name="adj" fmla="val 4667"/>
            </a:avLst>
          </a:prstGeom>
          <a:solidFill>
            <a:srgbClr val="00838F"/>
          </a:solidFill>
          <a:ln/>
        </p:spPr>
      </p:sp>
      <p:sp>
        <p:nvSpPr>
          <p:cNvPr id="42" name="Text 40"/>
          <p:cNvSpPr/>
          <p:nvPr/>
        </p:nvSpPr>
        <p:spPr>
          <a:xfrm>
            <a:off x="879195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06</a:t>
            </a:r>
            <a:endParaRPr lang="en-US" sz="1800" dirty="0"/>
          </a:p>
        </p:txBody>
      </p:sp>
      <p:sp>
        <p:nvSpPr>
          <p:cNvPr id="43" name="Shape 41"/>
          <p:cNvSpPr/>
          <p:nvPr/>
        </p:nvSpPr>
        <p:spPr>
          <a:xfrm>
            <a:off x="8929116" y="2011680"/>
            <a:ext cx="1097280" cy="27432"/>
          </a:xfrm>
          <a:prstGeom prst="rect">
            <a:avLst/>
          </a:prstGeom>
          <a:solidFill>
            <a:srgbClr val="FFFFFF"/>
          </a:solidFill>
          <a:ln/>
        </p:spPr>
      </p:sp>
      <p:sp>
        <p:nvSpPr>
          <p:cNvPr id="44" name="Text 42"/>
          <p:cNvSpPr/>
          <p:nvPr/>
        </p:nvSpPr>
        <p:spPr>
          <a:xfrm>
            <a:off x="888339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Summary Generation</a:t>
            </a:r>
            <a:endParaRPr lang="en-US" sz="1250" dirty="0"/>
          </a:p>
        </p:txBody>
      </p:sp>
      <p:sp>
        <p:nvSpPr>
          <p:cNvPr id="45" name="Text 43"/>
          <p:cNvSpPr/>
          <p:nvPr/>
        </p:nvSpPr>
        <p:spPr>
          <a:xfrm>
            <a:off x="888339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LLM Summarization Chain</a:t>
            </a:r>
            <a:endParaRPr lang="en-US" sz="1000" dirty="0"/>
          </a:p>
        </p:txBody>
      </p:sp>
      <p:sp>
        <p:nvSpPr>
          <p:cNvPr id="46" name="Shape 44"/>
          <p:cNvSpPr/>
          <p:nvPr/>
        </p:nvSpPr>
        <p:spPr>
          <a:xfrm>
            <a:off x="10163556" y="3118104"/>
            <a:ext cx="320040" cy="73152"/>
          </a:xfrm>
          <a:prstGeom prst="rect">
            <a:avLst/>
          </a:prstGeom>
          <a:solidFill>
            <a:srgbClr val="0D1B3E"/>
          </a:solidFill>
          <a:ln w="12700">
            <a:solidFill>
              <a:srgbClr val="0D1B3E"/>
            </a:solidFill>
            <a:prstDash val="solid"/>
          </a:ln>
        </p:spPr>
      </p:sp>
      <p:sp>
        <p:nvSpPr>
          <p:cNvPr id="47" name="Shape 45"/>
          <p:cNvSpPr/>
          <p:nvPr/>
        </p:nvSpPr>
        <p:spPr>
          <a:xfrm rot="5400000">
            <a:off x="10346436" y="3035808"/>
            <a:ext cx="164592" cy="237744"/>
          </a:xfrm>
          <a:prstGeom prst="triangle">
            <a:avLst/>
          </a:prstGeom>
          <a:solidFill>
            <a:srgbClr val="0D1B3E"/>
          </a:solidFill>
          <a:ln w="12700">
            <a:solidFill>
              <a:srgbClr val="0D1B3E"/>
            </a:solidFill>
            <a:prstDash val="solid"/>
          </a:ln>
        </p:spPr>
      </p:sp>
      <p:sp>
        <p:nvSpPr>
          <p:cNvPr id="48" name="Shape 46"/>
          <p:cNvSpPr/>
          <p:nvPr/>
        </p:nvSpPr>
        <p:spPr>
          <a:xfrm>
            <a:off x="10483596" y="1417320"/>
            <a:ext cx="1371600" cy="3474720"/>
          </a:xfrm>
          <a:prstGeom prst="roundRect">
            <a:avLst>
              <a:gd name="adj" fmla="val 4667"/>
            </a:avLst>
          </a:prstGeom>
          <a:solidFill>
            <a:srgbClr val="006064"/>
          </a:solidFill>
          <a:ln/>
        </p:spPr>
      </p:sp>
      <p:sp>
        <p:nvSpPr>
          <p:cNvPr id="49" name="Text 47"/>
          <p:cNvSpPr/>
          <p:nvPr/>
        </p:nvSpPr>
        <p:spPr>
          <a:xfrm>
            <a:off x="1048359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07</a:t>
            </a:r>
            <a:endParaRPr lang="en-US" sz="1800" dirty="0"/>
          </a:p>
        </p:txBody>
      </p:sp>
      <p:sp>
        <p:nvSpPr>
          <p:cNvPr id="50" name="Shape 48"/>
          <p:cNvSpPr/>
          <p:nvPr/>
        </p:nvSpPr>
        <p:spPr>
          <a:xfrm>
            <a:off x="10620756" y="2011680"/>
            <a:ext cx="1097280" cy="27432"/>
          </a:xfrm>
          <a:prstGeom prst="rect">
            <a:avLst/>
          </a:prstGeom>
          <a:solidFill>
            <a:srgbClr val="FFFFFF"/>
          </a:solidFill>
          <a:ln/>
        </p:spPr>
      </p:sp>
      <p:sp>
        <p:nvSpPr>
          <p:cNvPr id="51" name="Text 49"/>
          <p:cNvSpPr/>
          <p:nvPr/>
        </p:nvSpPr>
        <p:spPr>
          <a:xfrm>
            <a:off x="1057503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Risk Score Output</a:t>
            </a:r>
            <a:endParaRPr lang="en-US" sz="1250" dirty="0"/>
          </a:p>
        </p:txBody>
      </p:sp>
      <p:sp>
        <p:nvSpPr>
          <p:cNvPr id="52" name="Text 50"/>
          <p:cNvSpPr/>
          <p:nvPr/>
        </p:nvSpPr>
        <p:spPr>
          <a:xfrm>
            <a:off x="1057503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Weighted Scoring Algorithm</a:t>
            </a:r>
            <a:endParaRPr lang="en-US" sz="1000" dirty="0"/>
          </a:p>
        </p:txBody>
      </p:sp>
      <p:sp>
        <p:nvSpPr>
          <p:cNvPr id="53" name="Shape 51"/>
          <p:cNvSpPr/>
          <p:nvPr/>
        </p:nvSpPr>
        <p:spPr>
          <a:xfrm>
            <a:off x="2926080" y="5166360"/>
            <a:ext cx="6309360" cy="1417320"/>
          </a:xfrm>
          <a:prstGeom prst="roundRect">
            <a:avLst>
              <a:gd name="adj" fmla="val 5161"/>
            </a:avLst>
          </a:prstGeom>
          <a:solidFill>
            <a:srgbClr val="0D1B3E"/>
          </a:solidFill>
          <a:ln w="12700">
            <a:solidFill>
              <a:srgbClr val="C9D8F5"/>
            </a:solidFill>
            <a:prstDash val="solid"/>
          </a:ln>
        </p:spPr>
      </p:sp>
      <p:sp>
        <p:nvSpPr>
          <p:cNvPr id="54" name="Text 52"/>
          <p:cNvSpPr/>
          <p:nvPr/>
        </p:nvSpPr>
        <p:spPr>
          <a:xfrm>
            <a:off x="3063240" y="5230368"/>
            <a:ext cx="6035040" cy="1234440"/>
          </a:xfrm>
          <a:prstGeom prst="rect">
            <a:avLst/>
          </a:prstGeom>
          <a:noFill/>
          <a:ln/>
        </p:spPr>
        <p:txBody>
          <a:bodyPr wrap="square" lIns="0" tIns="0" rIns="0" bIns="0" rtlCol="0" anchor="ctr"/>
          <a:lstStyle/>
          <a:p>
            <a:pPr marL="0" indent="0" algn="ctr">
              <a:buNone/>
            </a:pPr>
            <a:r>
              <a:rPr lang="en-US" sz="1350" dirty="0">
                <a:solidFill>
                  <a:srgbClr val="FFFFFF"/>
                </a:solidFill>
                <a:latin typeface="Calibri" pitchFamily="34" charset="0"/>
                <a:ea typeface="Calibri" pitchFamily="34" charset="-122"/>
                <a:cs typeface="Calibri" pitchFamily="34" charset="-120"/>
              </a:rPr>
              <a:t>⚡ Output: Risk Score (0–100) + Clause Report + Safer Alternatives + PDF Export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x402 Protocol Integration</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Monetizing AI endpoints with crypto-native micropayments</a:t>
            </a:r>
            <a:endParaRPr lang="en-US" sz="1300" dirty="0"/>
          </a:p>
        </p:txBody>
      </p:sp>
      <p:sp>
        <p:nvSpPr>
          <p:cNvPr id="6" name="Shape 4"/>
          <p:cNvSpPr/>
          <p:nvPr/>
        </p:nvSpPr>
        <p:spPr>
          <a:xfrm>
            <a:off x="457200" y="1280160"/>
            <a:ext cx="5029200" cy="2286000"/>
          </a:xfrm>
          <a:prstGeom prst="roundRect">
            <a:avLst>
              <a:gd name="adj" fmla="val 3200"/>
            </a:avLst>
          </a:prstGeom>
          <a:solidFill>
            <a:srgbClr val="0D1B3E"/>
          </a:solidFill>
          <a:ln w="12700">
            <a:solidFill>
              <a:srgbClr val="C9D8F5"/>
            </a:solidFill>
            <a:prstDash val="solid"/>
          </a:ln>
        </p:spPr>
      </p:sp>
      <p:sp>
        <p:nvSpPr>
          <p:cNvPr id="7" name="Text 5"/>
          <p:cNvSpPr/>
          <p:nvPr/>
        </p:nvSpPr>
        <p:spPr>
          <a:xfrm>
            <a:off x="640080" y="1371600"/>
            <a:ext cx="4663440" cy="411480"/>
          </a:xfrm>
          <a:prstGeom prst="rect">
            <a:avLst/>
          </a:prstGeom>
          <a:noFill/>
          <a:ln/>
        </p:spPr>
        <p:txBody>
          <a:bodyPr wrap="square" lIns="0" tIns="0" rIns="0" bIns="0" rtlCol="0" anchor="ctr"/>
          <a:lstStyle/>
          <a:p>
            <a:pPr marL="0" indent="0">
              <a:buNone/>
            </a:pPr>
            <a:r>
              <a:rPr lang="en-US" sz="1600" b="1" dirty="0">
                <a:solidFill>
                  <a:srgbClr val="00BCD4"/>
                </a:solidFill>
                <a:latin typeface="Calibri" pitchFamily="34" charset="0"/>
                <a:ea typeface="Calibri" pitchFamily="34" charset="-122"/>
                <a:cs typeface="Calibri" pitchFamily="34" charset="-120"/>
              </a:rPr>
              <a:t>What is x402?</a:t>
            </a:r>
            <a:endParaRPr lang="en-US" sz="1600" dirty="0"/>
          </a:p>
        </p:txBody>
      </p:sp>
      <p:sp>
        <p:nvSpPr>
          <p:cNvPr id="8" name="Text 6"/>
          <p:cNvSpPr/>
          <p:nvPr/>
        </p:nvSpPr>
        <p:spPr>
          <a:xfrm>
            <a:off x="640080" y="1874520"/>
            <a:ext cx="4663440" cy="150876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x402 is an HTTP-native payment protocol that requires a 402 Payment Required response before granting access. Clients attach a signed payment proof in the X-Payment header; the server verifies on-chain before serving the response.</a:t>
            </a:r>
            <a:endParaRPr lang="en-US" sz="1250" dirty="0"/>
          </a:p>
        </p:txBody>
      </p:sp>
      <p:sp>
        <p:nvSpPr>
          <p:cNvPr id="9" name="Shape 7"/>
          <p:cNvSpPr/>
          <p:nvPr/>
        </p:nvSpPr>
        <p:spPr>
          <a:xfrm>
            <a:off x="5760720" y="1280160"/>
            <a:ext cx="5943600" cy="2286000"/>
          </a:xfrm>
          <a:prstGeom prst="roundRect">
            <a:avLst>
              <a:gd name="adj" fmla="val 3200"/>
            </a:avLst>
          </a:prstGeom>
          <a:solidFill>
            <a:srgbClr val="EEF4FF"/>
          </a:solidFill>
          <a:ln w="12700">
            <a:solidFill>
              <a:srgbClr val="C9D8F5"/>
            </a:solidFill>
            <a:prstDash val="solid"/>
          </a:ln>
        </p:spPr>
      </p:sp>
      <p:sp>
        <p:nvSpPr>
          <p:cNvPr id="10" name="Text 8"/>
          <p:cNvSpPr/>
          <p:nvPr/>
        </p:nvSpPr>
        <p:spPr>
          <a:xfrm>
            <a:off x="5943600" y="1371600"/>
            <a:ext cx="5486400" cy="411480"/>
          </a:xfrm>
          <a:prstGeom prst="rect">
            <a:avLst/>
          </a:prstGeom>
          <a:noFill/>
          <a:ln/>
        </p:spPr>
        <p:txBody>
          <a:bodyPr wrap="square" lIns="0" tIns="0" rIns="0" bIns="0"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Payment Flow</a:t>
            </a:r>
            <a:endParaRPr lang="en-US" sz="1600" dirty="0"/>
          </a:p>
        </p:txBody>
      </p:sp>
      <p:sp>
        <p:nvSpPr>
          <p:cNvPr id="11" name="Text 9"/>
          <p:cNvSpPr/>
          <p:nvPr/>
        </p:nvSpPr>
        <p:spPr>
          <a:xfrm>
            <a:off x="5943600" y="1874520"/>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1. Client calls POST /api/analyze — no payment</a:t>
            </a:r>
            <a:endParaRPr lang="en-US" sz="1150" dirty="0"/>
          </a:p>
        </p:txBody>
      </p:sp>
      <p:sp>
        <p:nvSpPr>
          <p:cNvPr id="12" name="Text 10"/>
          <p:cNvSpPr/>
          <p:nvPr/>
        </p:nvSpPr>
        <p:spPr>
          <a:xfrm>
            <a:off x="5943600" y="2157984"/>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2. Server returns HTTP 402 + price payload</a:t>
            </a:r>
            <a:endParaRPr lang="en-US" sz="1150" dirty="0"/>
          </a:p>
        </p:txBody>
      </p:sp>
      <p:sp>
        <p:nvSpPr>
          <p:cNvPr id="13" name="Text 11"/>
          <p:cNvSpPr/>
          <p:nvPr/>
        </p:nvSpPr>
        <p:spPr>
          <a:xfrm>
            <a:off x="5943600" y="2441448"/>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3. Client signs transaction via CDP Wallet SDK</a:t>
            </a:r>
            <a:endParaRPr lang="en-US" sz="1150" dirty="0"/>
          </a:p>
        </p:txBody>
      </p:sp>
      <p:sp>
        <p:nvSpPr>
          <p:cNvPr id="14" name="Text 12"/>
          <p:cNvSpPr/>
          <p:nvPr/>
        </p:nvSpPr>
        <p:spPr>
          <a:xfrm>
            <a:off x="5943600" y="2724912"/>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4. Client retries with X-Payment header attached</a:t>
            </a:r>
            <a:endParaRPr lang="en-US" sz="1150" dirty="0"/>
          </a:p>
        </p:txBody>
      </p:sp>
      <p:sp>
        <p:nvSpPr>
          <p:cNvPr id="15" name="Text 13"/>
          <p:cNvSpPr/>
          <p:nvPr/>
        </p:nvSpPr>
        <p:spPr>
          <a:xfrm>
            <a:off x="5943600" y="3008376"/>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5. FastAPI x402 middleware verifies on-chain</a:t>
            </a:r>
            <a:endParaRPr lang="en-US" sz="1150" dirty="0"/>
          </a:p>
        </p:txBody>
      </p:sp>
      <p:sp>
        <p:nvSpPr>
          <p:cNvPr id="16" name="Text 14"/>
          <p:cNvSpPr/>
          <p:nvPr/>
        </p:nvSpPr>
        <p:spPr>
          <a:xfrm>
            <a:off x="5943600" y="3291840"/>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6. Analysis runs; result returned</a:t>
            </a:r>
            <a:endParaRPr lang="en-US" sz="1150" dirty="0"/>
          </a:p>
        </p:txBody>
      </p:sp>
      <p:sp>
        <p:nvSpPr>
          <p:cNvPr id="17" name="Shape 15"/>
          <p:cNvSpPr/>
          <p:nvPr/>
        </p:nvSpPr>
        <p:spPr>
          <a:xfrm>
            <a:off x="457200" y="3749040"/>
            <a:ext cx="2651760" cy="1691640"/>
          </a:xfrm>
          <a:prstGeom prst="roundRect">
            <a:avLst>
              <a:gd name="adj" fmla="val 4324"/>
            </a:avLst>
          </a:prstGeom>
          <a:solidFill>
            <a:srgbClr val="EEF4FF"/>
          </a:solidFill>
          <a:ln w="12700">
            <a:solidFill>
              <a:srgbClr val="C9D8F5"/>
            </a:solidFill>
            <a:prstDash val="solid"/>
          </a:ln>
        </p:spPr>
      </p:sp>
      <p:pic>
        <p:nvPicPr>
          <p:cNvPr id="18" name="Image 0" descr="preencoded.png"/>
          <p:cNvPicPr>
            <a:picLocks noChangeAspect="1"/>
          </p:cNvPicPr>
          <p:nvPr/>
        </p:nvPicPr>
        <p:blipFill>
          <a:blip r:embed="rId3"/>
          <a:stretch>
            <a:fillRect/>
          </a:stretch>
        </p:blipFill>
        <p:spPr>
          <a:xfrm>
            <a:off x="621792" y="3913632"/>
            <a:ext cx="475488" cy="475488"/>
          </a:xfrm>
          <a:prstGeom prst="rect">
            <a:avLst/>
          </a:prstGeom>
        </p:spPr>
      </p:pic>
      <p:sp>
        <p:nvSpPr>
          <p:cNvPr id="19" name="Text 16"/>
          <p:cNvSpPr/>
          <p:nvPr/>
        </p:nvSpPr>
        <p:spPr>
          <a:xfrm>
            <a:off x="1170432" y="3913632"/>
            <a:ext cx="1783080" cy="43891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Pay-per-Analysis</a:t>
            </a:r>
            <a:endParaRPr lang="en-US" sz="1300" dirty="0"/>
          </a:p>
        </p:txBody>
      </p:sp>
      <p:sp>
        <p:nvSpPr>
          <p:cNvPr id="20" name="Text 17"/>
          <p:cNvSpPr/>
          <p:nvPr/>
        </p:nvSpPr>
        <p:spPr>
          <a:xfrm>
            <a:off x="621792" y="4498848"/>
            <a:ext cx="2395728" cy="77724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No subscriptions — users pay only for what they analyze</a:t>
            </a:r>
            <a:endParaRPr lang="en-US" sz="1100" dirty="0"/>
          </a:p>
        </p:txBody>
      </p:sp>
      <p:sp>
        <p:nvSpPr>
          <p:cNvPr id="21" name="Shape 18"/>
          <p:cNvSpPr/>
          <p:nvPr/>
        </p:nvSpPr>
        <p:spPr>
          <a:xfrm>
            <a:off x="3310128" y="3749040"/>
            <a:ext cx="2651760" cy="1691640"/>
          </a:xfrm>
          <a:prstGeom prst="roundRect">
            <a:avLst>
              <a:gd name="adj" fmla="val 4324"/>
            </a:avLst>
          </a:prstGeom>
          <a:solidFill>
            <a:srgbClr val="EEF4FF"/>
          </a:solidFill>
          <a:ln w="12700">
            <a:solidFill>
              <a:srgbClr val="C9D8F5"/>
            </a:solidFill>
            <a:prstDash val="solid"/>
          </a:ln>
        </p:spPr>
      </p:sp>
      <p:pic>
        <p:nvPicPr>
          <p:cNvPr id="22" name="Image 1" descr="preencoded.png"/>
          <p:cNvPicPr>
            <a:picLocks noChangeAspect="1"/>
          </p:cNvPicPr>
          <p:nvPr/>
        </p:nvPicPr>
        <p:blipFill>
          <a:blip r:embed="rId4"/>
          <a:stretch>
            <a:fillRect/>
          </a:stretch>
        </p:blipFill>
        <p:spPr>
          <a:xfrm>
            <a:off x="3474720" y="3913632"/>
            <a:ext cx="475488" cy="475488"/>
          </a:xfrm>
          <a:prstGeom prst="rect">
            <a:avLst/>
          </a:prstGeom>
        </p:spPr>
      </p:pic>
      <p:sp>
        <p:nvSpPr>
          <p:cNvPr id="23" name="Text 19"/>
          <p:cNvSpPr/>
          <p:nvPr/>
        </p:nvSpPr>
        <p:spPr>
          <a:xfrm>
            <a:off x="4023360" y="3913632"/>
            <a:ext cx="1783080" cy="43891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Zero Auth Friction</a:t>
            </a:r>
            <a:endParaRPr lang="en-US" sz="1300" dirty="0"/>
          </a:p>
        </p:txBody>
      </p:sp>
      <p:sp>
        <p:nvSpPr>
          <p:cNvPr id="24" name="Text 20"/>
          <p:cNvSpPr/>
          <p:nvPr/>
        </p:nvSpPr>
        <p:spPr>
          <a:xfrm>
            <a:off x="3474720" y="4498848"/>
            <a:ext cx="2395728" cy="77724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Crypto-native — no credit cards, no billing setup required</a:t>
            </a:r>
            <a:endParaRPr lang="en-US" sz="1100" dirty="0"/>
          </a:p>
        </p:txBody>
      </p:sp>
      <p:sp>
        <p:nvSpPr>
          <p:cNvPr id="25" name="Shape 21"/>
          <p:cNvSpPr/>
          <p:nvPr/>
        </p:nvSpPr>
        <p:spPr>
          <a:xfrm>
            <a:off x="6163056" y="3749040"/>
            <a:ext cx="2651760" cy="1691640"/>
          </a:xfrm>
          <a:prstGeom prst="roundRect">
            <a:avLst>
              <a:gd name="adj" fmla="val 4324"/>
            </a:avLst>
          </a:prstGeom>
          <a:solidFill>
            <a:srgbClr val="EEF4FF"/>
          </a:solidFill>
          <a:ln w="12700">
            <a:solidFill>
              <a:srgbClr val="C9D8F5"/>
            </a:solidFill>
            <a:prstDash val="solid"/>
          </a:ln>
        </p:spPr>
      </p:sp>
      <p:pic>
        <p:nvPicPr>
          <p:cNvPr id="26" name="Image 2" descr="preencoded.png"/>
          <p:cNvPicPr>
            <a:picLocks noChangeAspect="1"/>
          </p:cNvPicPr>
          <p:nvPr/>
        </p:nvPicPr>
        <p:blipFill>
          <a:blip r:embed="rId5"/>
          <a:stretch>
            <a:fillRect/>
          </a:stretch>
        </p:blipFill>
        <p:spPr>
          <a:xfrm>
            <a:off x="6327648" y="3913632"/>
            <a:ext cx="475488" cy="475488"/>
          </a:xfrm>
          <a:prstGeom prst="rect">
            <a:avLst/>
          </a:prstGeom>
        </p:spPr>
      </p:pic>
      <p:sp>
        <p:nvSpPr>
          <p:cNvPr id="27" name="Text 22"/>
          <p:cNvSpPr/>
          <p:nvPr/>
        </p:nvSpPr>
        <p:spPr>
          <a:xfrm>
            <a:off x="6876288" y="3913632"/>
            <a:ext cx="1783080" cy="43891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Instant Monetization</a:t>
            </a:r>
            <a:endParaRPr lang="en-US" sz="1300" dirty="0"/>
          </a:p>
        </p:txBody>
      </p:sp>
      <p:sp>
        <p:nvSpPr>
          <p:cNvPr id="28" name="Text 23"/>
          <p:cNvSpPr/>
          <p:nvPr/>
        </p:nvSpPr>
        <p:spPr>
          <a:xfrm>
            <a:off x="6327648" y="4498848"/>
            <a:ext cx="2395728" cy="77724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Revenue flows automatically with every verified API call</a:t>
            </a:r>
            <a:endParaRPr lang="en-US" sz="1100" dirty="0"/>
          </a:p>
        </p:txBody>
      </p:sp>
      <p:sp>
        <p:nvSpPr>
          <p:cNvPr id="29" name="Shape 24"/>
          <p:cNvSpPr/>
          <p:nvPr/>
        </p:nvSpPr>
        <p:spPr>
          <a:xfrm>
            <a:off x="9015984" y="3749040"/>
            <a:ext cx="2651760" cy="1691640"/>
          </a:xfrm>
          <a:prstGeom prst="roundRect">
            <a:avLst>
              <a:gd name="adj" fmla="val 4324"/>
            </a:avLst>
          </a:prstGeom>
          <a:solidFill>
            <a:srgbClr val="EEF4FF"/>
          </a:solidFill>
          <a:ln w="12700">
            <a:solidFill>
              <a:srgbClr val="C9D8F5"/>
            </a:solidFill>
            <a:prstDash val="solid"/>
          </a:ln>
        </p:spPr>
      </p:sp>
      <p:pic>
        <p:nvPicPr>
          <p:cNvPr id="30" name="Image 3" descr="preencoded.png"/>
          <p:cNvPicPr>
            <a:picLocks noChangeAspect="1"/>
          </p:cNvPicPr>
          <p:nvPr/>
        </p:nvPicPr>
        <p:blipFill>
          <a:blip r:embed="rId6"/>
          <a:stretch>
            <a:fillRect/>
          </a:stretch>
        </p:blipFill>
        <p:spPr>
          <a:xfrm>
            <a:off x="9180576" y="3913632"/>
            <a:ext cx="475488" cy="475488"/>
          </a:xfrm>
          <a:prstGeom prst="rect">
            <a:avLst/>
          </a:prstGeom>
        </p:spPr>
      </p:pic>
      <p:sp>
        <p:nvSpPr>
          <p:cNvPr id="31" name="Text 25"/>
          <p:cNvSpPr/>
          <p:nvPr/>
        </p:nvSpPr>
        <p:spPr>
          <a:xfrm>
            <a:off x="9729216" y="3913632"/>
            <a:ext cx="1783080" cy="43891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DoS Protection</a:t>
            </a:r>
            <a:endParaRPr lang="en-US" sz="1300" dirty="0"/>
          </a:p>
        </p:txBody>
      </p:sp>
      <p:sp>
        <p:nvSpPr>
          <p:cNvPr id="32" name="Text 26"/>
          <p:cNvSpPr/>
          <p:nvPr/>
        </p:nvSpPr>
        <p:spPr>
          <a:xfrm>
            <a:off x="9180576" y="4498848"/>
            <a:ext cx="2395728" cy="77724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Payment requirement deters API abuse and scraping attacks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Features &amp; Advantages</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What sets Contract Guardian AI apart</a:t>
            </a:r>
            <a:endParaRPr lang="en-US" sz="1300" dirty="0"/>
          </a:p>
        </p:txBody>
      </p:sp>
      <p:sp>
        <p:nvSpPr>
          <p:cNvPr id="6" name="Shape 4"/>
          <p:cNvSpPr/>
          <p:nvPr/>
        </p:nvSpPr>
        <p:spPr>
          <a:xfrm>
            <a:off x="502920" y="1353312"/>
            <a:ext cx="5303520" cy="1828800"/>
          </a:xfrm>
          <a:prstGeom prst="roundRect">
            <a:avLst>
              <a:gd name="adj" fmla="val 4000"/>
            </a:avLst>
          </a:prstGeom>
          <a:solidFill>
            <a:srgbClr val="FFFFFF"/>
          </a:solidFill>
          <a:ln w="12700">
            <a:solidFill>
              <a:srgbClr val="C9D8F5"/>
            </a:solidFill>
            <a:prstDash val="solid"/>
          </a:ln>
        </p:spPr>
      </p:sp>
      <p:pic>
        <p:nvPicPr>
          <p:cNvPr id="7" name="Image 0" descr="preencoded.png"/>
          <p:cNvPicPr>
            <a:picLocks noChangeAspect="1"/>
          </p:cNvPicPr>
          <p:nvPr/>
        </p:nvPicPr>
        <p:blipFill>
          <a:blip r:embed="rId3"/>
          <a:stretch>
            <a:fillRect/>
          </a:stretch>
        </p:blipFill>
        <p:spPr>
          <a:xfrm>
            <a:off x="667512" y="1554480"/>
            <a:ext cx="548640" cy="548640"/>
          </a:xfrm>
          <a:prstGeom prst="rect">
            <a:avLst/>
          </a:prstGeom>
        </p:spPr>
      </p:pic>
      <p:sp>
        <p:nvSpPr>
          <p:cNvPr id="8" name="Text 5"/>
          <p:cNvSpPr/>
          <p:nvPr/>
        </p:nvSpPr>
        <p:spPr>
          <a:xfrm>
            <a:off x="1325880" y="1517904"/>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LLM-Powered Clause Analysis</a:t>
            </a:r>
            <a:endParaRPr lang="en-US" sz="1400" dirty="0"/>
          </a:p>
        </p:txBody>
      </p:sp>
      <p:sp>
        <p:nvSpPr>
          <p:cNvPr id="9" name="Shape 6"/>
          <p:cNvSpPr/>
          <p:nvPr/>
        </p:nvSpPr>
        <p:spPr>
          <a:xfrm>
            <a:off x="4846320" y="1554480"/>
            <a:ext cx="868680" cy="274320"/>
          </a:xfrm>
          <a:prstGeom prst="roundRect">
            <a:avLst>
              <a:gd name="adj" fmla="val 13333"/>
            </a:avLst>
          </a:prstGeom>
          <a:solidFill>
            <a:srgbClr val="00BCD4"/>
          </a:solidFill>
          <a:ln/>
        </p:spPr>
      </p:sp>
      <p:sp>
        <p:nvSpPr>
          <p:cNvPr id="10" name="Text 7"/>
          <p:cNvSpPr/>
          <p:nvPr/>
        </p:nvSpPr>
        <p:spPr>
          <a:xfrm>
            <a:off x="4846320" y="1554480"/>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Core AI</a:t>
            </a:r>
            <a:endParaRPr lang="en-US" sz="850" dirty="0"/>
          </a:p>
        </p:txBody>
      </p:sp>
      <p:sp>
        <p:nvSpPr>
          <p:cNvPr id="11" name="Text 8"/>
          <p:cNvSpPr/>
          <p:nvPr/>
        </p:nvSpPr>
        <p:spPr>
          <a:xfrm>
            <a:off x="667512" y="2139696"/>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GPT-4o understands legal nuance, context, and jurisdiction-specific risk factors beyond keyword matching</a:t>
            </a:r>
            <a:endParaRPr lang="en-US" sz="1200" dirty="0"/>
          </a:p>
        </p:txBody>
      </p:sp>
      <p:sp>
        <p:nvSpPr>
          <p:cNvPr id="12" name="Shape 9"/>
          <p:cNvSpPr/>
          <p:nvPr/>
        </p:nvSpPr>
        <p:spPr>
          <a:xfrm>
            <a:off x="6309360" y="1353312"/>
            <a:ext cx="5303520" cy="1828800"/>
          </a:xfrm>
          <a:prstGeom prst="roundRect">
            <a:avLst>
              <a:gd name="adj" fmla="val 4000"/>
            </a:avLst>
          </a:prstGeom>
          <a:solidFill>
            <a:srgbClr val="FFFFFF"/>
          </a:solidFill>
          <a:ln w="12700">
            <a:solidFill>
              <a:srgbClr val="C9D8F5"/>
            </a:solidFill>
            <a:prstDash val="solid"/>
          </a:ln>
        </p:spPr>
      </p:sp>
      <p:pic>
        <p:nvPicPr>
          <p:cNvPr id="13" name="Image 1" descr="preencoded.png"/>
          <p:cNvPicPr>
            <a:picLocks noChangeAspect="1"/>
          </p:cNvPicPr>
          <p:nvPr/>
        </p:nvPicPr>
        <p:blipFill>
          <a:blip r:embed="rId4"/>
          <a:stretch>
            <a:fillRect/>
          </a:stretch>
        </p:blipFill>
        <p:spPr>
          <a:xfrm>
            <a:off x="6473952" y="1554480"/>
            <a:ext cx="548640" cy="548640"/>
          </a:xfrm>
          <a:prstGeom prst="rect">
            <a:avLst/>
          </a:prstGeom>
        </p:spPr>
      </p:pic>
      <p:sp>
        <p:nvSpPr>
          <p:cNvPr id="14" name="Text 10"/>
          <p:cNvSpPr/>
          <p:nvPr/>
        </p:nvSpPr>
        <p:spPr>
          <a:xfrm>
            <a:off x="7132320" y="1517904"/>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Multi-Format Support</a:t>
            </a:r>
            <a:endParaRPr lang="en-US" sz="1400" dirty="0"/>
          </a:p>
        </p:txBody>
      </p:sp>
      <p:sp>
        <p:nvSpPr>
          <p:cNvPr id="15" name="Shape 11"/>
          <p:cNvSpPr/>
          <p:nvPr/>
        </p:nvSpPr>
        <p:spPr>
          <a:xfrm>
            <a:off x="10652760" y="1554480"/>
            <a:ext cx="868680" cy="274320"/>
          </a:xfrm>
          <a:prstGeom prst="roundRect">
            <a:avLst>
              <a:gd name="adj" fmla="val 13333"/>
            </a:avLst>
          </a:prstGeom>
          <a:solidFill>
            <a:srgbClr val="00BCD4"/>
          </a:solidFill>
          <a:ln/>
        </p:spPr>
      </p:sp>
      <p:sp>
        <p:nvSpPr>
          <p:cNvPr id="16" name="Text 12"/>
          <p:cNvSpPr/>
          <p:nvPr/>
        </p:nvSpPr>
        <p:spPr>
          <a:xfrm>
            <a:off x="10652760" y="1554480"/>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UX</a:t>
            </a:r>
            <a:endParaRPr lang="en-US" sz="850" dirty="0"/>
          </a:p>
        </p:txBody>
      </p:sp>
      <p:sp>
        <p:nvSpPr>
          <p:cNvPr id="17" name="Text 13"/>
          <p:cNvSpPr/>
          <p:nvPr/>
        </p:nvSpPr>
        <p:spPr>
          <a:xfrm>
            <a:off x="6473952" y="2139696"/>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Seamless parsing of PDF and DOCX contracts; handles scanned docs via OCR pipeline</a:t>
            </a:r>
            <a:endParaRPr lang="en-US" sz="1200" dirty="0"/>
          </a:p>
        </p:txBody>
      </p:sp>
      <p:sp>
        <p:nvSpPr>
          <p:cNvPr id="18" name="Shape 14"/>
          <p:cNvSpPr/>
          <p:nvPr/>
        </p:nvSpPr>
        <p:spPr>
          <a:xfrm>
            <a:off x="502920" y="3438144"/>
            <a:ext cx="5303520" cy="1828800"/>
          </a:xfrm>
          <a:prstGeom prst="roundRect">
            <a:avLst>
              <a:gd name="adj" fmla="val 4000"/>
            </a:avLst>
          </a:prstGeom>
          <a:solidFill>
            <a:srgbClr val="FFFFFF"/>
          </a:solidFill>
          <a:ln w="12700">
            <a:solidFill>
              <a:srgbClr val="C9D8F5"/>
            </a:solidFill>
            <a:prstDash val="solid"/>
          </a:ln>
        </p:spPr>
      </p:sp>
      <p:pic>
        <p:nvPicPr>
          <p:cNvPr id="19" name="Image 2" descr="preencoded.png"/>
          <p:cNvPicPr>
            <a:picLocks noChangeAspect="1"/>
          </p:cNvPicPr>
          <p:nvPr/>
        </p:nvPicPr>
        <p:blipFill>
          <a:blip r:embed="rId5"/>
          <a:stretch>
            <a:fillRect/>
          </a:stretch>
        </p:blipFill>
        <p:spPr>
          <a:xfrm>
            <a:off x="667512" y="3639312"/>
            <a:ext cx="548640" cy="548640"/>
          </a:xfrm>
          <a:prstGeom prst="rect">
            <a:avLst/>
          </a:prstGeom>
        </p:spPr>
      </p:pic>
      <p:sp>
        <p:nvSpPr>
          <p:cNvPr id="20" name="Text 15"/>
          <p:cNvSpPr/>
          <p:nvPr/>
        </p:nvSpPr>
        <p:spPr>
          <a:xfrm>
            <a:off x="1325880" y="3602736"/>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Risk Scoring Algorithm</a:t>
            </a:r>
            <a:endParaRPr lang="en-US" sz="1400" dirty="0"/>
          </a:p>
        </p:txBody>
      </p:sp>
      <p:sp>
        <p:nvSpPr>
          <p:cNvPr id="21" name="Shape 16"/>
          <p:cNvSpPr/>
          <p:nvPr/>
        </p:nvSpPr>
        <p:spPr>
          <a:xfrm>
            <a:off x="4846320" y="3639312"/>
            <a:ext cx="868680" cy="274320"/>
          </a:xfrm>
          <a:prstGeom prst="roundRect">
            <a:avLst>
              <a:gd name="adj" fmla="val 13333"/>
            </a:avLst>
          </a:prstGeom>
          <a:solidFill>
            <a:srgbClr val="00BCD4"/>
          </a:solidFill>
          <a:ln/>
        </p:spPr>
      </p:sp>
      <p:sp>
        <p:nvSpPr>
          <p:cNvPr id="22" name="Text 17"/>
          <p:cNvSpPr/>
          <p:nvPr/>
        </p:nvSpPr>
        <p:spPr>
          <a:xfrm>
            <a:off x="4846320" y="3639312"/>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Analytics</a:t>
            </a:r>
            <a:endParaRPr lang="en-US" sz="850" dirty="0"/>
          </a:p>
        </p:txBody>
      </p:sp>
      <p:sp>
        <p:nvSpPr>
          <p:cNvPr id="23" name="Text 18"/>
          <p:cNvSpPr/>
          <p:nvPr/>
        </p:nvSpPr>
        <p:spPr>
          <a:xfrm>
            <a:off x="667512" y="4224528"/>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Weighted composite score (0–100) aggregating clause severity, frequency, and category criticality</a:t>
            </a:r>
            <a:endParaRPr lang="en-US" sz="1200" dirty="0"/>
          </a:p>
        </p:txBody>
      </p:sp>
      <p:sp>
        <p:nvSpPr>
          <p:cNvPr id="24" name="Shape 19"/>
          <p:cNvSpPr/>
          <p:nvPr/>
        </p:nvSpPr>
        <p:spPr>
          <a:xfrm>
            <a:off x="6309360" y="3438144"/>
            <a:ext cx="5303520" cy="1828800"/>
          </a:xfrm>
          <a:prstGeom prst="roundRect">
            <a:avLst>
              <a:gd name="adj" fmla="val 4000"/>
            </a:avLst>
          </a:prstGeom>
          <a:solidFill>
            <a:srgbClr val="FFFFFF"/>
          </a:solidFill>
          <a:ln w="12700">
            <a:solidFill>
              <a:srgbClr val="C9D8F5"/>
            </a:solidFill>
            <a:prstDash val="solid"/>
          </a:ln>
        </p:spPr>
      </p:sp>
      <p:pic>
        <p:nvPicPr>
          <p:cNvPr id="25" name="Image 3" descr="preencoded.png"/>
          <p:cNvPicPr>
            <a:picLocks noChangeAspect="1"/>
          </p:cNvPicPr>
          <p:nvPr/>
        </p:nvPicPr>
        <p:blipFill>
          <a:blip r:embed="rId6"/>
          <a:stretch>
            <a:fillRect/>
          </a:stretch>
        </p:blipFill>
        <p:spPr>
          <a:xfrm>
            <a:off x="6473952" y="3639312"/>
            <a:ext cx="548640" cy="548640"/>
          </a:xfrm>
          <a:prstGeom prst="rect">
            <a:avLst/>
          </a:prstGeom>
        </p:spPr>
      </p:pic>
      <p:sp>
        <p:nvSpPr>
          <p:cNvPr id="26" name="Text 20"/>
          <p:cNvSpPr/>
          <p:nvPr/>
        </p:nvSpPr>
        <p:spPr>
          <a:xfrm>
            <a:off x="7132320" y="3602736"/>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Safer Alternative Generation</a:t>
            </a:r>
            <a:endParaRPr lang="en-US" sz="1400" dirty="0"/>
          </a:p>
        </p:txBody>
      </p:sp>
      <p:sp>
        <p:nvSpPr>
          <p:cNvPr id="27" name="Shape 21"/>
          <p:cNvSpPr/>
          <p:nvPr/>
        </p:nvSpPr>
        <p:spPr>
          <a:xfrm>
            <a:off x="10652760" y="3639312"/>
            <a:ext cx="868680" cy="274320"/>
          </a:xfrm>
          <a:prstGeom prst="roundRect">
            <a:avLst>
              <a:gd name="adj" fmla="val 13333"/>
            </a:avLst>
          </a:prstGeom>
          <a:solidFill>
            <a:srgbClr val="00BCD4"/>
          </a:solidFill>
          <a:ln/>
        </p:spPr>
      </p:sp>
      <p:sp>
        <p:nvSpPr>
          <p:cNvPr id="28" name="Text 22"/>
          <p:cNvSpPr/>
          <p:nvPr/>
        </p:nvSpPr>
        <p:spPr>
          <a:xfrm>
            <a:off x="10652760" y="3639312"/>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AI Value</a:t>
            </a:r>
            <a:endParaRPr lang="en-US" sz="850" dirty="0"/>
          </a:p>
        </p:txBody>
      </p:sp>
      <p:sp>
        <p:nvSpPr>
          <p:cNvPr id="29" name="Text 23"/>
          <p:cNvSpPr/>
          <p:nvPr/>
        </p:nvSpPr>
        <p:spPr>
          <a:xfrm>
            <a:off x="6473952" y="4224528"/>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Context-aware GPT rewrite of risky clauses — not generic templates, but contract-specific rewrites</a:t>
            </a:r>
            <a:endParaRPr lang="en-US" sz="1200" dirty="0"/>
          </a:p>
        </p:txBody>
      </p:sp>
      <p:sp>
        <p:nvSpPr>
          <p:cNvPr id="30" name="Shape 24"/>
          <p:cNvSpPr/>
          <p:nvPr/>
        </p:nvSpPr>
        <p:spPr>
          <a:xfrm>
            <a:off x="521208" y="5408769"/>
            <a:ext cx="5303520" cy="1828800"/>
          </a:xfrm>
          <a:prstGeom prst="roundRect">
            <a:avLst>
              <a:gd name="adj" fmla="val 4000"/>
            </a:avLst>
          </a:prstGeom>
          <a:solidFill>
            <a:srgbClr val="FFFFFF"/>
          </a:solidFill>
          <a:ln w="12700">
            <a:solidFill>
              <a:srgbClr val="C9D8F5"/>
            </a:solidFill>
            <a:prstDash val="solid"/>
          </a:ln>
        </p:spPr>
      </p:sp>
      <p:pic>
        <p:nvPicPr>
          <p:cNvPr id="31" name="Image 4" descr="preencoded.png"/>
          <p:cNvPicPr>
            <a:picLocks noChangeAspect="1"/>
          </p:cNvPicPr>
          <p:nvPr/>
        </p:nvPicPr>
        <p:blipFill>
          <a:blip r:embed="rId7"/>
          <a:stretch>
            <a:fillRect/>
          </a:stretch>
        </p:blipFill>
        <p:spPr>
          <a:xfrm>
            <a:off x="667512" y="5724144"/>
            <a:ext cx="548640" cy="548640"/>
          </a:xfrm>
          <a:prstGeom prst="rect">
            <a:avLst/>
          </a:prstGeom>
        </p:spPr>
      </p:pic>
      <p:sp>
        <p:nvSpPr>
          <p:cNvPr id="32" name="Text 25"/>
          <p:cNvSpPr/>
          <p:nvPr/>
        </p:nvSpPr>
        <p:spPr>
          <a:xfrm>
            <a:off x="1325880" y="5687568"/>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x402 Micropayment Gating</a:t>
            </a:r>
            <a:endParaRPr lang="en-US" sz="1400" dirty="0"/>
          </a:p>
        </p:txBody>
      </p:sp>
      <p:sp>
        <p:nvSpPr>
          <p:cNvPr id="33" name="Shape 26"/>
          <p:cNvSpPr/>
          <p:nvPr/>
        </p:nvSpPr>
        <p:spPr>
          <a:xfrm>
            <a:off x="4846320" y="5724144"/>
            <a:ext cx="868680" cy="274320"/>
          </a:xfrm>
          <a:prstGeom prst="roundRect">
            <a:avLst>
              <a:gd name="adj" fmla="val 13333"/>
            </a:avLst>
          </a:prstGeom>
          <a:solidFill>
            <a:srgbClr val="00BCD4"/>
          </a:solidFill>
          <a:ln/>
        </p:spPr>
      </p:sp>
      <p:sp>
        <p:nvSpPr>
          <p:cNvPr id="34" name="Text 27"/>
          <p:cNvSpPr/>
          <p:nvPr/>
        </p:nvSpPr>
        <p:spPr>
          <a:xfrm>
            <a:off x="4846320" y="5724144"/>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Business</a:t>
            </a:r>
            <a:endParaRPr lang="en-US" sz="850" dirty="0"/>
          </a:p>
        </p:txBody>
      </p:sp>
      <p:sp>
        <p:nvSpPr>
          <p:cNvPr id="35" name="Text 28"/>
          <p:cNvSpPr/>
          <p:nvPr/>
        </p:nvSpPr>
        <p:spPr>
          <a:xfrm>
            <a:off x="667512" y="6309360"/>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Pay-per-analysis crypto-native monetization with no subscription friction; DoS-resistant by design</a:t>
            </a:r>
            <a:endParaRPr lang="en-US" sz="1200" dirty="0"/>
          </a:p>
        </p:txBody>
      </p:sp>
      <p:sp>
        <p:nvSpPr>
          <p:cNvPr id="36" name="Shape 29"/>
          <p:cNvSpPr/>
          <p:nvPr/>
        </p:nvSpPr>
        <p:spPr>
          <a:xfrm>
            <a:off x="6309360" y="5522976"/>
            <a:ext cx="5303520" cy="1828800"/>
          </a:xfrm>
          <a:prstGeom prst="roundRect">
            <a:avLst>
              <a:gd name="adj" fmla="val 4000"/>
            </a:avLst>
          </a:prstGeom>
          <a:solidFill>
            <a:srgbClr val="FFFFFF"/>
          </a:solidFill>
          <a:ln w="12700">
            <a:solidFill>
              <a:srgbClr val="C9D8F5"/>
            </a:solidFill>
            <a:prstDash val="solid"/>
          </a:ln>
        </p:spPr>
      </p:sp>
      <p:pic>
        <p:nvPicPr>
          <p:cNvPr id="37" name="Image 5" descr="preencoded.png"/>
          <p:cNvPicPr>
            <a:picLocks noChangeAspect="1"/>
          </p:cNvPicPr>
          <p:nvPr/>
        </p:nvPicPr>
        <p:blipFill>
          <a:blip r:embed="rId8"/>
          <a:stretch>
            <a:fillRect/>
          </a:stretch>
        </p:blipFill>
        <p:spPr>
          <a:xfrm>
            <a:off x="6473952" y="5724144"/>
            <a:ext cx="548640" cy="548640"/>
          </a:xfrm>
          <a:prstGeom prst="rect">
            <a:avLst/>
          </a:prstGeom>
        </p:spPr>
      </p:pic>
      <p:sp>
        <p:nvSpPr>
          <p:cNvPr id="38" name="Text 30"/>
          <p:cNvSpPr/>
          <p:nvPr/>
        </p:nvSpPr>
        <p:spPr>
          <a:xfrm>
            <a:off x="7132320" y="5687568"/>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Audit-Ready PDF Reports</a:t>
            </a:r>
            <a:endParaRPr lang="en-US" sz="1400" dirty="0"/>
          </a:p>
        </p:txBody>
      </p:sp>
      <p:sp>
        <p:nvSpPr>
          <p:cNvPr id="39" name="Shape 31"/>
          <p:cNvSpPr/>
          <p:nvPr/>
        </p:nvSpPr>
        <p:spPr>
          <a:xfrm>
            <a:off x="10652760" y="5724144"/>
            <a:ext cx="868680" cy="274320"/>
          </a:xfrm>
          <a:prstGeom prst="roundRect">
            <a:avLst>
              <a:gd name="adj" fmla="val 13333"/>
            </a:avLst>
          </a:prstGeom>
          <a:solidFill>
            <a:srgbClr val="00BCD4"/>
          </a:solidFill>
          <a:ln/>
        </p:spPr>
      </p:sp>
      <p:sp>
        <p:nvSpPr>
          <p:cNvPr id="40" name="Text 32"/>
          <p:cNvSpPr/>
          <p:nvPr/>
        </p:nvSpPr>
        <p:spPr>
          <a:xfrm>
            <a:off x="10652760" y="5724144"/>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Output</a:t>
            </a:r>
            <a:endParaRPr lang="en-US" sz="850" dirty="0"/>
          </a:p>
        </p:txBody>
      </p:sp>
      <p:sp>
        <p:nvSpPr>
          <p:cNvPr id="41" name="Text 33"/>
          <p:cNvSpPr/>
          <p:nvPr/>
        </p:nvSpPr>
        <p:spPr>
          <a:xfrm>
            <a:off x="6473952" y="6309360"/>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Auto-generated reports with clause annotations, risk heatmaps, and structured recommendations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E13FA95F-5950-9C96-6ED7-02B0BAC0D83B}"/>
              </a:ext>
            </a:extLst>
          </p:cNvPr>
          <p:cNvSpPr/>
          <p:nvPr/>
        </p:nvSpPr>
        <p:spPr>
          <a:xfrm>
            <a:off x="0" y="0"/>
            <a:ext cx="9144000" cy="1005840"/>
          </a:xfrm>
          <a:prstGeom prst="rect">
            <a:avLst/>
          </a:prstGeom>
          <a:solidFill>
            <a:srgbClr val="0D1B3E"/>
          </a:solidFill>
          <a:ln/>
        </p:spPr>
      </p:sp>
      <p:sp>
        <p:nvSpPr>
          <p:cNvPr id="4" name="TextBox 3">
            <a:extLst>
              <a:ext uri="{FF2B5EF4-FFF2-40B4-BE49-F238E27FC236}">
                <a16:creationId xmlns:a16="http://schemas.microsoft.com/office/drawing/2014/main" id="{58711800-D632-AE3F-735B-2EF5200693DF}"/>
              </a:ext>
            </a:extLst>
          </p:cNvPr>
          <p:cNvSpPr txBox="1"/>
          <p:nvPr/>
        </p:nvSpPr>
        <p:spPr>
          <a:xfrm>
            <a:off x="569167" y="179754"/>
            <a:ext cx="3107094" cy="646331"/>
          </a:xfrm>
          <a:prstGeom prst="rect">
            <a:avLst/>
          </a:prstGeom>
          <a:noFill/>
        </p:spPr>
        <p:txBody>
          <a:bodyPr wrap="square" rtlCol="0">
            <a:spAutoFit/>
          </a:bodyPr>
          <a:lstStyle/>
          <a:p>
            <a:r>
              <a:rPr lang="en-IN" sz="3600" b="1" dirty="0">
                <a:solidFill>
                  <a:schemeClr val="bg1"/>
                </a:solidFill>
              </a:rPr>
              <a:t>ADVANTAGES</a:t>
            </a:r>
          </a:p>
        </p:txBody>
      </p:sp>
      <p:sp>
        <p:nvSpPr>
          <p:cNvPr id="5" name="TextBox 4">
            <a:extLst>
              <a:ext uri="{FF2B5EF4-FFF2-40B4-BE49-F238E27FC236}">
                <a16:creationId xmlns:a16="http://schemas.microsoft.com/office/drawing/2014/main" id="{C760AE29-AB10-2176-F0FC-400385D7C7CF}"/>
              </a:ext>
            </a:extLst>
          </p:cNvPr>
          <p:cNvSpPr txBox="1"/>
          <p:nvPr/>
        </p:nvSpPr>
        <p:spPr>
          <a:xfrm>
            <a:off x="569167" y="1726163"/>
            <a:ext cx="9032032" cy="2677656"/>
          </a:xfrm>
          <a:prstGeom prst="rect">
            <a:avLst/>
          </a:prstGeom>
          <a:noFill/>
        </p:spPr>
        <p:txBody>
          <a:bodyPr wrap="square" rtlCol="0">
            <a:spAutoFit/>
          </a:bodyPr>
          <a:lstStyle/>
          <a:p>
            <a:pPr marL="457200" lvl="0" indent="-457200">
              <a:buFont typeface="Wingdings" panose="05000000000000000000" pitchFamily="2" charset="2"/>
              <a:buChar char="Ø"/>
            </a:pPr>
            <a:r>
              <a:rPr lang="en-IN" sz="2800" dirty="0"/>
              <a:t>Converts complex legal language into simple, easy-to-understand explanations. </a:t>
            </a:r>
          </a:p>
          <a:p>
            <a:pPr marL="457200" lvl="0" indent="-457200">
              <a:buFont typeface="Wingdings" panose="05000000000000000000" pitchFamily="2" charset="2"/>
              <a:buChar char="Ø"/>
            </a:pPr>
            <a:r>
              <a:rPr lang="en-IN" sz="2800" dirty="0"/>
              <a:t>Highlights hidden or risky clauses before the contract is signed.</a:t>
            </a:r>
          </a:p>
          <a:p>
            <a:pPr marL="457200" indent="-457200">
              <a:buFont typeface="Wingdings" panose="05000000000000000000" pitchFamily="2" charset="2"/>
              <a:buChar char="Ø"/>
            </a:pPr>
            <a:r>
              <a:rPr lang="en-IN" sz="2800" dirty="0"/>
              <a:t>Reduces the chances of being scammed through unfair contract terms.</a:t>
            </a:r>
          </a:p>
        </p:txBody>
      </p:sp>
    </p:spTree>
    <p:extLst>
      <p:ext uri="{BB962C8B-B14F-4D97-AF65-F5344CB8AC3E}">
        <p14:creationId xmlns:p14="http://schemas.microsoft.com/office/powerpoint/2010/main" val="3942072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15A064-7F52-3660-A2B9-159F4AB57491}"/>
              </a:ext>
            </a:extLst>
          </p:cNvPr>
          <p:cNvSpPr txBox="1"/>
          <p:nvPr/>
        </p:nvSpPr>
        <p:spPr>
          <a:xfrm>
            <a:off x="413657" y="1679705"/>
            <a:ext cx="8639175" cy="3046988"/>
          </a:xfrm>
          <a:prstGeom prst="rect">
            <a:avLst/>
          </a:prstGeom>
          <a:noFill/>
        </p:spPr>
        <p:txBody>
          <a:bodyPr wrap="square" rtlCol="0">
            <a:spAutoFit/>
          </a:bodyPr>
          <a:lstStyle/>
          <a:p>
            <a:pPr marL="285750" lvl="0" indent="-285750">
              <a:buFont typeface="Wingdings" panose="05000000000000000000" pitchFamily="2" charset="2"/>
              <a:buChar char="Ø"/>
            </a:pPr>
            <a:r>
              <a:rPr lang="en-IN" sz="2400" dirty="0"/>
              <a:t>Premium Membership Plans for individuals, professionals, and enterprises. </a:t>
            </a:r>
          </a:p>
          <a:p>
            <a:pPr marL="285750" lvl="0" indent="-285750">
              <a:buFont typeface="Wingdings" panose="05000000000000000000" pitchFamily="2" charset="2"/>
              <a:buChar char="Ø"/>
            </a:pPr>
            <a:r>
              <a:rPr lang="en-IN" sz="2400" dirty="0"/>
              <a:t>Advanced AI Analysis with deeper legal reasoning and clause-by-clause explanations.</a:t>
            </a:r>
          </a:p>
          <a:p>
            <a:pPr marL="285750" lvl="0" indent="-285750">
              <a:buFont typeface="Wingdings" panose="05000000000000000000" pitchFamily="2" charset="2"/>
              <a:buChar char="Ø"/>
            </a:pPr>
            <a:r>
              <a:rPr lang="en-IN" sz="2400" dirty="0"/>
              <a:t>AI Legal Chat Assistant to answer contract-related questions interactively.</a:t>
            </a:r>
          </a:p>
          <a:p>
            <a:pPr marL="285750" indent="-285750">
              <a:buFont typeface="Wingdings" panose="05000000000000000000" pitchFamily="2" charset="2"/>
              <a:buChar char="Ø"/>
            </a:pPr>
            <a:r>
              <a:rPr lang="en-IN" sz="2400" dirty="0"/>
              <a:t>Enterprise Dashboard &amp; API Access for law firms, HR teams, banks, and corporate legal departments.</a:t>
            </a:r>
          </a:p>
        </p:txBody>
      </p:sp>
      <p:sp>
        <p:nvSpPr>
          <p:cNvPr id="4" name="Shape 1">
            <a:extLst>
              <a:ext uri="{FF2B5EF4-FFF2-40B4-BE49-F238E27FC236}">
                <a16:creationId xmlns:a16="http://schemas.microsoft.com/office/drawing/2014/main" id="{16AAD36B-499D-9B20-3C31-F3BCF75355CD}"/>
              </a:ext>
            </a:extLst>
          </p:cNvPr>
          <p:cNvSpPr/>
          <p:nvPr/>
        </p:nvSpPr>
        <p:spPr>
          <a:xfrm>
            <a:off x="0" y="0"/>
            <a:ext cx="9144000" cy="1005840"/>
          </a:xfrm>
          <a:prstGeom prst="rect">
            <a:avLst/>
          </a:prstGeom>
          <a:solidFill>
            <a:srgbClr val="0D1B3E"/>
          </a:solidFill>
          <a:ln/>
        </p:spPr>
      </p:sp>
      <p:sp>
        <p:nvSpPr>
          <p:cNvPr id="5" name="TextBox 4">
            <a:extLst>
              <a:ext uri="{FF2B5EF4-FFF2-40B4-BE49-F238E27FC236}">
                <a16:creationId xmlns:a16="http://schemas.microsoft.com/office/drawing/2014/main" id="{0C8846AE-188A-9F90-346A-3A773A168466}"/>
              </a:ext>
            </a:extLst>
          </p:cNvPr>
          <p:cNvSpPr txBox="1"/>
          <p:nvPr/>
        </p:nvSpPr>
        <p:spPr>
          <a:xfrm>
            <a:off x="494522" y="272087"/>
            <a:ext cx="3452327" cy="461665"/>
          </a:xfrm>
          <a:prstGeom prst="rect">
            <a:avLst/>
          </a:prstGeom>
          <a:noFill/>
        </p:spPr>
        <p:txBody>
          <a:bodyPr wrap="square" rtlCol="0">
            <a:spAutoFit/>
          </a:bodyPr>
          <a:lstStyle/>
          <a:p>
            <a:r>
              <a:rPr lang="en-IN" sz="2400" b="1" dirty="0">
                <a:solidFill>
                  <a:schemeClr val="bg1"/>
                </a:solidFill>
              </a:rPr>
              <a:t>Future Enhancements</a:t>
            </a:r>
          </a:p>
        </p:txBody>
      </p:sp>
    </p:spTree>
    <p:extLst>
      <p:ext uri="{BB962C8B-B14F-4D97-AF65-F5344CB8AC3E}">
        <p14:creationId xmlns:p14="http://schemas.microsoft.com/office/powerpoint/2010/main" val="1855522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p:spPr>
      </p:sp>
      <p:sp>
        <p:nvSpPr>
          <p:cNvPr id="5" name="Shape 3"/>
          <p:cNvSpPr/>
          <p:nvPr/>
        </p:nvSpPr>
        <p:spPr>
          <a:xfrm>
            <a:off x="9445752" y="4983480"/>
            <a:ext cx="2743200" cy="2743200"/>
          </a:xfrm>
          <a:prstGeom prst="ellipse">
            <a:avLst/>
          </a:prstGeom>
          <a:solidFill>
            <a:srgbClr val="0D47A1"/>
          </a:solidFill>
          <a:ln w="12700">
            <a:solidFill>
              <a:srgbClr val="0D47A1"/>
            </a:solidFill>
            <a:prstDash val="solid"/>
          </a:ln>
        </p:spPr>
      </p:sp>
      <p:pic>
        <p:nvPicPr>
          <p:cNvPr id="6" name="Image 0" descr="preencoded.png"/>
          <p:cNvPicPr>
            <a:picLocks noChangeAspect="1"/>
          </p:cNvPicPr>
          <p:nvPr/>
        </p:nvPicPr>
        <p:blipFill>
          <a:blip r:embed="rId3"/>
          <a:stretch>
            <a:fillRect/>
          </a:stretch>
        </p:blipFill>
        <p:spPr>
          <a:xfrm>
            <a:off x="548640" y="1097280"/>
            <a:ext cx="1097280" cy="1097280"/>
          </a:xfrm>
          <a:prstGeom prst="rect">
            <a:avLst/>
          </a:prstGeom>
        </p:spPr>
      </p:pic>
      <p:sp>
        <p:nvSpPr>
          <p:cNvPr id="7" name="Text 4"/>
          <p:cNvSpPr/>
          <p:nvPr/>
        </p:nvSpPr>
        <p:spPr>
          <a:xfrm>
            <a:off x="457200" y="2240280"/>
            <a:ext cx="8229600" cy="8686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Contract Guardian AI</a:t>
            </a:r>
            <a:endParaRPr lang="en-US" sz="4400" dirty="0"/>
          </a:p>
        </p:txBody>
      </p:sp>
      <p:sp>
        <p:nvSpPr>
          <p:cNvPr id="8" name="Text 5"/>
          <p:cNvSpPr/>
          <p:nvPr/>
        </p:nvSpPr>
        <p:spPr>
          <a:xfrm>
            <a:off x="457200" y="3090672"/>
            <a:ext cx="8686800" cy="457200"/>
          </a:xfrm>
          <a:prstGeom prst="rect">
            <a:avLst/>
          </a:prstGeom>
          <a:noFill/>
          <a:ln/>
        </p:spPr>
        <p:txBody>
          <a:bodyPr wrap="square" lIns="0" tIns="0" rIns="0" bIns="0" rtlCol="0" anchor="ctr"/>
          <a:lstStyle/>
          <a:p>
            <a:pPr marL="0" indent="0">
              <a:buNone/>
            </a:pPr>
            <a:r>
              <a:rPr lang="en-US" sz="2000" i="1" dirty="0">
                <a:solidFill>
                  <a:srgbClr val="00BCD4"/>
                </a:solidFill>
                <a:latin typeface="Calibri" pitchFamily="34" charset="0"/>
                <a:ea typeface="Calibri" pitchFamily="34" charset="-122"/>
                <a:cs typeface="Calibri" pitchFamily="34" charset="-120"/>
              </a:rPr>
              <a:t>AI-Powered Contract Risk Analysis Platform</a:t>
            </a:r>
            <a:endParaRPr lang="en-US" sz="2000" dirty="0"/>
          </a:p>
        </p:txBody>
      </p:sp>
      <p:sp>
        <p:nvSpPr>
          <p:cNvPr id="9" name="Text 6"/>
          <p:cNvSpPr/>
          <p:nvPr/>
        </p:nvSpPr>
        <p:spPr>
          <a:xfrm>
            <a:off x="502920" y="3703320"/>
            <a:ext cx="8046720" cy="402336"/>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  Full-stack AI platform — React, FastAPI, GPT-4o, LangChain</a:t>
            </a:r>
            <a:endParaRPr lang="en-US" sz="1400" dirty="0"/>
          </a:p>
        </p:txBody>
      </p:sp>
      <p:sp>
        <p:nvSpPr>
          <p:cNvPr id="10" name="Text 7"/>
          <p:cNvSpPr/>
          <p:nvPr/>
        </p:nvSpPr>
        <p:spPr>
          <a:xfrm>
            <a:off x="502920" y="4142232"/>
            <a:ext cx="8046720" cy="402336"/>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  7-stage AI pipeline: upload → extract → analyze → score → report</a:t>
            </a:r>
            <a:endParaRPr lang="en-US" sz="1400" dirty="0"/>
          </a:p>
        </p:txBody>
      </p:sp>
      <p:sp>
        <p:nvSpPr>
          <p:cNvPr id="11" name="Text 8"/>
          <p:cNvSpPr/>
          <p:nvPr/>
        </p:nvSpPr>
        <p:spPr>
          <a:xfrm>
            <a:off x="502920" y="4581144"/>
            <a:ext cx="8046720" cy="402336"/>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  x402 micropayment integration — novel API monetization model</a:t>
            </a:r>
            <a:endParaRPr lang="en-US" sz="1400" dirty="0"/>
          </a:p>
        </p:txBody>
      </p:sp>
      <p:sp>
        <p:nvSpPr>
          <p:cNvPr id="12" name="Text 9"/>
          <p:cNvSpPr/>
          <p:nvPr/>
        </p:nvSpPr>
        <p:spPr>
          <a:xfrm>
            <a:off x="502920" y="5020056"/>
            <a:ext cx="8046720" cy="402336"/>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  Production-ready: Docker, Vercel, Render, PostgreSQL, FAISS</a:t>
            </a:r>
            <a:endParaRPr lang="en-US" sz="1400" dirty="0"/>
          </a:p>
        </p:txBody>
      </p:sp>
      <p:sp>
        <p:nvSpPr>
          <p:cNvPr id="13" name="Shape 10"/>
          <p:cNvSpPr/>
          <p:nvPr/>
        </p:nvSpPr>
        <p:spPr>
          <a:xfrm>
            <a:off x="502920" y="5596128"/>
            <a:ext cx="6400800" cy="36576"/>
          </a:xfrm>
          <a:prstGeom prst="rect">
            <a:avLst/>
          </a:prstGeom>
          <a:solidFill>
            <a:srgbClr val="1E88E5"/>
          </a:solidFill>
          <a:ln/>
        </p:spPr>
      </p:sp>
      <p:sp>
        <p:nvSpPr>
          <p:cNvPr id="14" name="Text 11"/>
          <p:cNvSpPr/>
          <p:nvPr/>
        </p:nvSpPr>
        <p:spPr>
          <a:xfrm>
            <a:off x="502920" y="5687568"/>
            <a:ext cx="91440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Thank You  —  Questions Welcome!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53</TotalTime>
  <Words>2438</Words>
  <Application>Microsoft Office PowerPoint</Application>
  <PresentationFormat>Widescreen</PresentationFormat>
  <Paragraphs>256</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BIRADHAR SATHISH KUMAR</cp:lastModifiedBy>
  <cp:revision>2</cp:revision>
  <dcterms:created xsi:type="dcterms:W3CDTF">2026-08-07T04:37:30Z</dcterms:created>
  <dcterms:modified xsi:type="dcterms:W3CDTF">2026-08-07T07:27:24Z</dcterms:modified>
</cp:coreProperties>
</file>