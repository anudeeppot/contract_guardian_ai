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1" r:id="rId18"/>
    <p:sldId id="272" r:id="rId19"/>
    <p:sldId id="273" r:id="rId20"/>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B3B"/>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822960" y="548640"/>
            <a:ext cx="7680960" cy="274320"/>
          </a:xfrm>
          <a:prstGeom prst="rect">
            <a:avLst/>
          </a:prstGeom>
          <a:noFill/>
        </p:spPr>
        <p:txBody>
          <a:bodyPr wrap="square" lIns="0" tIns="0" rIns="0" bIns="0" rtlCol="0" anchor="t"/>
          <a:lstStyle/>
          <a:p>
            <a:pPr marL="0" indent="0">
              <a:buNone/>
            </a:pPr>
            <a:r>
              <a:rPr lang="en-US" sz="1100" b="1" kern="0" spc="100" dirty="0">
                <a:solidFill>
                  <a:srgbClr val="14B8A6"/>
                </a:solidFill>
                <a:latin typeface="Calibri" panose="020F0502020204030204" pitchFamily="34" charset="0"/>
                <a:ea typeface="Calibri" panose="020F0502020204030204" pitchFamily="34" charset="-122"/>
                <a:cs typeface="Calibri" panose="020F0502020204030204" pitchFamily="34" charset="-120"/>
              </a:rPr>
              <a:t>DATABASE SYSTEMS ENGINEERING &amp; DISTRIBUTED BACKEND DEVELOPMENT (25CS1302E)</a:t>
            </a:r>
            <a:endParaRPr lang="en-US" sz="1100" dirty="0"/>
          </a:p>
        </p:txBody>
      </p:sp>
      <p:sp>
        <p:nvSpPr>
          <p:cNvPr id="4" name="Text 2"/>
          <p:cNvSpPr txBox="1"/>
          <p:nvPr/>
        </p:nvSpPr>
        <p:spPr>
          <a:xfrm>
            <a:off x="822960" y="1371600"/>
            <a:ext cx="7680960" cy="822960"/>
          </a:xfrm>
          <a:prstGeom prst="rect">
            <a:avLst/>
          </a:prstGeom>
          <a:noFill/>
        </p:spPr>
        <p:txBody>
          <a:bodyPr wrap="square" lIns="0" tIns="0" rIns="0" bIns="0" rtlCol="0" anchor="t"/>
          <a:lstStyle/>
          <a:p>
            <a:pPr marL="0" indent="0">
              <a:buNone/>
            </a:pPr>
            <a:r>
              <a:rPr lang="en-US" sz="50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ContractSentinel AI</a:t>
            </a:r>
            <a:endParaRPr lang="en-US" sz="5000" dirty="0"/>
          </a:p>
        </p:txBody>
      </p:sp>
      <p:sp>
        <p:nvSpPr>
          <p:cNvPr id="5" name="Text 3"/>
          <p:cNvSpPr txBox="1"/>
          <p:nvPr/>
        </p:nvSpPr>
        <p:spPr>
          <a:xfrm>
            <a:off x="822960" y="2286000"/>
            <a:ext cx="7680960" cy="457200"/>
          </a:xfrm>
          <a:prstGeom prst="rect">
            <a:avLst/>
          </a:prstGeom>
          <a:noFill/>
        </p:spPr>
        <p:txBody>
          <a:bodyPr wrap="square" lIns="0" tIns="0" rIns="0" bIns="0" rtlCol="0" anchor="t"/>
          <a:lstStyle/>
          <a:p>
            <a:pPr marL="0" indent="0">
              <a:buNone/>
            </a:pPr>
            <a:r>
              <a:rPr lang="en-US" sz="2000" i="1" dirty="0">
                <a:solidFill>
                  <a:srgbClr val="F59E0B"/>
                </a:solidFill>
                <a:latin typeface="Calibri" panose="020F0502020204030204" pitchFamily="34" charset="0"/>
                <a:ea typeface="Calibri" panose="020F0502020204030204" pitchFamily="34" charset="-122"/>
                <a:cs typeface="Calibri" panose="020F0502020204030204" pitchFamily="34" charset="-120"/>
              </a:rPr>
              <a:t>Detect Risks. Expose Anomalies. Protect Every Contract.</a:t>
            </a:r>
            <a:endParaRPr lang="en-US" sz="2000" dirty="0"/>
          </a:p>
        </p:txBody>
      </p:sp>
      <p:sp>
        <p:nvSpPr>
          <p:cNvPr id="6" name="Text 4"/>
          <p:cNvSpPr txBox="1"/>
          <p:nvPr/>
        </p:nvSpPr>
        <p:spPr>
          <a:xfrm>
            <a:off x="822960" y="2834640"/>
            <a:ext cx="7680960" cy="320040"/>
          </a:xfrm>
          <a:prstGeom prst="rect">
            <a:avLst/>
          </a:prstGeom>
          <a:noFill/>
        </p:spPr>
        <p:txBody>
          <a:bodyPr wrap="square" lIns="0" tIns="0" rIns="0" bIns="0" rtlCol="0" anchor="t"/>
          <a:lstStyle/>
          <a:p>
            <a:pPr marL="0" indent="0">
              <a:buNone/>
            </a:pPr>
            <a:r>
              <a:rPr lang="en-US" sz="1400" dirty="0">
                <a:solidFill>
                  <a:srgbClr val="CBD5E1"/>
                </a:solidFill>
                <a:latin typeface="Calibri" panose="020F0502020204030204" pitchFamily="34" charset="0"/>
                <a:ea typeface="Calibri" panose="020F0502020204030204" pitchFamily="34" charset="-122"/>
                <a:cs typeface="Calibri" panose="020F0502020204030204" pitchFamily="34" charset="-120"/>
              </a:rPr>
              <a:t>AI-powered contract risk analysis platform</a:t>
            </a:r>
            <a:endParaRPr lang="en-US" sz="1400" dirty="0"/>
          </a:p>
        </p:txBody>
      </p:sp>
      <p:sp>
        <p:nvSpPr>
          <p:cNvPr id="7" name="Text 5"/>
          <p:cNvSpPr txBox="1"/>
          <p:nvPr/>
        </p:nvSpPr>
        <p:spPr>
          <a:xfrm>
            <a:off x="822960" y="4617720"/>
            <a:ext cx="7680960" cy="274320"/>
          </a:xfrm>
          <a:prstGeom prst="rect">
            <a:avLst/>
          </a:prstGeom>
          <a:noFill/>
        </p:spPr>
        <p:txBody>
          <a:bodyPr wrap="square" lIns="0" tIns="0" rIns="0" bIns="0" rtlCol="0" anchor="t"/>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Koneru Lakshmaiah Education Foundation  |  Y25 2026-27 Trimester 4  |  Sec 7  |  Team 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Our Team</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Sec 7  |  Team 3</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
        <p:nvSpPr>
          <p:cNvPr id="7" name="Shape 5"/>
          <p:cNvSpPr/>
          <p:nvPr/>
        </p:nvSpPr>
        <p:spPr>
          <a:xfrm>
            <a:off x="548640" y="1463040"/>
            <a:ext cx="2514600" cy="2926080"/>
          </a:xfrm>
          <a:prstGeom prst="roundRect">
            <a:avLst>
              <a:gd name="adj" fmla="val 3636"/>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1325880" y="1783080"/>
            <a:ext cx="960120" cy="960120"/>
          </a:xfrm>
          <a:prstGeom prst="ellipse">
            <a:avLst/>
          </a:prstGeom>
          <a:solidFill>
            <a:srgbClr val="14B8A6"/>
          </a:solidFill>
          <a:ln w="12700">
            <a:solidFill>
              <a:srgbClr val="14B8A6"/>
            </a:solidFill>
            <a:prstDash val="solid"/>
          </a:ln>
        </p:spPr>
        <p:txBody>
          <a:bodyPr/>
          <a:p/>
        </p:txBody>
      </p:sp>
      <p:sp>
        <p:nvSpPr>
          <p:cNvPr id="9" name="Text 7"/>
          <p:cNvSpPr txBox="1"/>
          <p:nvPr/>
        </p:nvSpPr>
        <p:spPr>
          <a:xfrm>
            <a:off x="1325880" y="1783080"/>
            <a:ext cx="960120" cy="960120"/>
          </a:xfrm>
          <a:prstGeom prst="rect">
            <a:avLst/>
          </a:prstGeom>
          <a:noFill/>
        </p:spPr>
        <p:txBody>
          <a:bodyPr wrap="square" lIns="0" tIns="0" rIns="0" bIns="0" rtlCol="0" anchor="ctr"/>
          <a:lstStyle/>
          <a:p>
            <a:pPr marL="0" indent="0" algn="ctr">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PP</a:t>
            </a:r>
            <a:endParaRPr lang="en-US" sz="2600" dirty="0"/>
          </a:p>
        </p:txBody>
      </p:sp>
      <p:sp>
        <p:nvSpPr>
          <p:cNvPr id="10" name="Text 8"/>
          <p:cNvSpPr txBox="1"/>
          <p:nvPr/>
        </p:nvSpPr>
        <p:spPr>
          <a:xfrm>
            <a:off x="685800" y="3017520"/>
            <a:ext cx="2240280" cy="640080"/>
          </a:xfrm>
          <a:prstGeom prst="rect">
            <a:avLst/>
          </a:prstGeom>
          <a:noFill/>
        </p:spPr>
        <p:txBody>
          <a:bodyPr wrap="square" lIns="0" tIns="0" rIns="0" bIns="0" rtlCol="0" anchor="t"/>
          <a:lstStyle/>
          <a:p>
            <a:pPr marL="0" indent="0" algn="ctr">
              <a:buNone/>
            </a:pPr>
            <a:r>
              <a:rPr lang="en-US" sz="1500" b="1" dirty="0">
                <a:solidFill>
                  <a:srgbClr val="0B1B3B"/>
                </a:solidFill>
                <a:latin typeface="Calibri" panose="020F0502020204030204" pitchFamily="34" charset="0"/>
                <a:ea typeface="Calibri" panose="020F0502020204030204" pitchFamily="34" charset="-122"/>
                <a:cs typeface="Calibri" panose="020F0502020204030204" pitchFamily="34" charset="-120"/>
              </a:rPr>
              <a:t>Parvathareddy Pranaw Reddy</a:t>
            </a:r>
            <a:endParaRPr lang="en-US" sz="1500" dirty="0"/>
          </a:p>
        </p:txBody>
      </p:sp>
      <p:sp>
        <p:nvSpPr>
          <p:cNvPr id="11" name="Shape 9"/>
          <p:cNvSpPr/>
          <p:nvPr/>
        </p:nvSpPr>
        <p:spPr>
          <a:xfrm>
            <a:off x="960120" y="3749040"/>
            <a:ext cx="1691640" cy="384048"/>
          </a:xfrm>
          <a:prstGeom prst="roundRect">
            <a:avLst>
              <a:gd name="adj" fmla="val 19048"/>
            </a:avLst>
          </a:prstGeom>
          <a:solidFill>
            <a:srgbClr val="0B1B3B"/>
          </a:solidFill>
          <a:ln w="12700">
            <a:solidFill>
              <a:srgbClr val="0B1B3B"/>
            </a:solidFill>
            <a:prstDash val="solid"/>
          </a:ln>
        </p:spPr>
        <p:txBody>
          <a:bodyPr/>
          <a:p/>
        </p:txBody>
      </p:sp>
      <p:sp>
        <p:nvSpPr>
          <p:cNvPr id="12" name="Text 10"/>
          <p:cNvSpPr txBox="1"/>
          <p:nvPr/>
        </p:nvSpPr>
        <p:spPr>
          <a:xfrm>
            <a:off x="960120" y="3749040"/>
            <a:ext cx="1691640"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2520030136</a:t>
            </a:r>
            <a:endParaRPr lang="en-US" sz="1300" dirty="0"/>
          </a:p>
        </p:txBody>
      </p:sp>
      <p:sp>
        <p:nvSpPr>
          <p:cNvPr id="13" name="Shape 11"/>
          <p:cNvSpPr/>
          <p:nvPr/>
        </p:nvSpPr>
        <p:spPr>
          <a:xfrm>
            <a:off x="3246120" y="1463040"/>
            <a:ext cx="2514600" cy="2926080"/>
          </a:xfrm>
          <a:prstGeom prst="roundRect">
            <a:avLst>
              <a:gd name="adj" fmla="val 3636"/>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14" name="Shape 12"/>
          <p:cNvSpPr/>
          <p:nvPr/>
        </p:nvSpPr>
        <p:spPr>
          <a:xfrm>
            <a:off x="4023360" y="1783080"/>
            <a:ext cx="960120" cy="960120"/>
          </a:xfrm>
          <a:prstGeom prst="ellipse">
            <a:avLst/>
          </a:prstGeom>
          <a:solidFill>
            <a:srgbClr val="F59E0B"/>
          </a:solidFill>
          <a:ln w="12700">
            <a:solidFill>
              <a:srgbClr val="F59E0B"/>
            </a:solidFill>
            <a:prstDash val="solid"/>
          </a:ln>
        </p:spPr>
        <p:txBody>
          <a:bodyPr/>
          <a:p/>
        </p:txBody>
      </p:sp>
      <p:sp>
        <p:nvSpPr>
          <p:cNvPr id="15" name="Text 13"/>
          <p:cNvSpPr txBox="1"/>
          <p:nvPr/>
        </p:nvSpPr>
        <p:spPr>
          <a:xfrm>
            <a:off x="4023360" y="1783080"/>
            <a:ext cx="960120" cy="960120"/>
          </a:xfrm>
          <a:prstGeom prst="rect">
            <a:avLst/>
          </a:prstGeom>
          <a:noFill/>
        </p:spPr>
        <p:txBody>
          <a:bodyPr wrap="square" lIns="0" tIns="0" rIns="0" bIns="0" rtlCol="0" anchor="ctr"/>
          <a:lstStyle/>
          <a:p>
            <a:pPr marL="0" indent="0" algn="ctr">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AP</a:t>
            </a:r>
            <a:endParaRPr lang="en-US" sz="2600" dirty="0"/>
          </a:p>
        </p:txBody>
      </p:sp>
      <p:sp>
        <p:nvSpPr>
          <p:cNvPr id="16" name="Text 14"/>
          <p:cNvSpPr txBox="1"/>
          <p:nvPr/>
        </p:nvSpPr>
        <p:spPr>
          <a:xfrm>
            <a:off x="3383280" y="3017520"/>
            <a:ext cx="2240280" cy="640080"/>
          </a:xfrm>
          <a:prstGeom prst="rect">
            <a:avLst/>
          </a:prstGeom>
          <a:noFill/>
        </p:spPr>
        <p:txBody>
          <a:bodyPr wrap="square" lIns="0" tIns="0" rIns="0" bIns="0" rtlCol="0" anchor="t"/>
          <a:lstStyle/>
          <a:p>
            <a:pPr marL="0" indent="0" algn="ctr">
              <a:buNone/>
            </a:pPr>
            <a:r>
              <a:rPr lang="en-US" sz="1500" b="1" dirty="0">
                <a:solidFill>
                  <a:srgbClr val="0B1B3B"/>
                </a:solidFill>
                <a:latin typeface="Calibri" panose="020F0502020204030204" pitchFamily="34" charset="0"/>
                <a:ea typeface="Calibri" panose="020F0502020204030204" pitchFamily="34" charset="-122"/>
                <a:cs typeface="Calibri" panose="020F0502020204030204" pitchFamily="34" charset="-120"/>
              </a:rPr>
              <a:t>Anudeep Potnuru</a:t>
            </a:r>
            <a:endParaRPr lang="en-US" sz="1500" dirty="0"/>
          </a:p>
        </p:txBody>
      </p:sp>
      <p:sp>
        <p:nvSpPr>
          <p:cNvPr id="17" name="Shape 15"/>
          <p:cNvSpPr/>
          <p:nvPr/>
        </p:nvSpPr>
        <p:spPr>
          <a:xfrm>
            <a:off x="3657600" y="3749040"/>
            <a:ext cx="1691640" cy="384048"/>
          </a:xfrm>
          <a:prstGeom prst="roundRect">
            <a:avLst>
              <a:gd name="adj" fmla="val 19048"/>
            </a:avLst>
          </a:prstGeom>
          <a:solidFill>
            <a:srgbClr val="0B1B3B"/>
          </a:solidFill>
          <a:ln w="12700">
            <a:solidFill>
              <a:srgbClr val="0B1B3B"/>
            </a:solidFill>
            <a:prstDash val="solid"/>
          </a:ln>
        </p:spPr>
        <p:txBody>
          <a:bodyPr/>
          <a:p/>
        </p:txBody>
      </p:sp>
      <p:sp>
        <p:nvSpPr>
          <p:cNvPr id="18" name="Text 16"/>
          <p:cNvSpPr txBox="1"/>
          <p:nvPr/>
        </p:nvSpPr>
        <p:spPr>
          <a:xfrm>
            <a:off x="3657600" y="3749040"/>
            <a:ext cx="1691640"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2520030087</a:t>
            </a:r>
            <a:endParaRPr lang="en-US" sz="1300" dirty="0"/>
          </a:p>
        </p:txBody>
      </p:sp>
      <p:sp>
        <p:nvSpPr>
          <p:cNvPr id="19" name="Shape 17"/>
          <p:cNvSpPr/>
          <p:nvPr/>
        </p:nvSpPr>
        <p:spPr>
          <a:xfrm>
            <a:off x="5943600" y="1463040"/>
            <a:ext cx="2514600" cy="2926080"/>
          </a:xfrm>
          <a:prstGeom prst="roundRect">
            <a:avLst>
              <a:gd name="adj" fmla="val 3636"/>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20" name="Shape 18"/>
          <p:cNvSpPr/>
          <p:nvPr/>
        </p:nvSpPr>
        <p:spPr>
          <a:xfrm>
            <a:off x="6720840" y="1783080"/>
            <a:ext cx="960120" cy="960120"/>
          </a:xfrm>
          <a:prstGeom prst="ellipse">
            <a:avLst/>
          </a:prstGeom>
          <a:solidFill>
            <a:srgbClr val="8B5CF6"/>
          </a:solidFill>
          <a:ln w="12700">
            <a:solidFill>
              <a:srgbClr val="8B5CF6"/>
            </a:solidFill>
            <a:prstDash val="solid"/>
          </a:ln>
        </p:spPr>
        <p:txBody>
          <a:bodyPr/>
          <a:p/>
        </p:txBody>
      </p:sp>
      <p:sp>
        <p:nvSpPr>
          <p:cNvPr id="21" name="Text 19"/>
          <p:cNvSpPr txBox="1"/>
          <p:nvPr/>
        </p:nvSpPr>
        <p:spPr>
          <a:xfrm>
            <a:off x="6720840" y="1783080"/>
            <a:ext cx="960120" cy="960120"/>
          </a:xfrm>
          <a:prstGeom prst="rect">
            <a:avLst/>
          </a:prstGeom>
          <a:noFill/>
        </p:spPr>
        <p:txBody>
          <a:bodyPr wrap="square" lIns="0" tIns="0" rIns="0" bIns="0" rtlCol="0" anchor="ctr"/>
          <a:lstStyle/>
          <a:p>
            <a:pPr marL="0" indent="0" algn="ctr">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a:t>
            </a:r>
            <a:endParaRPr lang="en-US" sz="2600" dirty="0"/>
          </a:p>
        </p:txBody>
      </p:sp>
      <p:sp>
        <p:nvSpPr>
          <p:cNvPr id="22" name="Text 20"/>
          <p:cNvSpPr txBox="1"/>
          <p:nvPr/>
        </p:nvSpPr>
        <p:spPr>
          <a:xfrm>
            <a:off x="6080760" y="3017520"/>
            <a:ext cx="2240280" cy="640080"/>
          </a:xfrm>
          <a:prstGeom prst="rect">
            <a:avLst/>
          </a:prstGeom>
          <a:noFill/>
        </p:spPr>
        <p:txBody>
          <a:bodyPr wrap="square" lIns="0" tIns="0" rIns="0" bIns="0" rtlCol="0" anchor="t"/>
          <a:lstStyle/>
          <a:p>
            <a:pPr marL="0" indent="0" algn="ctr">
              <a:buNone/>
            </a:pPr>
            <a:r>
              <a:rPr lang="en-US" sz="1500" b="1" dirty="0">
                <a:solidFill>
                  <a:srgbClr val="0B1B3B"/>
                </a:solidFill>
                <a:latin typeface="Calibri" panose="020F0502020204030204" pitchFamily="34" charset="0"/>
                <a:ea typeface="Calibri" panose="020F0502020204030204" pitchFamily="34" charset="-122"/>
                <a:cs typeface="Calibri" panose="020F0502020204030204" pitchFamily="34" charset="-120"/>
              </a:rPr>
              <a:t>Pudota Asritha Chowdary</a:t>
            </a:r>
            <a:endParaRPr lang="en-US" sz="1500" dirty="0"/>
          </a:p>
        </p:txBody>
      </p:sp>
      <p:sp>
        <p:nvSpPr>
          <p:cNvPr id="23" name="Shape 21"/>
          <p:cNvSpPr/>
          <p:nvPr/>
        </p:nvSpPr>
        <p:spPr>
          <a:xfrm>
            <a:off x="6355080" y="3749040"/>
            <a:ext cx="1691640" cy="384048"/>
          </a:xfrm>
          <a:prstGeom prst="roundRect">
            <a:avLst>
              <a:gd name="adj" fmla="val 19048"/>
            </a:avLst>
          </a:prstGeom>
          <a:solidFill>
            <a:srgbClr val="0B1B3B"/>
          </a:solidFill>
          <a:ln w="12700">
            <a:solidFill>
              <a:srgbClr val="0B1B3B"/>
            </a:solidFill>
            <a:prstDash val="solid"/>
          </a:ln>
        </p:spPr>
        <p:txBody>
          <a:bodyPr/>
          <a:p/>
        </p:txBody>
      </p:sp>
      <p:sp>
        <p:nvSpPr>
          <p:cNvPr id="24" name="Text 22"/>
          <p:cNvSpPr txBox="1"/>
          <p:nvPr/>
        </p:nvSpPr>
        <p:spPr>
          <a:xfrm>
            <a:off x="6355080" y="3749040"/>
            <a:ext cx="1691640"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2520030592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Abstract</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What ContractSentinel AI is</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
        <p:nvSpPr>
          <p:cNvPr id="7" name="Shape 5"/>
          <p:cNvSpPr/>
          <p:nvPr/>
        </p:nvSpPr>
        <p:spPr>
          <a:xfrm>
            <a:off x="548640" y="1371600"/>
            <a:ext cx="5212080" cy="3200400"/>
          </a:xfrm>
          <a:prstGeom prst="roundRect">
            <a:avLst>
              <a:gd name="adj" fmla="val 228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731520" y="1554480"/>
            <a:ext cx="457200" cy="54864"/>
          </a:xfrm>
          <a:prstGeom prst="rect">
            <a:avLst/>
          </a:prstGeom>
          <a:solidFill>
            <a:srgbClr val="14B8A6"/>
          </a:solidFill>
          <a:ln w="12700">
            <a:solidFill>
              <a:srgbClr val="14B8A6"/>
            </a:solidFill>
            <a:prstDash val="solid"/>
          </a:ln>
        </p:spPr>
        <p:txBody>
          <a:bodyPr/>
          <a:p/>
        </p:txBody>
      </p:sp>
      <p:sp>
        <p:nvSpPr>
          <p:cNvPr id="9" name="Text 7"/>
          <p:cNvSpPr txBox="1"/>
          <p:nvPr/>
        </p:nvSpPr>
        <p:spPr>
          <a:xfrm>
            <a:off x="731520" y="1691640"/>
            <a:ext cx="4846320" cy="320040"/>
          </a:xfrm>
          <a:prstGeom prst="rect">
            <a:avLst/>
          </a:prstGeom>
          <a:noFill/>
        </p:spPr>
        <p:txBody>
          <a:bodyPr wrap="square" lIns="0" tIns="0" rIns="0" bIns="0" rtlCol="0" anchor="t"/>
          <a:lstStyle/>
          <a:p>
            <a:pPr marL="0" indent="0">
              <a:buNone/>
            </a:pPr>
            <a:r>
              <a:rPr lang="en-US" sz="1400" b="1" dirty="0">
                <a:solidFill>
                  <a:srgbClr val="0B1B3B"/>
                </a:solidFill>
                <a:latin typeface="Calibri" panose="020F0502020204030204" pitchFamily="34" charset="0"/>
                <a:ea typeface="Calibri" panose="020F0502020204030204" pitchFamily="34" charset="-122"/>
                <a:cs typeface="Calibri" panose="020F0502020204030204" pitchFamily="34" charset="-120"/>
              </a:rPr>
              <a:t>Overview</a:t>
            </a:r>
            <a:endParaRPr lang="en-US" sz="1400" dirty="0"/>
          </a:p>
        </p:txBody>
      </p:sp>
      <p:sp>
        <p:nvSpPr>
          <p:cNvPr id="10" name="Text 8"/>
          <p:cNvSpPr txBox="1"/>
          <p:nvPr/>
        </p:nvSpPr>
        <p:spPr>
          <a:xfrm>
            <a:off x="731520" y="2029968"/>
            <a:ext cx="4846320" cy="2423160"/>
          </a:xfrm>
          <a:prstGeom prst="rect">
            <a:avLst/>
          </a:prstGeom>
          <a:noFill/>
        </p:spPr>
        <p:txBody>
          <a:bodyPr wrap="square" lIns="0" tIns="0" rIns="0" bIns="0" rtlCol="0" anchor="t"/>
          <a:lstStyle/>
          <a:p>
            <a:pPr marL="0" indent="0">
              <a:buNone/>
            </a:pPr>
            <a:r>
              <a:rPr lang="en-US" sz="115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is an AI-powered web application that analyzes uploaded PDF and DOCX contracts using NLP. It extracts clauses on payment, termination, liability, confidentiality, IP, renewal, penalties, jurisdiction and data privacy, flags risky or abnormal wording, and assigns risk levels with confidence scores.</a:t>
            </a:r>
            <a:endParaRPr lang="en-US" sz="1150" dirty="0"/>
          </a:p>
          <a:p>
            <a:pPr marL="0" indent="0">
              <a:buNone/>
            </a:pPr>
            <a:endParaRPr lang="en-US" sz="1150" dirty="0"/>
          </a:p>
          <a:p>
            <a:pPr marL="0" indent="0">
              <a:buNone/>
            </a:pPr>
            <a:r>
              <a:rPr lang="en-US" sz="1150" dirty="0">
                <a:solidFill>
                  <a:srgbClr val="5B6B85"/>
                </a:solidFill>
                <a:latin typeface="Calibri" panose="020F0502020204030204" pitchFamily="34" charset="0"/>
                <a:ea typeface="Calibri" panose="020F0502020204030204" pitchFamily="34" charset="-122"/>
                <a:cs typeface="Calibri" panose="020F0502020204030204" pitchFamily="34" charset="-120"/>
              </a:rPr>
              <a:t>For each risk it explains the problem and suggests a safer alternative, backed by an overall risk score and downloadable reports.</a:t>
            </a:r>
            <a:endParaRPr lang="en-US" sz="1150" dirty="0"/>
          </a:p>
        </p:txBody>
      </p:sp>
      <p:sp>
        <p:nvSpPr>
          <p:cNvPr id="11" name="Shape 9"/>
          <p:cNvSpPr/>
          <p:nvPr/>
        </p:nvSpPr>
        <p:spPr>
          <a:xfrm>
            <a:off x="5943600" y="1371600"/>
            <a:ext cx="2651760" cy="960120"/>
          </a:xfrm>
          <a:prstGeom prst="roundRect">
            <a:avLst>
              <a:gd name="adj" fmla="val 7619"/>
            </a:avLst>
          </a:prstGeom>
          <a:solidFill>
            <a:srgbClr val="0B1B3B"/>
          </a:solidFill>
          <a:ln w="12700">
            <a:solidFill>
              <a:srgbClr val="0B1B3B"/>
            </a:solidFill>
            <a:prstDash val="solid"/>
          </a:ln>
        </p:spPr>
        <p:txBody>
          <a:bodyPr/>
          <a:p/>
        </p:txBody>
      </p:sp>
      <p:sp>
        <p:nvSpPr>
          <p:cNvPr id="12" name="Shape 10"/>
          <p:cNvSpPr/>
          <p:nvPr/>
        </p:nvSpPr>
        <p:spPr>
          <a:xfrm>
            <a:off x="5943600" y="1371600"/>
            <a:ext cx="91440" cy="960120"/>
          </a:xfrm>
          <a:prstGeom prst="rect">
            <a:avLst/>
          </a:prstGeom>
          <a:solidFill>
            <a:srgbClr val="14B8A6"/>
          </a:solidFill>
          <a:ln w="12700">
            <a:solidFill>
              <a:srgbClr val="14B8A6"/>
            </a:solidFill>
            <a:prstDash val="solid"/>
          </a:ln>
        </p:spPr>
        <p:txBody>
          <a:bodyPr/>
          <a:p/>
        </p:txBody>
      </p:sp>
      <p:sp>
        <p:nvSpPr>
          <p:cNvPr id="13" name="Text 11"/>
          <p:cNvSpPr txBox="1"/>
          <p:nvPr/>
        </p:nvSpPr>
        <p:spPr>
          <a:xfrm>
            <a:off x="6217920" y="1554480"/>
            <a:ext cx="2286000" cy="365760"/>
          </a:xfrm>
          <a:prstGeom prst="rect">
            <a:avLst/>
          </a:prstGeom>
          <a:noFill/>
        </p:spPr>
        <p:txBody>
          <a:bodyPr wrap="square" lIns="0" tIns="0" rIns="0" bIns="0" rtlCol="0" anchor="t"/>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PDF + DOCX</a:t>
            </a:r>
            <a:endParaRPr lang="en-US" sz="1800" dirty="0"/>
          </a:p>
        </p:txBody>
      </p:sp>
      <p:sp>
        <p:nvSpPr>
          <p:cNvPr id="14" name="Text 12"/>
          <p:cNvSpPr txBox="1"/>
          <p:nvPr/>
        </p:nvSpPr>
        <p:spPr>
          <a:xfrm>
            <a:off x="6217920" y="1938528"/>
            <a:ext cx="2286000" cy="274320"/>
          </a:xfrm>
          <a:prstGeom prst="rect">
            <a:avLst/>
          </a:prstGeom>
          <a:noFill/>
        </p:spPr>
        <p:txBody>
          <a:bodyPr wrap="square" lIns="0" tIns="0" rIns="0" bIns="0" rtlCol="0" anchor="t"/>
          <a:lstStyle/>
          <a:p>
            <a:pPr marL="0" indent="0">
              <a:buNone/>
            </a:pPr>
            <a:r>
              <a:rPr lang="en-US" sz="1100" dirty="0">
                <a:solidFill>
                  <a:srgbClr val="CBD5E1"/>
                </a:solidFill>
                <a:latin typeface="Calibri" panose="020F0502020204030204" pitchFamily="34" charset="0"/>
                <a:ea typeface="Calibri" panose="020F0502020204030204" pitchFamily="34" charset="-122"/>
                <a:cs typeface="Calibri" panose="020F0502020204030204" pitchFamily="34" charset="-120"/>
              </a:rPr>
              <a:t>Document input</a:t>
            </a:r>
            <a:endParaRPr lang="en-US" sz="1100" dirty="0"/>
          </a:p>
        </p:txBody>
      </p:sp>
      <p:sp>
        <p:nvSpPr>
          <p:cNvPr id="15" name="Shape 13"/>
          <p:cNvSpPr/>
          <p:nvPr/>
        </p:nvSpPr>
        <p:spPr>
          <a:xfrm>
            <a:off x="5943600" y="2468880"/>
            <a:ext cx="2651760" cy="960120"/>
          </a:xfrm>
          <a:prstGeom prst="roundRect">
            <a:avLst>
              <a:gd name="adj" fmla="val 7619"/>
            </a:avLst>
          </a:prstGeom>
          <a:solidFill>
            <a:srgbClr val="0B1B3B"/>
          </a:solidFill>
          <a:ln w="12700">
            <a:solidFill>
              <a:srgbClr val="0B1B3B"/>
            </a:solidFill>
            <a:prstDash val="solid"/>
          </a:ln>
        </p:spPr>
        <p:txBody>
          <a:bodyPr/>
          <a:p/>
        </p:txBody>
      </p:sp>
      <p:sp>
        <p:nvSpPr>
          <p:cNvPr id="16" name="Shape 14"/>
          <p:cNvSpPr/>
          <p:nvPr/>
        </p:nvSpPr>
        <p:spPr>
          <a:xfrm>
            <a:off x="5943600" y="2468880"/>
            <a:ext cx="91440" cy="960120"/>
          </a:xfrm>
          <a:prstGeom prst="rect">
            <a:avLst/>
          </a:prstGeom>
          <a:solidFill>
            <a:srgbClr val="EF4444"/>
          </a:solidFill>
          <a:ln w="12700">
            <a:solidFill>
              <a:srgbClr val="EF4444"/>
            </a:solidFill>
            <a:prstDash val="solid"/>
          </a:ln>
        </p:spPr>
        <p:txBody>
          <a:bodyPr/>
          <a:p/>
        </p:txBody>
      </p:sp>
      <p:sp>
        <p:nvSpPr>
          <p:cNvPr id="17" name="Text 15"/>
          <p:cNvSpPr txBox="1"/>
          <p:nvPr/>
        </p:nvSpPr>
        <p:spPr>
          <a:xfrm>
            <a:off x="6217920" y="2651760"/>
            <a:ext cx="2286000" cy="365760"/>
          </a:xfrm>
          <a:prstGeom prst="rect">
            <a:avLst/>
          </a:prstGeom>
          <a:noFill/>
        </p:spPr>
        <p:txBody>
          <a:bodyPr wrap="square" lIns="0" tIns="0" rIns="0" bIns="0" rtlCol="0" anchor="t"/>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Risk Score</a:t>
            </a:r>
            <a:endParaRPr lang="en-US" sz="1800" dirty="0"/>
          </a:p>
        </p:txBody>
      </p:sp>
      <p:sp>
        <p:nvSpPr>
          <p:cNvPr id="18" name="Text 16"/>
          <p:cNvSpPr txBox="1"/>
          <p:nvPr/>
        </p:nvSpPr>
        <p:spPr>
          <a:xfrm>
            <a:off x="6217920" y="3035808"/>
            <a:ext cx="2286000" cy="274320"/>
          </a:xfrm>
          <a:prstGeom prst="rect">
            <a:avLst/>
          </a:prstGeom>
          <a:noFill/>
        </p:spPr>
        <p:txBody>
          <a:bodyPr wrap="square" lIns="0" tIns="0" rIns="0" bIns="0" rtlCol="0" anchor="t"/>
          <a:lstStyle/>
          <a:p>
            <a:pPr marL="0" indent="0">
              <a:buNone/>
            </a:pPr>
            <a:r>
              <a:rPr lang="en-US" sz="1100" dirty="0">
                <a:solidFill>
                  <a:srgbClr val="CBD5E1"/>
                </a:solidFill>
                <a:latin typeface="Calibri" panose="020F0502020204030204" pitchFamily="34" charset="0"/>
                <a:ea typeface="Calibri" panose="020F0502020204030204" pitchFamily="34" charset="-122"/>
                <a:cs typeface="Calibri" panose="020F0502020204030204" pitchFamily="34" charset="-120"/>
              </a:rPr>
              <a:t>Overall 0-100</a:t>
            </a:r>
            <a:endParaRPr lang="en-US" sz="1100" dirty="0"/>
          </a:p>
        </p:txBody>
      </p:sp>
      <p:sp>
        <p:nvSpPr>
          <p:cNvPr id="19" name="Shape 17"/>
          <p:cNvSpPr/>
          <p:nvPr/>
        </p:nvSpPr>
        <p:spPr>
          <a:xfrm>
            <a:off x="5943600" y="3566160"/>
            <a:ext cx="2651760" cy="960120"/>
          </a:xfrm>
          <a:prstGeom prst="roundRect">
            <a:avLst>
              <a:gd name="adj" fmla="val 7619"/>
            </a:avLst>
          </a:prstGeom>
          <a:solidFill>
            <a:srgbClr val="0B1B3B"/>
          </a:solidFill>
          <a:ln w="12700">
            <a:solidFill>
              <a:srgbClr val="0B1B3B"/>
            </a:solidFill>
            <a:prstDash val="solid"/>
          </a:ln>
        </p:spPr>
        <p:txBody>
          <a:bodyPr/>
          <a:p/>
        </p:txBody>
      </p:sp>
      <p:sp>
        <p:nvSpPr>
          <p:cNvPr id="20" name="Shape 18"/>
          <p:cNvSpPr/>
          <p:nvPr/>
        </p:nvSpPr>
        <p:spPr>
          <a:xfrm>
            <a:off x="5943600" y="3566160"/>
            <a:ext cx="91440" cy="960120"/>
          </a:xfrm>
          <a:prstGeom prst="rect">
            <a:avLst/>
          </a:prstGeom>
          <a:solidFill>
            <a:srgbClr val="F59E0B"/>
          </a:solidFill>
          <a:ln w="12700">
            <a:solidFill>
              <a:srgbClr val="F59E0B"/>
            </a:solidFill>
            <a:prstDash val="solid"/>
          </a:ln>
        </p:spPr>
        <p:txBody>
          <a:bodyPr/>
          <a:p/>
        </p:txBody>
      </p:sp>
      <p:sp>
        <p:nvSpPr>
          <p:cNvPr id="21" name="Text 19"/>
          <p:cNvSpPr txBox="1"/>
          <p:nvPr/>
        </p:nvSpPr>
        <p:spPr>
          <a:xfrm>
            <a:off x="6217920" y="3749040"/>
            <a:ext cx="2286000" cy="365760"/>
          </a:xfrm>
          <a:prstGeom prst="rect">
            <a:avLst/>
          </a:prstGeom>
          <a:noFill/>
        </p:spPr>
        <p:txBody>
          <a:bodyPr wrap="square" lIns="0" tIns="0" rIns="0" bIns="0" rtlCol="0" anchor="t"/>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Safer Fixes</a:t>
            </a:r>
            <a:endParaRPr lang="en-US" sz="1800" dirty="0"/>
          </a:p>
        </p:txBody>
      </p:sp>
      <p:sp>
        <p:nvSpPr>
          <p:cNvPr id="22" name="Text 20"/>
          <p:cNvSpPr txBox="1"/>
          <p:nvPr/>
        </p:nvSpPr>
        <p:spPr>
          <a:xfrm>
            <a:off x="6217920" y="4133088"/>
            <a:ext cx="2286000" cy="274320"/>
          </a:xfrm>
          <a:prstGeom prst="rect">
            <a:avLst/>
          </a:prstGeom>
          <a:noFill/>
        </p:spPr>
        <p:txBody>
          <a:bodyPr wrap="square" lIns="0" tIns="0" rIns="0" bIns="0" rtlCol="0" anchor="t"/>
          <a:lstStyle/>
          <a:p>
            <a:pPr marL="0" indent="0">
              <a:buNone/>
            </a:pPr>
            <a:r>
              <a:rPr lang="en-US" sz="1100" dirty="0">
                <a:solidFill>
                  <a:srgbClr val="CBD5E1"/>
                </a:solidFill>
                <a:latin typeface="Calibri" panose="020F0502020204030204" pitchFamily="34" charset="0"/>
                <a:ea typeface="Calibri" panose="020F0502020204030204" pitchFamily="34" charset="-122"/>
                <a:cs typeface="Calibri" panose="020F0502020204030204" pitchFamily="34" charset="-120"/>
              </a:rPr>
              <a:t>Suggested rewrites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Introduction</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Why contract analysis matters</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
        <p:nvSpPr>
          <p:cNvPr id="7" name="Shape 5"/>
          <p:cNvSpPr/>
          <p:nvPr/>
        </p:nvSpPr>
        <p:spPr>
          <a:xfrm>
            <a:off x="548640" y="1463040"/>
            <a:ext cx="2514600" cy="2926080"/>
          </a:xfrm>
          <a:prstGeom prst="roundRect">
            <a:avLst>
              <a:gd name="adj" fmla="val 2909"/>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731520" y="1645920"/>
            <a:ext cx="457200" cy="54864"/>
          </a:xfrm>
          <a:prstGeom prst="rect">
            <a:avLst/>
          </a:prstGeom>
          <a:solidFill>
            <a:srgbClr val="14B8A6"/>
          </a:solidFill>
          <a:ln w="12700">
            <a:solidFill>
              <a:srgbClr val="14B8A6"/>
            </a:solidFill>
            <a:prstDash val="solid"/>
          </a:ln>
        </p:spPr>
        <p:txBody>
          <a:bodyPr/>
          <a:p/>
        </p:txBody>
      </p:sp>
      <p:sp>
        <p:nvSpPr>
          <p:cNvPr id="9" name="Text 7"/>
          <p:cNvSpPr txBox="1"/>
          <p:nvPr/>
        </p:nvSpPr>
        <p:spPr>
          <a:xfrm>
            <a:off x="731520" y="1783080"/>
            <a:ext cx="2148840" cy="320040"/>
          </a:xfrm>
          <a:prstGeom prst="rect">
            <a:avLst/>
          </a:prstGeom>
          <a:noFill/>
        </p:spPr>
        <p:txBody>
          <a:bodyPr wrap="square" lIns="0" tIns="0" rIns="0" bIns="0" rtlCol="0" anchor="t"/>
          <a:lstStyle/>
          <a:p>
            <a:pPr marL="0" indent="0">
              <a:buNone/>
            </a:pPr>
            <a:r>
              <a:rPr lang="en-US" sz="1500" b="1" dirty="0">
                <a:solidFill>
                  <a:srgbClr val="0B1B3B"/>
                </a:solidFill>
                <a:latin typeface="Calibri" panose="020F0502020204030204" pitchFamily="34" charset="0"/>
                <a:ea typeface="Calibri" panose="020F0502020204030204" pitchFamily="34" charset="-122"/>
                <a:cs typeface="Calibri" panose="020F0502020204030204" pitchFamily="34" charset="-120"/>
              </a:rPr>
              <a:t>Contracts Everywhere</a:t>
            </a:r>
            <a:endParaRPr lang="en-US" sz="1500" dirty="0"/>
          </a:p>
        </p:txBody>
      </p:sp>
      <p:sp>
        <p:nvSpPr>
          <p:cNvPr id="10" name="Text 8"/>
          <p:cNvSpPr txBox="1"/>
          <p:nvPr/>
        </p:nvSpPr>
        <p:spPr>
          <a:xfrm>
            <a:off x="731520" y="2121408"/>
            <a:ext cx="2148840" cy="2148840"/>
          </a:xfrm>
          <a:prstGeom prst="rect">
            <a:avLst/>
          </a:prstGeom>
          <a:noFill/>
        </p:spPr>
        <p:txBody>
          <a:bodyPr wrap="square" lIns="0" tIns="0" rIns="0" bIns="0" rtlCol="0" anchor="t"/>
          <a:lstStyle/>
          <a:p>
            <a:pPr marL="0" indent="0">
              <a:buNone/>
            </a:pPr>
            <a:r>
              <a:rPr lang="en-US" sz="1200" dirty="0">
                <a:solidFill>
                  <a:srgbClr val="5B6B85"/>
                </a:solidFill>
                <a:latin typeface="Calibri" panose="020F0502020204030204" pitchFamily="34" charset="0"/>
                <a:ea typeface="Calibri" panose="020F0502020204030204" pitchFamily="34" charset="-122"/>
                <a:cs typeface="Calibri" panose="020F0502020204030204" pitchFamily="34" charset="-120"/>
              </a:rPr>
              <a:t>Employment, vendor, rental and service agreements shape every business and personal commitment.</a:t>
            </a:r>
            <a:endParaRPr lang="en-US" sz="1200" dirty="0"/>
          </a:p>
        </p:txBody>
      </p:sp>
      <p:sp>
        <p:nvSpPr>
          <p:cNvPr id="11" name="Shape 9"/>
          <p:cNvSpPr/>
          <p:nvPr/>
        </p:nvSpPr>
        <p:spPr>
          <a:xfrm>
            <a:off x="3246120" y="1463040"/>
            <a:ext cx="2514600" cy="2926080"/>
          </a:xfrm>
          <a:prstGeom prst="roundRect">
            <a:avLst>
              <a:gd name="adj" fmla="val 2909"/>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2" name="Shape 10"/>
          <p:cNvSpPr/>
          <p:nvPr/>
        </p:nvSpPr>
        <p:spPr>
          <a:xfrm>
            <a:off x="3429000" y="1645920"/>
            <a:ext cx="457200" cy="54864"/>
          </a:xfrm>
          <a:prstGeom prst="rect">
            <a:avLst/>
          </a:prstGeom>
          <a:solidFill>
            <a:srgbClr val="F59E0B"/>
          </a:solidFill>
          <a:ln w="12700">
            <a:solidFill>
              <a:srgbClr val="F59E0B"/>
            </a:solidFill>
            <a:prstDash val="solid"/>
          </a:ln>
        </p:spPr>
        <p:txBody>
          <a:bodyPr/>
          <a:p/>
        </p:txBody>
      </p:sp>
      <p:sp>
        <p:nvSpPr>
          <p:cNvPr id="13" name="Text 11"/>
          <p:cNvSpPr txBox="1"/>
          <p:nvPr/>
        </p:nvSpPr>
        <p:spPr>
          <a:xfrm>
            <a:off x="3429000" y="1783080"/>
            <a:ext cx="2148840" cy="320040"/>
          </a:xfrm>
          <a:prstGeom prst="rect">
            <a:avLst/>
          </a:prstGeom>
          <a:noFill/>
        </p:spPr>
        <p:txBody>
          <a:bodyPr wrap="square" lIns="0" tIns="0" rIns="0" bIns="0" rtlCol="0" anchor="t"/>
          <a:lstStyle/>
          <a:p>
            <a:pPr marL="0" indent="0">
              <a:buNone/>
            </a:pPr>
            <a:r>
              <a:rPr lang="en-US" sz="1500" b="1" dirty="0">
                <a:solidFill>
                  <a:srgbClr val="0B1B3B"/>
                </a:solidFill>
                <a:latin typeface="Calibri" panose="020F0502020204030204" pitchFamily="34" charset="0"/>
                <a:ea typeface="Calibri" panose="020F0502020204030204" pitchFamily="34" charset="-122"/>
                <a:cs typeface="Calibri" panose="020F0502020204030204" pitchFamily="34" charset="-120"/>
              </a:rPr>
              <a:t>Hard to Read</a:t>
            </a:r>
            <a:endParaRPr lang="en-US" sz="1500" dirty="0"/>
          </a:p>
        </p:txBody>
      </p:sp>
      <p:sp>
        <p:nvSpPr>
          <p:cNvPr id="14" name="Text 12"/>
          <p:cNvSpPr txBox="1"/>
          <p:nvPr/>
        </p:nvSpPr>
        <p:spPr>
          <a:xfrm>
            <a:off x="3429000" y="2121408"/>
            <a:ext cx="2148840" cy="2148840"/>
          </a:xfrm>
          <a:prstGeom prst="rect">
            <a:avLst/>
          </a:prstGeom>
          <a:noFill/>
        </p:spPr>
        <p:txBody>
          <a:bodyPr wrap="square" lIns="0" tIns="0" rIns="0" bIns="0" rtlCol="0" anchor="t"/>
          <a:lstStyle/>
          <a:p>
            <a:pPr marL="0" indent="0">
              <a:buNone/>
            </a:pPr>
            <a:r>
              <a:rPr lang="en-US" sz="1200" dirty="0">
                <a:solidFill>
                  <a:srgbClr val="5B6B85"/>
                </a:solidFill>
                <a:latin typeface="Calibri" panose="020F0502020204030204" pitchFamily="34" charset="0"/>
                <a:ea typeface="Calibri" panose="020F0502020204030204" pitchFamily="34" charset="-122"/>
                <a:cs typeface="Calibri" panose="020F0502020204030204" pitchFamily="34" charset="-120"/>
              </a:rPr>
              <a:t>Long legal language hides penalties, auto-renewals, liability and one-sided terms.</a:t>
            </a:r>
            <a:endParaRPr lang="en-US" sz="1200" dirty="0"/>
          </a:p>
        </p:txBody>
      </p:sp>
      <p:sp>
        <p:nvSpPr>
          <p:cNvPr id="15" name="Shape 13"/>
          <p:cNvSpPr/>
          <p:nvPr/>
        </p:nvSpPr>
        <p:spPr>
          <a:xfrm>
            <a:off x="5943600" y="1463040"/>
            <a:ext cx="2514600" cy="2926080"/>
          </a:xfrm>
          <a:prstGeom prst="roundRect">
            <a:avLst>
              <a:gd name="adj" fmla="val 2909"/>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6" name="Shape 14"/>
          <p:cNvSpPr/>
          <p:nvPr/>
        </p:nvSpPr>
        <p:spPr>
          <a:xfrm>
            <a:off x="6126480" y="1645920"/>
            <a:ext cx="457200" cy="54864"/>
          </a:xfrm>
          <a:prstGeom prst="rect">
            <a:avLst/>
          </a:prstGeom>
          <a:solidFill>
            <a:srgbClr val="8B5CF6"/>
          </a:solidFill>
          <a:ln w="12700">
            <a:solidFill>
              <a:srgbClr val="8B5CF6"/>
            </a:solidFill>
            <a:prstDash val="solid"/>
          </a:ln>
        </p:spPr>
        <p:txBody>
          <a:bodyPr/>
          <a:p/>
        </p:txBody>
      </p:sp>
      <p:sp>
        <p:nvSpPr>
          <p:cNvPr id="17" name="Text 15"/>
          <p:cNvSpPr txBox="1"/>
          <p:nvPr/>
        </p:nvSpPr>
        <p:spPr>
          <a:xfrm>
            <a:off x="6126480" y="1783080"/>
            <a:ext cx="2148840" cy="320040"/>
          </a:xfrm>
          <a:prstGeom prst="rect">
            <a:avLst/>
          </a:prstGeom>
          <a:noFill/>
        </p:spPr>
        <p:txBody>
          <a:bodyPr wrap="square" lIns="0" tIns="0" rIns="0" bIns="0" rtlCol="0" anchor="t"/>
          <a:lstStyle/>
          <a:p>
            <a:pPr marL="0" indent="0">
              <a:buNone/>
            </a:pPr>
            <a:r>
              <a:rPr lang="en-US" sz="1500" b="1" dirty="0">
                <a:solidFill>
                  <a:srgbClr val="0B1B3B"/>
                </a:solidFill>
                <a:latin typeface="Calibri" panose="020F0502020204030204" pitchFamily="34" charset="0"/>
                <a:ea typeface="Calibri" panose="020F0502020204030204" pitchFamily="34" charset="-122"/>
                <a:cs typeface="Calibri" panose="020F0502020204030204" pitchFamily="34" charset="-120"/>
              </a:rPr>
              <a:t>AI + NLP Helps</a:t>
            </a:r>
            <a:endParaRPr lang="en-US" sz="1500" dirty="0"/>
          </a:p>
        </p:txBody>
      </p:sp>
      <p:sp>
        <p:nvSpPr>
          <p:cNvPr id="18" name="Text 16"/>
          <p:cNvSpPr txBox="1"/>
          <p:nvPr/>
        </p:nvSpPr>
        <p:spPr>
          <a:xfrm>
            <a:off x="6126480" y="2121408"/>
            <a:ext cx="2148840" cy="2148840"/>
          </a:xfrm>
          <a:prstGeom prst="rect">
            <a:avLst/>
          </a:prstGeom>
          <a:noFill/>
        </p:spPr>
        <p:txBody>
          <a:bodyPr wrap="square" lIns="0" tIns="0" rIns="0" bIns="0" rtlCol="0" anchor="t"/>
          <a:lstStyle/>
          <a:p>
            <a:pPr marL="0" indent="0">
              <a:buNone/>
            </a:pPr>
            <a:r>
              <a:rPr lang="en-US" sz="1200" dirty="0">
                <a:solidFill>
                  <a:srgbClr val="5B6B85"/>
                </a:solidFill>
                <a:latin typeface="Calibri" panose="020F0502020204030204" pitchFamily="34" charset="0"/>
                <a:ea typeface="Calibri" panose="020F0502020204030204" pitchFamily="34" charset="-122"/>
                <a:cs typeface="Calibri" panose="020F0502020204030204" pitchFamily="34" charset="-120"/>
              </a:rPr>
              <a:t>Language models can read, classify and explain clauses in seconds, in plain words.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Existing System</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How contracts are reviewed today</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
        <p:nvSpPr>
          <p:cNvPr id="7" name="Shape 5"/>
          <p:cNvSpPr/>
          <p:nvPr/>
        </p:nvSpPr>
        <p:spPr>
          <a:xfrm>
            <a:off x="548640" y="1371600"/>
            <a:ext cx="8046720" cy="685800"/>
          </a:xfrm>
          <a:prstGeom prst="roundRect">
            <a:avLst>
              <a:gd name="adj" fmla="val 10667"/>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548640" y="1371600"/>
            <a:ext cx="91440" cy="685800"/>
          </a:xfrm>
          <a:prstGeom prst="rect">
            <a:avLst/>
          </a:prstGeom>
          <a:solidFill>
            <a:srgbClr val="EF4444"/>
          </a:solidFill>
          <a:ln w="12700">
            <a:solidFill>
              <a:srgbClr val="EF4444"/>
            </a:solidFill>
            <a:prstDash val="solid"/>
          </a:ln>
        </p:spPr>
        <p:txBody>
          <a:bodyPr/>
          <a:p/>
        </p:txBody>
      </p:sp>
      <p:sp>
        <p:nvSpPr>
          <p:cNvPr id="9" name="Text 7"/>
          <p:cNvSpPr txBox="1"/>
          <p:nvPr/>
        </p:nvSpPr>
        <p:spPr>
          <a:xfrm>
            <a:off x="822960" y="1371600"/>
            <a:ext cx="2651760" cy="685800"/>
          </a:xfrm>
          <a:prstGeom prst="rect">
            <a:avLst/>
          </a:prstGeom>
          <a:noFill/>
        </p:spPr>
        <p:txBody>
          <a:bodyPr wrap="square" lIns="0" tIns="0" rIns="0" bIns="0" rtlCol="0" anchor="ctr"/>
          <a:lstStyle/>
          <a:p>
            <a:pPr marL="0" indent="0">
              <a:buNone/>
            </a:pPr>
            <a:r>
              <a:rPr lang="en-US" sz="1400" b="1" dirty="0">
                <a:solidFill>
                  <a:srgbClr val="0B1B3B"/>
                </a:solidFill>
                <a:latin typeface="Calibri" panose="020F0502020204030204" pitchFamily="34" charset="0"/>
                <a:ea typeface="Calibri" panose="020F0502020204030204" pitchFamily="34" charset="-122"/>
                <a:cs typeface="Calibri" panose="020F0502020204030204" pitchFamily="34" charset="-120"/>
              </a:rPr>
              <a:t>Manual reading</a:t>
            </a:r>
            <a:endParaRPr lang="en-US" sz="1400" dirty="0"/>
          </a:p>
        </p:txBody>
      </p:sp>
      <p:sp>
        <p:nvSpPr>
          <p:cNvPr id="10" name="Text 8"/>
          <p:cNvSpPr txBox="1"/>
          <p:nvPr/>
        </p:nvSpPr>
        <p:spPr>
          <a:xfrm>
            <a:off x="3566160" y="1371600"/>
            <a:ext cx="4937760" cy="685800"/>
          </a:xfrm>
          <a:prstGeom prst="rect">
            <a:avLst/>
          </a:prstGeom>
          <a:noFill/>
        </p:spPr>
        <p:txBody>
          <a:bodyPr wrap="square" lIns="0" tIns="0" rIns="0" bIns="0" rtlCol="0" anchor="ctr"/>
          <a:lstStyle/>
          <a:p>
            <a:pPr marL="0" indent="0">
              <a:buNone/>
            </a:pPr>
            <a:r>
              <a:rPr lang="en-US" sz="1200" dirty="0">
                <a:solidFill>
                  <a:srgbClr val="5B6B85"/>
                </a:solidFill>
                <a:latin typeface="Calibri" panose="020F0502020204030204" pitchFamily="34" charset="0"/>
                <a:ea typeface="Calibri" panose="020F0502020204030204" pitchFamily="34" charset="-122"/>
                <a:cs typeface="Calibri" panose="020F0502020204030204" pitchFamily="34" charset="-120"/>
              </a:rPr>
              <a:t>Slow, tiring and error-prone on long agreements</a:t>
            </a:r>
            <a:endParaRPr lang="en-US" sz="1200" dirty="0"/>
          </a:p>
        </p:txBody>
      </p:sp>
      <p:sp>
        <p:nvSpPr>
          <p:cNvPr id="11" name="Shape 9"/>
          <p:cNvSpPr/>
          <p:nvPr/>
        </p:nvSpPr>
        <p:spPr>
          <a:xfrm>
            <a:off x="548640" y="2194560"/>
            <a:ext cx="8046720" cy="685800"/>
          </a:xfrm>
          <a:prstGeom prst="roundRect">
            <a:avLst>
              <a:gd name="adj" fmla="val 10667"/>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12" name="Shape 10"/>
          <p:cNvSpPr/>
          <p:nvPr/>
        </p:nvSpPr>
        <p:spPr>
          <a:xfrm>
            <a:off x="548640" y="2194560"/>
            <a:ext cx="91440" cy="685800"/>
          </a:xfrm>
          <a:prstGeom prst="rect">
            <a:avLst/>
          </a:prstGeom>
          <a:solidFill>
            <a:srgbClr val="EF4444"/>
          </a:solidFill>
          <a:ln w="12700">
            <a:solidFill>
              <a:srgbClr val="EF4444"/>
            </a:solidFill>
            <a:prstDash val="solid"/>
          </a:ln>
        </p:spPr>
        <p:txBody>
          <a:bodyPr/>
          <a:p/>
        </p:txBody>
      </p:sp>
      <p:sp>
        <p:nvSpPr>
          <p:cNvPr id="13" name="Text 11"/>
          <p:cNvSpPr txBox="1"/>
          <p:nvPr/>
        </p:nvSpPr>
        <p:spPr>
          <a:xfrm>
            <a:off x="822960" y="2194560"/>
            <a:ext cx="2651760" cy="685800"/>
          </a:xfrm>
          <a:prstGeom prst="rect">
            <a:avLst/>
          </a:prstGeom>
          <a:noFill/>
        </p:spPr>
        <p:txBody>
          <a:bodyPr wrap="square" lIns="0" tIns="0" rIns="0" bIns="0" rtlCol="0" anchor="ctr"/>
          <a:lstStyle/>
          <a:p>
            <a:pPr marL="0" indent="0">
              <a:buNone/>
            </a:pPr>
            <a:r>
              <a:rPr lang="en-US" sz="1400" b="1" dirty="0">
                <a:solidFill>
                  <a:srgbClr val="0B1B3B"/>
                </a:solidFill>
                <a:latin typeface="Calibri" panose="020F0502020204030204" pitchFamily="34" charset="0"/>
                <a:ea typeface="Calibri" panose="020F0502020204030204" pitchFamily="34" charset="-122"/>
                <a:cs typeface="Calibri" panose="020F0502020204030204" pitchFamily="34" charset="-120"/>
              </a:rPr>
              <a:t>Keyword search / Ctrl+F</a:t>
            </a:r>
            <a:endParaRPr lang="en-US" sz="1400" dirty="0"/>
          </a:p>
        </p:txBody>
      </p:sp>
      <p:sp>
        <p:nvSpPr>
          <p:cNvPr id="14" name="Text 12"/>
          <p:cNvSpPr txBox="1"/>
          <p:nvPr/>
        </p:nvSpPr>
        <p:spPr>
          <a:xfrm>
            <a:off x="3566160" y="2194560"/>
            <a:ext cx="4937760" cy="685800"/>
          </a:xfrm>
          <a:prstGeom prst="rect">
            <a:avLst/>
          </a:prstGeom>
          <a:noFill/>
        </p:spPr>
        <p:txBody>
          <a:bodyPr wrap="square" lIns="0" tIns="0" rIns="0" bIns="0" rtlCol="0" anchor="ctr"/>
          <a:lstStyle/>
          <a:p>
            <a:pPr marL="0" indent="0">
              <a:buNone/>
            </a:pPr>
            <a:r>
              <a:rPr lang="en-US" sz="1200" dirty="0">
                <a:solidFill>
                  <a:srgbClr val="5B6B85"/>
                </a:solidFill>
                <a:latin typeface="Calibri" panose="020F0502020204030204" pitchFamily="34" charset="0"/>
                <a:ea typeface="Calibri" panose="020F0502020204030204" pitchFamily="34" charset="-122"/>
                <a:cs typeface="Calibri" panose="020F0502020204030204" pitchFamily="34" charset="-120"/>
              </a:rPr>
              <a:t>Finds words but not meaning, risk or contradictions</a:t>
            </a:r>
            <a:endParaRPr lang="en-US" sz="1200" dirty="0"/>
          </a:p>
        </p:txBody>
      </p:sp>
      <p:sp>
        <p:nvSpPr>
          <p:cNvPr id="15" name="Shape 13"/>
          <p:cNvSpPr/>
          <p:nvPr/>
        </p:nvSpPr>
        <p:spPr>
          <a:xfrm>
            <a:off x="548640" y="3017520"/>
            <a:ext cx="8046720" cy="685800"/>
          </a:xfrm>
          <a:prstGeom prst="roundRect">
            <a:avLst>
              <a:gd name="adj" fmla="val 10667"/>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16" name="Shape 14"/>
          <p:cNvSpPr/>
          <p:nvPr/>
        </p:nvSpPr>
        <p:spPr>
          <a:xfrm>
            <a:off x="548640" y="3017520"/>
            <a:ext cx="91440" cy="685800"/>
          </a:xfrm>
          <a:prstGeom prst="rect">
            <a:avLst/>
          </a:prstGeom>
          <a:solidFill>
            <a:srgbClr val="EF4444"/>
          </a:solidFill>
          <a:ln w="12700">
            <a:solidFill>
              <a:srgbClr val="EF4444"/>
            </a:solidFill>
            <a:prstDash val="solid"/>
          </a:ln>
        </p:spPr>
        <p:txBody>
          <a:bodyPr/>
          <a:p/>
        </p:txBody>
      </p:sp>
      <p:sp>
        <p:nvSpPr>
          <p:cNvPr id="17" name="Text 15"/>
          <p:cNvSpPr txBox="1"/>
          <p:nvPr/>
        </p:nvSpPr>
        <p:spPr>
          <a:xfrm>
            <a:off x="822960" y="3017520"/>
            <a:ext cx="2651760" cy="685800"/>
          </a:xfrm>
          <a:prstGeom prst="rect">
            <a:avLst/>
          </a:prstGeom>
          <a:noFill/>
        </p:spPr>
        <p:txBody>
          <a:bodyPr wrap="square" lIns="0" tIns="0" rIns="0" bIns="0" rtlCol="0" anchor="ctr"/>
          <a:lstStyle/>
          <a:p>
            <a:pPr marL="0" indent="0">
              <a:buNone/>
            </a:pPr>
            <a:r>
              <a:rPr lang="en-US" sz="1400" b="1" dirty="0">
                <a:solidFill>
                  <a:srgbClr val="0B1B3B"/>
                </a:solidFill>
                <a:latin typeface="Calibri" panose="020F0502020204030204" pitchFamily="34" charset="0"/>
                <a:ea typeface="Calibri" panose="020F0502020204030204" pitchFamily="34" charset="-122"/>
                <a:cs typeface="Calibri" panose="020F0502020204030204" pitchFamily="34" charset="-120"/>
              </a:rPr>
              <a:t>Lawyer-only review</a:t>
            </a:r>
            <a:endParaRPr lang="en-US" sz="1400" dirty="0"/>
          </a:p>
        </p:txBody>
      </p:sp>
      <p:sp>
        <p:nvSpPr>
          <p:cNvPr id="18" name="Text 16"/>
          <p:cNvSpPr txBox="1"/>
          <p:nvPr/>
        </p:nvSpPr>
        <p:spPr>
          <a:xfrm>
            <a:off x="3566160" y="3017520"/>
            <a:ext cx="4937760" cy="685800"/>
          </a:xfrm>
          <a:prstGeom prst="rect">
            <a:avLst/>
          </a:prstGeom>
          <a:noFill/>
        </p:spPr>
        <p:txBody>
          <a:bodyPr wrap="square" lIns="0" tIns="0" rIns="0" bIns="0" rtlCol="0" anchor="ctr"/>
          <a:lstStyle/>
          <a:p>
            <a:pPr marL="0" indent="0">
              <a:buNone/>
            </a:pPr>
            <a:r>
              <a:rPr lang="en-US" sz="1200" dirty="0">
                <a:solidFill>
                  <a:srgbClr val="5B6B85"/>
                </a:solidFill>
                <a:latin typeface="Calibri" panose="020F0502020204030204" pitchFamily="34" charset="0"/>
                <a:ea typeface="Calibri" panose="020F0502020204030204" pitchFamily="34" charset="-122"/>
                <a:cs typeface="Calibri" panose="020F0502020204030204" pitchFamily="34" charset="-120"/>
              </a:rPr>
              <a:t>Accurate but costly and not accessible for individuals or small firms</a:t>
            </a:r>
            <a:endParaRPr lang="en-US" sz="1200" dirty="0"/>
          </a:p>
        </p:txBody>
      </p:sp>
      <p:sp>
        <p:nvSpPr>
          <p:cNvPr id="19" name="Shape 17"/>
          <p:cNvSpPr/>
          <p:nvPr/>
        </p:nvSpPr>
        <p:spPr>
          <a:xfrm>
            <a:off x="548640" y="3840480"/>
            <a:ext cx="8046720" cy="685800"/>
          </a:xfrm>
          <a:prstGeom prst="roundRect">
            <a:avLst>
              <a:gd name="adj" fmla="val 10667"/>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20" name="Shape 18"/>
          <p:cNvSpPr/>
          <p:nvPr/>
        </p:nvSpPr>
        <p:spPr>
          <a:xfrm>
            <a:off x="548640" y="3840480"/>
            <a:ext cx="91440" cy="685800"/>
          </a:xfrm>
          <a:prstGeom prst="rect">
            <a:avLst/>
          </a:prstGeom>
          <a:solidFill>
            <a:srgbClr val="EF4444"/>
          </a:solidFill>
          <a:ln w="12700">
            <a:solidFill>
              <a:srgbClr val="EF4444"/>
            </a:solidFill>
            <a:prstDash val="solid"/>
          </a:ln>
        </p:spPr>
        <p:txBody>
          <a:bodyPr/>
          <a:p/>
        </p:txBody>
      </p:sp>
      <p:sp>
        <p:nvSpPr>
          <p:cNvPr id="21" name="Text 19"/>
          <p:cNvSpPr txBox="1"/>
          <p:nvPr/>
        </p:nvSpPr>
        <p:spPr>
          <a:xfrm>
            <a:off x="822960" y="3840480"/>
            <a:ext cx="2651760" cy="685800"/>
          </a:xfrm>
          <a:prstGeom prst="rect">
            <a:avLst/>
          </a:prstGeom>
          <a:noFill/>
        </p:spPr>
        <p:txBody>
          <a:bodyPr wrap="square" lIns="0" tIns="0" rIns="0" bIns="0" rtlCol="0" anchor="ctr"/>
          <a:lstStyle/>
          <a:p>
            <a:pPr marL="0" indent="0">
              <a:buNone/>
            </a:pPr>
            <a:r>
              <a:rPr lang="en-US" sz="1400" b="1" dirty="0">
                <a:solidFill>
                  <a:srgbClr val="0B1B3B"/>
                </a:solidFill>
                <a:latin typeface="Calibri" panose="020F0502020204030204" pitchFamily="34" charset="0"/>
                <a:ea typeface="Calibri" panose="020F0502020204030204" pitchFamily="34" charset="-122"/>
                <a:cs typeface="Calibri" panose="020F0502020204030204" pitchFamily="34" charset="-120"/>
              </a:rPr>
              <a:t>Generic summarizers</a:t>
            </a:r>
            <a:endParaRPr lang="en-US" sz="1400" dirty="0"/>
          </a:p>
        </p:txBody>
      </p:sp>
      <p:sp>
        <p:nvSpPr>
          <p:cNvPr id="22" name="Text 20"/>
          <p:cNvSpPr txBox="1"/>
          <p:nvPr/>
        </p:nvSpPr>
        <p:spPr>
          <a:xfrm>
            <a:off x="3566160" y="3840480"/>
            <a:ext cx="4937760" cy="685800"/>
          </a:xfrm>
          <a:prstGeom prst="rect">
            <a:avLst/>
          </a:prstGeom>
          <a:noFill/>
        </p:spPr>
        <p:txBody>
          <a:bodyPr wrap="square" lIns="0" tIns="0" rIns="0" bIns="0" rtlCol="0" anchor="ctr"/>
          <a:lstStyle/>
          <a:p>
            <a:pPr marL="0" indent="0">
              <a:buNone/>
            </a:pPr>
            <a:r>
              <a:rPr lang="en-US" sz="1200" dirty="0">
                <a:solidFill>
                  <a:srgbClr val="5B6B85"/>
                </a:solidFill>
                <a:latin typeface="Calibri" panose="020F0502020204030204" pitchFamily="34" charset="0"/>
                <a:ea typeface="Calibri" panose="020F0502020204030204" pitchFamily="34" charset="-122"/>
                <a:cs typeface="Calibri" panose="020F0502020204030204" pitchFamily="34" charset="-120"/>
              </a:rPr>
              <a:t>Summarize text but give no risk score or safer wording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Signing without understanding is risky</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
        <p:nvSpPr>
          <p:cNvPr id="7" name="Shape 5"/>
          <p:cNvSpPr/>
          <p:nvPr/>
        </p:nvSpPr>
        <p:spPr>
          <a:xfrm>
            <a:off x="548640" y="1371600"/>
            <a:ext cx="8046720" cy="914400"/>
          </a:xfrm>
          <a:prstGeom prst="roundRect">
            <a:avLst>
              <a:gd name="adj" fmla="val 8000"/>
            </a:avLst>
          </a:prstGeom>
          <a:solidFill>
            <a:srgbClr val="0B1B3B"/>
          </a:solidFill>
          <a:ln w="12700">
            <a:solidFill>
              <a:srgbClr val="0B1B3B"/>
            </a:solidFill>
            <a:prstDash val="solid"/>
          </a:ln>
        </p:spPr>
        <p:txBody>
          <a:bodyPr/>
          <a:p/>
        </p:txBody>
      </p:sp>
      <p:sp>
        <p:nvSpPr>
          <p:cNvPr id="8" name="Text 6"/>
          <p:cNvSpPr txBox="1"/>
          <p:nvPr/>
        </p:nvSpPr>
        <p:spPr>
          <a:xfrm>
            <a:off x="822960" y="1371600"/>
            <a:ext cx="7498080" cy="914400"/>
          </a:xfrm>
          <a:prstGeom prst="rect">
            <a:avLst/>
          </a:prstGeom>
          <a:noFill/>
        </p:spPr>
        <p:txBody>
          <a:bodyPr wrap="square" lIns="0" tIns="0" rIns="0" bIns="0" rtlCol="0" anchor="ctr"/>
          <a:lstStyle/>
          <a:p>
            <a:pPr marL="0" indent="0">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There is no fast, affordable way for non-experts to spot hidden risks in a contract before signing it.</a:t>
            </a:r>
            <a:endParaRPr lang="en-US" sz="1700" dirty="0"/>
          </a:p>
        </p:txBody>
      </p:sp>
      <p:sp>
        <p:nvSpPr>
          <p:cNvPr id="9" name="Shape 7"/>
          <p:cNvSpPr/>
          <p:nvPr/>
        </p:nvSpPr>
        <p:spPr>
          <a:xfrm>
            <a:off x="548640" y="2560320"/>
            <a:ext cx="1874520" cy="2011680"/>
          </a:xfrm>
          <a:prstGeom prst="roundRect">
            <a:avLst>
              <a:gd name="adj" fmla="val 3902"/>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0" name="Shape 8"/>
          <p:cNvSpPr/>
          <p:nvPr/>
        </p:nvSpPr>
        <p:spPr>
          <a:xfrm>
            <a:off x="731520" y="2743200"/>
            <a:ext cx="457200" cy="54864"/>
          </a:xfrm>
          <a:prstGeom prst="rect">
            <a:avLst/>
          </a:prstGeom>
          <a:solidFill>
            <a:srgbClr val="EF4444"/>
          </a:solidFill>
          <a:ln w="12700">
            <a:solidFill>
              <a:srgbClr val="EF4444"/>
            </a:solidFill>
            <a:prstDash val="solid"/>
          </a:ln>
        </p:spPr>
        <p:txBody>
          <a:bodyPr/>
          <a:p/>
        </p:txBody>
      </p:sp>
      <p:sp>
        <p:nvSpPr>
          <p:cNvPr id="11" name="Text 9"/>
          <p:cNvSpPr txBox="1"/>
          <p:nvPr/>
        </p:nvSpPr>
        <p:spPr>
          <a:xfrm>
            <a:off x="731520" y="2880360"/>
            <a:ext cx="150876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Hidden Risks</a:t>
            </a:r>
            <a:endParaRPr lang="en-US" sz="1300" dirty="0"/>
          </a:p>
        </p:txBody>
      </p:sp>
      <p:sp>
        <p:nvSpPr>
          <p:cNvPr id="12" name="Text 10"/>
          <p:cNvSpPr txBox="1"/>
          <p:nvPr/>
        </p:nvSpPr>
        <p:spPr>
          <a:xfrm>
            <a:off x="731520" y="3218688"/>
            <a:ext cx="1508760" cy="123444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Unusual and unfavorable clauses go unnoticed</a:t>
            </a:r>
            <a:endParaRPr lang="en-US" sz="1100" dirty="0"/>
          </a:p>
        </p:txBody>
      </p:sp>
      <p:sp>
        <p:nvSpPr>
          <p:cNvPr id="13" name="Shape 11"/>
          <p:cNvSpPr/>
          <p:nvPr/>
        </p:nvSpPr>
        <p:spPr>
          <a:xfrm>
            <a:off x="2560320" y="2560320"/>
            <a:ext cx="1874520" cy="2011680"/>
          </a:xfrm>
          <a:prstGeom prst="roundRect">
            <a:avLst>
              <a:gd name="adj" fmla="val 3902"/>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4" name="Shape 12"/>
          <p:cNvSpPr/>
          <p:nvPr/>
        </p:nvSpPr>
        <p:spPr>
          <a:xfrm>
            <a:off x="2743200" y="2743200"/>
            <a:ext cx="457200" cy="54864"/>
          </a:xfrm>
          <a:prstGeom prst="rect">
            <a:avLst/>
          </a:prstGeom>
          <a:solidFill>
            <a:srgbClr val="F59E0B"/>
          </a:solidFill>
          <a:ln w="12700">
            <a:solidFill>
              <a:srgbClr val="F59E0B"/>
            </a:solidFill>
            <a:prstDash val="solid"/>
          </a:ln>
        </p:spPr>
        <p:txBody>
          <a:bodyPr/>
          <a:p/>
        </p:txBody>
      </p:sp>
      <p:sp>
        <p:nvSpPr>
          <p:cNvPr id="15" name="Text 13"/>
          <p:cNvSpPr txBox="1"/>
          <p:nvPr/>
        </p:nvSpPr>
        <p:spPr>
          <a:xfrm>
            <a:off x="2743200" y="2880360"/>
            <a:ext cx="150876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Financial Exposure</a:t>
            </a:r>
            <a:endParaRPr lang="en-US" sz="1300" dirty="0"/>
          </a:p>
        </p:txBody>
      </p:sp>
      <p:sp>
        <p:nvSpPr>
          <p:cNvPr id="16" name="Text 14"/>
          <p:cNvSpPr txBox="1"/>
          <p:nvPr/>
        </p:nvSpPr>
        <p:spPr>
          <a:xfrm>
            <a:off x="2743200" y="3218688"/>
            <a:ext cx="1508760" cy="123444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Penalties and obligations are buried in text</a:t>
            </a:r>
            <a:endParaRPr lang="en-US" sz="1100" dirty="0"/>
          </a:p>
        </p:txBody>
      </p:sp>
      <p:sp>
        <p:nvSpPr>
          <p:cNvPr id="17" name="Shape 15"/>
          <p:cNvSpPr/>
          <p:nvPr/>
        </p:nvSpPr>
        <p:spPr>
          <a:xfrm>
            <a:off x="4572000" y="2560320"/>
            <a:ext cx="1874520" cy="2011680"/>
          </a:xfrm>
          <a:prstGeom prst="roundRect">
            <a:avLst>
              <a:gd name="adj" fmla="val 3902"/>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8" name="Shape 16"/>
          <p:cNvSpPr/>
          <p:nvPr/>
        </p:nvSpPr>
        <p:spPr>
          <a:xfrm>
            <a:off x="4754880" y="2743200"/>
            <a:ext cx="457200" cy="54864"/>
          </a:xfrm>
          <a:prstGeom prst="rect">
            <a:avLst/>
          </a:prstGeom>
          <a:solidFill>
            <a:srgbClr val="8B5CF6"/>
          </a:solidFill>
          <a:ln w="12700">
            <a:solidFill>
              <a:srgbClr val="8B5CF6"/>
            </a:solidFill>
            <a:prstDash val="solid"/>
          </a:ln>
        </p:spPr>
        <p:txBody>
          <a:bodyPr/>
          <a:p/>
        </p:txBody>
      </p:sp>
      <p:sp>
        <p:nvSpPr>
          <p:cNvPr id="19" name="Text 17"/>
          <p:cNvSpPr txBox="1"/>
          <p:nvPr/>
        </p:nvSpPr>
        <p:spPr>
          <a:xfrm>
            <a:off x="4754880" y="2880360"/>
            <a:ext cx="150876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Inconsistencies</a:t>
            </a:r>
            <a:endParaRPr lang="en-US" sz="1300" dirty="0"/>
          </a:p>
        </p:txBody>
      </p:sp>
      <p:sp>
        <p:nvSpPr>
          <p:cNvPr id="20" name="Text 18"/>
          <p:cNvSpPr txBox="1"/>
          <p:nvPr/>
        </p:nvSpPr>
        <p:spPr>
          <a:xfrm>
            <a:off x="4754880" y="3218688"/>
            <a:ext cx="1508760" cy="123444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Contradictions and undefined terms slip through</a:t>
            </a:r>
            <a:endParaRPr lang="en-US" sz="1100" dirty="0"/>
          </a:p>
        </p:txBody>
      </p:sp>
      <p:sp>
        <p:nvSpPr>
          <p:cNvPr id="21" name="Shape 19"/>
          <p:cNvSpPr/>
          <p:nvPr/>
        </p:nvSpPr>
        <p:spPr>
          <a:xfrm>
            <a:off x="6583680" y="2560320"/>
            <a:ext cx="1874520" cy="2011680"/>
          </a:xfrm>
          <a:prstGeom prst="roundRect">
            <a:avLst>
              <a:gd name="adj" fmla="val 3902"/>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2" name="Shape 20"/>
          <p:cNvSpPr/>
          <p:nvPr/>
        </p:nvSpPr>
        <p:spPr>
          <a:xfrm>
            <a:off x="6766560" y="2743200"/>
            <a:ext cx="457200" cy="54864"/>
          </a:xfrm>
          <a:prstGeom prst="rect">
            <a:avLst/>
          </a:prstGeom>
          <a:solidFill>
            <a:srgbClr val="14B8A6"/>
          </a:solidFill>
          <a:ln w="12700">
            <a:solidFill>
              <a:srgbClr val="14B8A6"/>
            </a:solidFill>
            <a:prstDash val="solid"/>
          </a:ln>
        </p:spPr>
        <p:txBody>
          <a:bodyPr/>
          <a:p/>
        </p:txBody>
      </p:sp>
      <p:sp>
        <p:nvSpPr>
          <p:cNvPr id="23" name="Text 21"/>
          <p:cNvSpPr txBox="1"/>
          <p:nvPr/>
        </p:nvSpPr>
        <p:spPr>
          <a:xfrm>
            <a:off x="6766560" y="2880360"/>
            <a:ext cx="150876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No Guidance</a:t>
            </a:r>
            <a:endParaRPr lang="en-US" sz="1300" dirty="0"/>
          </a:p>
        </p:txBody>
      </p:sp>
      <p:sp>
        <p:nvSpPr>
          <p:cNvPr id="24" name="Text 22"/>
          <p:cNvSpPr txBox="1"/>
          <p:nvPr/>
        </p:nvSpPr>
        <p:spPr>
          <a:xfrm>
            <a:off x="6766560" y="3218688"/>
            <a:ext cx="1508760" cy="123444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Users are not told what a safer clause looks like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Proposed Solution (Our Contribution)</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An end-to-end AI contract review pipeline</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
        <p:nvSpPr>
          <p:cNvPr id="7" name="Shape 5"/>
          <p:cNvSpPr/>
          <p:nvPr/>
        </p:nvSpPr>
        <p:spPr>
          <a:xfrm>
            <a:off x="548640" y="1371600"/>
            <a:ext cx="1874520" cy="1234440"/>
          </a:xfrm>
          <a:prstGeom prst="roundRect">
            <a:avLst>
              <a:gd name="adj" fmla="val 5926"/>
            </a:avLst>
          </a:prstGeom>
          <a:solidFill>
            <a:srgbClr val="FFFFFF"/>
          </a:solidFill>
          <a:ln w="19050">
            <a:solidFill>
              <a:srgbClr val="14B8A6"/>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1234440" y="1481328"/>
            <a:ext cx="457200" cy="457200"/>
          </a:xfrm>
          <a:prstGeom prst="ellipse">
            <a:avLst/>
          </a:prstGeom>
          <a:solidFill>
            <a:srgbClr val="0B1B3B"/>
          </a:solidFill>
          <a:ln w="12700">
            <a:solidFill>
              <a:srgbClr val="0B1B3B"/>
            </a:solidFill>
            <a:prstDash val="solid"/>
          </a:ln>
        </p:spPr>
        <p:txBody>
          <a:bodyPr/>
          <a:p/>
        </p:txBody>
      </p:sp>
      <p:sp>
        <p:nvSpPr>
          <p:cNvPr id="9" name="Text 7"/>
          <p:cNvSpPr txBox="1"/>
          <p:nvPr/>
        </p:nvSpPr>
        <p:spPr>
          <a:xfrm>
            <a:off x="1234440" y="1481328"/>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500" dirty="0"/>
          </a:p>
        </p:txBody>
      </p:sp>
      <p:sp>
        <p:nvSpPr>
          <p:cNvPr id="10" name="Text 8"/>
          <p:cNvSpPr txBox="1"/>
          <p:nvPr/>
        </p:nvSpPr>
        <p:spPr>
          <a:xfrm>
            <a:off x="548640" y="2011680"/>
            <a:ext cx="1874520" cy="274320"/>
          </a:xfrm>
          <a:prstGeom prst="rect">
            <a:avLst/>
          </a:prstGeom>
          <a:noFill/>
        </p:spPr>
        <p:txBody>
          <a:bodyPr wrap="square" lIns="0" tIns="0" rIns="0" bIns="0" rtlCol="0" anchor="t"/>
          <a:lstStyle/>
          <a:p>
            <a:pPr marL="0" indent="0" algn="ctr">
              <a:buNone/>
            </a:pPr>
            <a:r>
              <a:rPr lang="en-US" sz="1400" b="1" dirty="0">
                <a:solidFill>
                  <a:srgbClr val="0B1B3B"/>
                </a:solidFill>
                <a:latin typeface="Calibri" panose="020F0502020204030204" pitchFamily="34" charset="0"/>
                <a:ea typeface="Calibri" panose="020F0502020204030204" pitchFamily="34" charset="-122"/>
                <a:cs typeface="Calibri" panose="020F0502020204030204" pitchFamily="34" charset="-120"/>
              </a:rPr>
              <a:t>Upload</a:t>
            </a:r>
            <a:endParaRPr lang="en-US" sz="1400" dirty="0"/>
          </a:p>
        </p:txBody>
      </p:sp>
      <p:sp>
        <p:nvSpPr>
          <p:cNvPr id="11" name="Text 9"/>
          <p:cNvSpPr txBox="1"/>
          <p:nvPr/>
        </p:nvSpPr>
        <p:spPr>
          <a:xfrm>
            <a:off x="548640" y="2286000"/>
            <a:ext cx="1874520" cy="256032"/>
          </a:xfrm>
          <a:prstGeom prst="rect">
            <a:avLst/>
          </a:prstGeom>
          <a:noFill/>
        </p:spPr>
        <p:txBody>
          <a:bodyPr wrap="square" lIns="0" tIns="0" rIns="0" bIns="0" rtlCol="0" anchor="t"/>
          <a:lstStyle/>
          <a:p>
            <a:pPr marL="0" indent="0" algn="ctr">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PDF / DOCX</a:t>
            </a:r>
            <a:endParaRPr lang="en-US" sz="1100" dirty="0"/>
          </a:p>
        </p:txBody>
      </p:sp>
      <p:sp>
        <p:nvSpPr>
          <p:cNvPr id="12" name="Shape 10"/>
          <p:cNvSpPr/>
          <p:nvPr/>
        </p:nvSpPr>
        <p:spPr>
          <a:xfrm>
            <a:off x="2651760" y="1371600"/>
            <a:ext cx="1874520" cy="1234440"/>
          </a:xfrm>
          <a:prstGeom prst="roundRect">
            <a:avLst>
              <a:gd name="adj" fmla="val 5926"/>
            </a:avLst>
          </a:prstGeom>
          <a:solidFill>
            <a:srgbClr val="FFFFFF"/>
          </a:solidFill>
          <a:ln w="19050">
            <a:solidFill>
              <a:srgbClr val="14B8A6"/>
            </a:solidFill>
            <a:prstDash val="solid"/>
          </a:ln>
          <a:effectLst>
            <a:outerShdw blurRad="76200" dist="25400" dir="5400000" algn="bl" rotWithShape="0">
              <a:srgbClr val="000000">
                <a:alpha val="12000"/>
              </a:srgbClr>
            </a:outerShdw>
          </a:effectLst>
        </p:spPr>
        <p:txBody>
          <a:bodyPr/>
          <a:p/>
        </p:txBody>
      </p:sp>
      <p:sp>
        <p:nvSpPr>
          <p:cNvPr id="13" name="Shape 11"/>
          <p:cNvSpPr/>
          <p:nvPr/>
        </p:nvSpPr>
        <p:spPr>
          <a:xfrm>
            <a:off x="3337560" y="1481328"/>
            <a:ext cx="457200" cy="457200"/>
          </a:xfrm>
          <a:prstGeom prst="ellipse">
            <a:avLst/>
          </a:prstGeom>
          <a:solidFill>
            <a:srgbClr val="0B1B3B"/>
          </a:solidFill>
          <a:ln w="12700">
            <a:solidFill>
              <a:srgbClr val="0B1B3B"/>
            </a:solidFill>
            <a:prstDash val="solid"/>
          </a:ln>
        </p:spPr>
        <p:txBody>
          <a:bodyPr/>
          <a:p/>
        </p:txBody>
      </p:sp>
      <p:sp>
        <p:nvSpPr>
          <p:cNvPr id="14" name="Text 12"/>
          <p:cNvSpPr txBox="1"/>
          <p:nvPr/>
        </p:nvSpPr>
        <p:spPr>
          <a:xfrm>
            <a:off x="3337560" y="1481328"/>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500" dirty="0"/>
          </a:p>
        </p:txBody>
      </p:sp>
      <p:sp>
        <p:nvSpPr>
          <p:cNvPr id="15" name="Text 13"/>
          <p:cNvSpPr txBox="1"/>
          <p:nvPr/>
        </p:nvSpPr>
        <p:spPr>
          <a:xfrm>
            <a:off x="2651760" y="2011680"/>
            <a:ext cx="1874520" cy="274320"/>
          </a:xfrm>
          <a:prstGeom prst="rect">
            <a:avLst/>
          </a:prstGeom>
          <a:noFill/>
        </p:spPr>
        <p:txBody>
          <a:bodyPr wrap="square" lIns="0" tIns="0" rIns="0" bIns="0" rtlCol="0" anchor="t"/>
          <a:lstStyle/>
          <a:p>
            <a:pPr marL="0" indent="0" algn="ctr">
              <a:buNone/>
            </a:pPr>
            <a:r>
              <a:rPr lang="en-US" sz="1400" b="1" dirty="0">
                <a:solidFill>
                  <a:srgbClr val="0B1B3B"/>
                </a:solidFill>
                <a:latin typeface="Calibri" panose="020F0502020204030204" pitchFamily="34" charset="0"/>
                <a:ea typeface="Calibri" panose="020F0502020204030204" pitchFamily="34" charset="-122"/>
                <a:cs typeface="Calibri" panose="020F0502020204030204" pitchFamily="34" charset="-120"/>
              </a:rPr>
              <a:t>Parse</a:t>
            </a:r>
            <a:endParaRPr lang="en-US" sz="1400" dirty="0"/>
          </a:p>
        </p:txBody>
      </p:sp>
      <p:sp>
        <p:nvSpPr>
          <p:cNvPr id="16" name="Text 14"/>
          <p:cNvSpPr txBox="1"/>
          <p:nvPr/>
        </p:nvSpPr>
        <p:spPr>
          <a:xfrm>
            <a:off x="2651760" y="2286000"/>
            <a:ext cx="1874520" cy="256032"/>
          </a:xfrm>
          <a:prstGeom prst="rect">
            <a:avLst/>
          </a:prstGeom>
          <a:noFill/>
        </p:spPr>
        <p:txBody>
          <a:bodyPr wrap="square" lIns="0" tIns="0" rIns="0" bIns="0" rtlCol="0" anchor="t"/>
          <a:lstStyle/>
          <a:p>
            <a:pPr marL="0" indent="0" algn="ctr">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Text + OCR</a:t>
            </a:r>
            <a:endParaRPr lang="en-US" sz="1100" dirty="0"/>
          </a:p>
        </p:txBody>
      </p:sp>
      <p:sp>
        <p:nvSpPr>
          <p:cNvPr id="17" name="Shape 15"/>
          <p:cNvSpPr/>
          <p:nvPr/>
        </p:nvSpPr>
        <p:spPr>
          <a:xfrm>
            <a:off x="4754880" y="1371600"/>
            <a:ext cx="1874520" cy="1234440"/>
          </a:xfrm>
          <a:prstGeom prst="roundRect">
            <a:avLst>
              <a:gd name="adj" fmla="val 5926"/>
            </a:avLst>
          </a:prstGeom>
          <a:solidFill>
            <a:srgbClr val="FFFFFF"/>
          </a:solidFill>
          <a:ln w="19050">
            <a:solidFill>
              <a:srgbClr val="14B8A6"/>
            </a:solidFill>
            <a:prstDash val="solid"/>
          </a:ln>
          <a:effectLst>
            <a:outerShdw blurRad="76200" dist="25400" dir="5400000" algn="bl" rotWithShape="0">
              <a:srgbClr val="000000">
                <a:alpha val="12000"/>
              </a:srgbClr>
            </a:outerShdw>
          </a:effectLst>
        </p:spPr>
        <p:txBody>
          <a:bodyPr/>
          <a:p/>
        </p:txBody>
      </p:sp>
      <p:sp>
        <p:nvSpPr>
          <p:cNvPr id="18" name="Shape 16"/>
          <p:cNvSpPr/>
          <p:nvPr/>
        </p:nvSpPr>
        <p:spPr>
          <a:xfrm>
            <a:off x="5440680" y="1481328"/>
            <a:ext cx="457200" cy="457200"/>
          </a:xfrm>
          <a:prstGeom prst="ellipse">
            <a:avLst/>
          </a:prstGeom>
          <a:solidFill>
            <a:srgbClr val="0B1B3B"/>
          </a:solidFill>
          <a:ln w="12700">
            <a:solidFill>
              <a:srgbClr val="0B1B3B"/>
            </a:solidFill>
            <a:prstDash val="solid"/>
          </a:ln>
        </p:spPr>
        <p:txBody>
          <a:bodyPr/>
          <a:p/>
        </p:txBody>
      </p:sp>
      <p:sp>
        <p:nvSpPr>
          <p:cNvPr id="19" name="Text 17"/>
          <p:cNvSpPr txBox="1"/>
          <p:nvPr/>
        </p:nvSpPr>
        <p:spPr>
          <a:xfrm>
            <a:off x="5440680" y="1481328"/>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500" dirty="0"/>
          </a:p>
        </p:txBody>
      </p:sp>
      <p:sp>
        <p:nvSpPr>
          <p:cNvPr id="20" name="Text 18"/>
          <p:cNvSpPr txBox="1"/>
          <p:nvPr/>
        </p:nvSpPr>
        <p:spPr>
          <a:xfrm>
            <a:off x="4754880" y="2011680"/>
            <a:ext cx="1874520" cy="274320"/>
          </a:xfrm>
          <a:prstGeom prst="rect">
            <a:avLst/>
          </a:prstGeom>
          <a:noFill/>
        </p:spPr>
        <p:txBody>
          <a:bodyPr wrap="square" lIns="0" tIns="0" rIns="0" bIns="0" rtlCol="0" anchor="t"/>
          <a:lstStyle/>
          <a:p>
            <a:pPr marL="0" indent="0" algn="ctr">
              <a:buNone/>
            </a:pPr>
            <a:r>
              <a:rPr lang="en-US" sz="1400" b="1" dirty="0">
                <a:solidFill>
                  <a:srgbClr val="0B1B3B"/>
                </a:solidFill>
                <a:latin typeface="Calibri" panose="020F0502020204030204" pitchFamily="34" charset="0"/>
                <a:ea typeface="Calibri" panose="020F0502020204030204" pitchFamily="34" charset="-122"/>
                <a:cs typeface="Calibri" panose="020F0502020204030204" pitchFamily="34" charset="-120"/>
              </a:rPr>
              <a:t>Analyze</a:t>
            </a:r>
            <a:endParaRPr lang="en-US" sz="1400" dirty="0"/>
          </a:p>
        </p:txBody>
      </p:sp>
      <p:sp>
        <p:nvSpPr>
          <p:cNvPr id="21" name="Text 19"/>
          <p:cNvSpPr txBox="1"/>
          <p:nvPr/>
        </p:nvSpPr>
        <p:spPr>
          <a:xfrm>
            <a:off x="4754880" y="2286000"/>
            <a:ext cx="1874520" cy="256032"/>
          </a:xfrm>
          <a:prstGeom prst="rect">
            <a:avLst/>
          </a:prstGeom>
          <a:noFill/>
        </p:spPr>
        <p:txBody>
          <a:bodyPr wrap="square" lIns="0" tIns="0" rIns="0" bIns="0" rtlCol="0" anchor="t"/>
          <a:lstStyle/>
          <a:p>
            <a:pPr marL="0" indent="0" algn="ctr">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Clauses + risk</a:t>
            </a:r>
            <a:endParaRPr lang="en-US" sz="1100" dirty="0"/>
          </a:p>
        </p:txBody>
      </p:sp>
      <p:sp>
        <p:nvSpPr>
          <p:cNvPr id="22" name="Shape 20"/>
          <p:cNvSpPr/>
          <p:nvPr/>
        </p:nvSpPr>
        <p:spPr>
          <a:xfrm>
            <a:off x="6858000" y="1371600"/>
            <a:ext cx="1874520" cy="1234440"/>
          </a:xfrm>
          <a:prstGeom prst="roundRect">
            <a:avLst>
              <a:gd name="adj" fmla="val 5926"/>
            </a:avLst>
          </a:prstGeom>
          <a:solidFill>
            <a:srgbClr val="FFFFFF"/>
          </a:solidFill>
          <a:ln w="19050">
            <a:solidFill>
              <a:srgbClr val="14B8A6"/>
            </a:solidFill>
            <a:prstDash val="solid"/>
          </a:ln>
          <a:effectLst>
            <a:outerShdw blurRad="76200" dist="25400" dir="5400000" algn="bl" rotWithShape="0">
              <a:srgbClr val="000000">
                <a:alpha val="12000"/>
              </a:srgbClr>
            </a:outerShdw>
          </a:effectLst>
        </p:spPr>
        <p:txBody>
          <a:bodyPr/>
          <a:p/>
        </p:txBody>
      </p:sp>
      <p:sp>
        <p:nvSpPr>
          <p:cNvPr id="23" name="Shape 21"/>
          <p:cNvSpPr/>
          <p:nvPr/>
        </p:nvSpPr>
        <p:spPr>
          <a:xfrm>
            <a:off x="7543800" y="1481328"/>
            <a:ext cx="457200" cy="457200"/>
          </a:xfrm>
          <a:prstGeom prst="ellipse">
            <a:avLst/>
          </a:prstGeom>
          <a:solidFill>
            <a:srgbClr val="0B1B3B"/>
          </a:solidFill>
          <a:ln w="12700">
            <a:solidFill>
              <a:srgbClr val="0B1B3B"/>
            </a:solidFill>
            <a:prstDash val="solid"/>
          </a:ln>
        </p:spPr>
        <p:txBody>
          <a:bodyPr/>
          <a:p/>
        </p:txBody>
      </p:sp>
      <p:sp>
        <p:nvSpPr>
          <p:cNvPr id="24" name="Text 22"/>
          <p:cNvSpPr txBox="1"/>
          <p:nvPr/>
        </p:nvSpPr>
        <p:spPr>
          <a:xfrm>
            <a:off x="7543800" y="1481328"/>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500" dirty="0"/>
          </a:p>
        </p:txBody>
      </p:sp>
      <p:sp>
        <p:nvSpPr>
          <p:cNvPr id="25" name="Text 23"/>
          <p:cNvSpPr txBox="1"/>
          <p:nvPr/>
        </p:nvSpPr>
        <p:spPr>
          <a:xfrm>
            <a:off x="6858000" y="2011680"/>
            <a:ext cx="1874520" cy="274320"/>
          </a:xfrm>
          <a:prstGeom prst="rect">
            <a:avLst/>
          </a:prstGeom>
          <a:noFill/>
        </p:spPr>
        <p:txBody>
          <a:bodyPr wrap="square" lIns="0" tIns="0" rIns="0" bIns="0" rtlCol="0" anchor="t"/>
          <a:lstStyle/>
          <a:p>
            <a:pPr marL="0" indent="0" algn="ctr">
              <a:buNone/>
            </a:pPr>
            <a:r>
              <a:rPr lang="en-US" sz="1400" b="1" dirty="0">
                <a:solidFill>
                  <a:srgbClr val="0B1B3B"/>
                </a:solidFill>
                <a:latin typeface="Calibri" panose="020F0502020204030204" pitchFamily="34" charset="0"/>
                <a:ea typeface="Calibri" panose="020F0502020204030204" pitchFamily="34" charset="-122"/>
                <a:cs typeface="Calibri" panose="020F0502020204030204" pitchFamily="34" charset="-120"/>
              </a:rPr>
              <a:t>Report</a:t>
            </a:r>
            <a:endParaRPr lang="en-US" sz="1400" dirty="0"/>
          </a:p>
        </p:txBody>
      </p:sp>
      <p:sp>
        <p:nvSpPr>
          <p:cNvPr id="26" name="Text 24"/>
          <p:cNvSpPr txBox="1"/>
          <p:nvPr/>
        </p:nvSpPr>
        <p:spPr>
          <a:xfrm>
            <a:off x="6858000" y="2286000"/>
            <a:ext cx="1874520" cy="256032"/>
          </a:xfrm>
          <a:prstGeom prst="rect">
            <a:avLst/>
          </a:prstGeom>
          <a:noFill/>
        </p:spPr>
        <p:txBody>
          <a:bodyPr wrap="square" lIns="0" tIns="0" rIns="0" bIns="0" rtlCol="0" anchor="t"/>
          <a:lstStyle/>
          <a:p>
            <a:pPr marL="0" indent="0" algn="ctr">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Score + fixes</a:t>
            </a:r>
            <a:endParaRPr lang="en-US" sz="1100" dirty="0"/>
          </a:p>
        </p:txBody>
      </p:sp>
      <p:sp>
        <p:nvSpPr>
          <p:cNvPr id="27" name="Shape 25"/>
          <p:cNvSpPr/>
          <p:nvPr/>
        </p:nvSpPr>
        <p:spPr>
          <a:xfrm>
            <a:off x="548640" y="2834640"/>
            <a:ext cx="2514600" cy="1737360"/>
          </a:xfrm>
          <a:prstGeom prst="roundRect">
            <a:avLst>
              <a:gd name="adj" fmla="val 4211"/>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8" name="Shape 26"/>
          <p:cNvSpPr/>
          <p:nvPr/>
        </p:nvSpPr>
        <p:spPr>
          <a:xfrm>
            <a:off x="731520" y="3017520"/>
            <a:ext cx="457200" cy="54864"/>
          </a:xfrm>
          <a:prstGeom prst="rect">
            <a:avLst/>
          </a:prstGeom>
          <a:solidFill>
            <a:srgbClr val="14B8A6"/>
          </a:solidFill>
          <a:ln w="12700">
            <a:solidFill>
              <a:srgbClr val="14B8A6"/>
            </a:solidFill>
            <a:prstDash val="solid"/>
          </a:ln>
        </p:spPr>
        <p:txBody>
          <a:bodyPr/>
          <a:p/>
        </p:txBody>
      </p:sp>
      <p:sp>
        <p:nvSpPr>
          <p:cNvPr id="29" name="Text 27"/>
          <p:cNvSpPr txBox="1"/>
          <p:nvPr/>
        </p:nvSpPr>
        <p:spPr>
          <a:xfrm>
            <a:off x="731520" y="315468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Clause-level insight</a:t>
            </a:r>
            <a:endParaRPr lang="en-US" sz="1300" dirty="0"/>
          </a:p>
        </p:txBody>
      </p:sp>
      <p:sp>
        <p:nvSpPr>
          <p:cNvPr id="30" name="Text 28"/>
          <p:cNvSpPr txBox="1"/>
          <p:nvPr/>
        </p:nvSpPr>
        <p:spPr>
          <a:xfrm>
            <a:off x="731520" y="3493008"/>
            <a:ext cx="2148840" cy="96012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Each clause gets a risk level, confidence and explanation</a:t>
            </a:r>
            <a:endParaRPr lang="en-US" sz="1100" dirty="0"/>
          </a:p>
        </p:txBody>
      </p:sp>
      <p:sp>
        <p:nvSpPr>
          <p:cNvPr id="31" name="Shape 29"/>
          <p:cNvSpPr/>
          <p:nvPr/>
        </p:nvSpPr>
        <p:spPr>
          <a:xfrm>
            <a:off x="3246120" y="2834640"/>
            <a:ext cx="2514600" cy="1737360"/>
          </a:xfrm>
          <a:prstGeom prst="roundRect">
            <a:avLst>
              <a:gd name="adj" fmla="val 4211"/>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32" name="Shape 30"/>
          <p:cNvSpPr/>
          <p:nvPr/>
        </p:nvSpPr>
        <p:spPr>
          <a:xfrm>
            <a:off x="3429000" y="3017520"/>
            <a:ext cx="457200" cy="54864"/>
          </a:xfrm>
          <a:prstGeom prst="rect">
            <a:avLst/>
          </a:prstGeom>
          <a:solidFill>
            <a:srgbClr val="F59E0B"/>
          </a:solidFill>
          <a:ln w="12700">
            <a:solidFill>
              <a:srgbClr val="F59E0B"/>
            </a:solidFill>
            <a:prstDash val="solid"/>
          </a:ln>
        </p:spPr>
        <p:txBody>
          <a:bodyPr/>
          <a:p/>
        </p:txBody>
      </p:sp>
      <p:sp>
        <p:nvSpPr>
          <p:cNvPr id="33" name="Text 31"/>
          <p:cNvSpPr txBox="1"/>
          <p:nvPr/>
        </p:nvSpPr>
        <p:spPr>
          <a:xfrm>
            <a:off x="3429000" y="315468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Safer alternatives</a:t>
            </a:r>
            <a:endParaRPr lang="en-US" sz="1300" dirty="0"/>
          </a:p>
        </p:txBody>
      </p:sp>
      <p:sp>
        <p:nvSpPr>
          <p:cNvPr id="34" name="Text 32"/>
          <p:cNvSpPr txBox="1"/>
          <p:nvPr/>
        </p:nvSpPr>
        <p:spPr>
          <a:xfrm>
            <a:off x="3429000" y="3493008"/>
            <a:ext cx="2148840" cy="96012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AI-suggested rewrite for every risky clause</a:t>
            </a:r>
            <a:endParaRPr lang="en-US" sz="1100" dirty="0"/>
          </a:p>
        </p:txBody>
      </p:sp>
      <p:sp>
        <p:nvSpPr>
          <p:cNvPr id="35" name="Shape 33"/>
          <p:cNvSpPr/>
          <p:nvPr/>
        </p:nvSpPr>
        <p:spPr>
          <a:xfrm>
            <a:off x="5943600" y="2834640"/>
            <a:ext cx="2514600" cy="1737360"/>
          </a:xfrm>
          <a:prstGeom prst="roundRect">
            <a:avLst>
              <a:gd name="adj" fmla="val 4211"/>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36" name="Shape 34"/>
          <p:cNvSpPr/>
          <p:nvPr/>
        </p:nvSpPr>
        <p:spPr>
          <a:xfrm>
            <a:off x="6126480" y="3017520"/>
            <a:ext cx="457200" cy="54864"/>
          </a:xfrm>
          <a:prstGeom prst="rect">
            <a:avLst/>
          </a:prstGeom>
          <a:solidFill>
            <a:srgbClr val="8B5CF6"/>
          </a:solidFill>
          <a:ln w="12700">
            <a:solidFill>
              <a:srgbClr val="8B5CF6"/>
            </a:solidFill>
            <a:prstDash val="solid"/>
          </a:ln>
        </p:spPr>
        <p:txBody>
          <a:bodyPr/>
          <a:p/>
        </p:txBody>
      </p:sp>
      <p:sp>
        <p:nvSpPr>
          <p:cNvPr id="37" name="Text 35"/>
          <p:cNvSpPr txBox="1"/>
          <p:nvPr/>
        </p:nvSpPr>
        <p:spPr>
          <a:xfrm>
            <a:off x="6126480" y="315468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Scalable backend</a:t>
            </a:r>
            <a:endParaRPr lang="en-US" sz="1300" dirty="0"/>
          </a:p>
        </p:txBody>
      </p:sp>
      <p:sp>
        <p:nvSpPr>
          <p:cNvPr id="38" name="Text 36"/>
          <p:cNvSpPr txBox="1"/>
          <p:nvPr/>
        </p:nvSpPr>
        <p:spPr>
          <a:xfrm>
            <a:off x="6126480" y="3493008"/>
            <a:ext cx="2148840" cy="96012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Microservices with SQL, NoSQL and vector search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Objectives</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What the project sets out to achieve</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
        <p:nvSpPr>
          <p:cNvPr id="7" name="Shape 5"/>
          <p:cNvSpPr/>
          <p:nvPr/>
        </p:nvSpPr>
        <p:spPr>
          <a:xfrm>
            <a:off x="548640" y="1371600"/>
            <a:ext cx="3931920" cy="896112"/>
          </a:xfrm>
          <a:prstGeom prst="roundRect">
            <a:avLst>
              <a:gd name="adj" fmla="val 8163"/>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685800" y="1591056"/>
            <a:ext cx="457200" cy="457200"/>
          </a:xfrm>
          <a:prstGeom prst="ellipse">
            <a:avLst/>
          </a:prstGeom>
          <a:solidFill>
            <a:srgbClr val="14B8A6"/>
          </a:solidFill>
          <a:ln w="12700">
            <a:solidFill>
              <a:srgbClr val="FFFFFF"/>
            </a:solidFill>
            <a:prstDash val="solid"/>
          </a:ln>
        </p:spPr>
        <p:txBody>
          <a:bodyPr/>
          <a:p/>
        </p:txBody>
      </p:sp>
      <p:sp>
        <p:nvSpPr>
          <p:cNvPr id="9" name="Text 7"/>
          <p:cNvSpPr txBox="1"/>
          <p:nvPr/>
        </p:nvSpPr>
        <p:spPr>
          <a:xfrm>
            <a:off x="685800" y="1591056"/>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500" dirty="0"/>
          </a:p>
        </p:txBody>
      </p:sp>
      <p:sp>
        <p:nvSpPr>
          <p:cNvPr id="10" name="Text 8"/>
          <p:cNvSpPr txBox="1"/>
          <p:nvPr/>
        </p:nvSpPr>
        <p:spPr>
          <a:xfrm>
            <a:off x="1280160" y="1371600"/>
            <a:ext cx="3108960" cy="896112"/>
          </a:xfrm>
          <a:prstGeom prst="rect">
            <a:avLst/>
          </a:prstGeom>
          <a:noFill/>
        </p:spPr>
        <p:txBody>
          <a:bodyPr wrap="square" lIns="0" tIns="0" rIns="0" bIns="0" rtlCol="0" anchor="ctr"/>
          <a:lstStyle/>
          <a:p>
            <a:pPr marL="0" indent="0">
              <a:buNone/>
            </a:pPr>
            <a:r>
              <a:rPr lang="en-US" sz="1150" dirty="0">
                <a:solidFill>
                  <a:srgbClr val="0B1B3B"/>
                </a:solidFill>
                <a:latin typeface="Calibri" panose="020F0502020204030204" pitchFamily="34" charset="0"/>
                <a:ea typeface="Calibri" panose="020F0502020204030204" pitchFamily="34" charset="-122"/>
                <a:cs typeface="Calibri" panose="020F0502020204030204" pitchFamily="34" charset="-120"/>
              </a:rPr>
              <a:t>Automatically extract and classify clauses from PDF and DOCX contracts</a:t>
            </a:r>
            <a:endParaRPr lang="en-US" sz="1150" dirty="0"/>
          </a:p>
        </p:txBody>
      </p:sp>
      <p:sp>
        <p:nvSpPr>
          <p:cNvPr id="11" name="Shape 9"/>
          <p:cNvSpPr/>
          <p:nvPr/>
        </p:nvSpPr>
        <p:spPr>
          <a:xfrm>
            <a:off x="4663440" y="1371600"/>
            <a:ext cx="3931920" cy="896112"/>
          </a:xfrm>
          <a:prstGeom prst="roundRect">
            <a:avLst>
              <a:gd name="adj" fmla="val 8163"/>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12" name="Shape 10"/>
          <p:cNvSpPr/>
          <p:nvPr/>
        </p:nvSpPr>
        <p:spPr>
          <a:xfrm>
            <a:off x="4800600" y="1591056"/>
            <a:ext cx="457200" cy="457200"/>
          </a:xfrm>
          <a:prstGeom prst="ellipse">
            <a:avLst/>
          </a:prstGeom>
          <a:solidFill>
            <a:srgbClr val="F59E0B"/>
          </a:solidFill>
          <a:ln w="12700">
            <a:solidFill>
              <a:srgbClr val="FFFFFF"/>
            </a:solidFill>
            <a:prstDash val="solid"/>
          </a:ln>
        </p:spPr>
        <p:txBody>
          <a:bodyPr/>
          <a:p/>
        </p:txBody>
      </p:sp>
      <p:sp>
        <p:nvSpPr>
          <p:cNvPr id="13" name="Text 11"/>
          <p:cNvSpPr txBox="1"/>
          <p:nvPr/>
        </p:nvSpPr>
        <p:spPr>
          <a:xfrm>
            <a:off x="4800600" y="1591056"/>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500" dirty="0"/>
          </a:p>
        </p:txBody>
      </p:sp>
      <p:sp>
        <p:nvSpPr>
          <p:cNvPr id="14" name="Text 12"/>
          <p:cNvSpPr txBox="1"/>
          <p:nvPr/>
        </p:nvSpPr>
        <p:spPr>
          <a:xfrm>
            <a:off x="5394960" y="1371600"/>
            <a:ext cx="3108960" cy="896112"/>
          </a:xfrm>
          <a:prstGeom prst="rect">
            <a:avLst/>
          </a:prstGeom>
          <a:noFill/>
        </p:spPr>
        <p:txBody>
          <a:bodyPr wrap="square" lIns="0" tIns="0" rIns="0" bIns="0" rtlCol="0" anchor="ctr"/>
          <a:lstStyle/>
          <a:p>
            <a:pPr marL="0" indent="0">
              <a:buNone/>
            </a:pPr>
            <a:r>
              <a:rPr lang="en-US" sz="1150" dirty="0">
                <a:solidFill>
                  <a:srgbClr val="0B1B3B"/>
                </a:solidFill>
                <a:latin typeface="Calibri" panose="020F0502020204030204" pitchFamily="34" charset="0"/>
                <a:ea typeface="Calibri" panose="020F0502020204030204" pitchFamily="34" charset="-122"/>
                <a:cs typeface="Calibri" panose="020F0502020204030204" pitchFamily="34" charset="-120"/>
              </a:rPr>
              <a:t>Detect risky, suspicious, contradictory and undefined contract terms</a:t>
            </a:r>
            <a:endParaRPr lang="en-US" sz="1150" dirty="0"/>
          </a:p>
        </p:txBody>
      </p:sp>
      <p:sp>
        <p:nvSpPr>
          <p:cNvPr id="15" name="Shape 13"/>
          <p:cNvSpPr/>
          <p:nvPr/>
        </p:nvSpPr>
        <p:spPr>
          <a:xfrm>
            <a:off x="548640" y="2423160"/>
            <a:ext cx="3931920" cy="896112"/>
          </a:xfrm>
          <a:prstGeom prst="roundRect">
            <a:avLst>
              <a:gd name="adj" fmla="val 8163"/>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16" name="Shape 14"/>
          <p:cNvSpPr/>
          <p:nvPr/>
        </p:nvSpPr>
        <p:spPr>
          <a:xfrm>
            <a:off x="685800" y="2642616"/>
            <a:ext cx="457200" cy="457200"/>
          </a:xfrm>
          <a:prstGeom prst="ellipse">
            <a:avLst/>
          </a:prstGeom>
          <a:solidFill>
            <a:srgbClr val="8B5CF6"/>
          </a:solidFill>
          <a:ln w="12700">
            <a:solidFill>
              <a:srgbClr val="FFFFFF"/>
            </a:solidFill>
            <a:prstDash val="solid"/>
          </a:ln>
        </p:spPr>
        <p:txBody>
          <a:bodyPr/>
          <a:p/>
        </p:txBody>
      </p:sp>
      <p:sp>
        <p:nvSpPr>
          <p:cNvPr id="17" name="Text 15"/>
          <p:cNvSpPr txBox="1"/>
          <p:nvPr/>
        </p:nvSpPr>
        <p:spPr>
          <a:xfrm>
            <a:off x="685800" y="2642616"/>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500" dirty="0"/>
          </a:p>
        </p:txBody>
      </p:sp>
      <p:sp>
        <p:nvSpPr>
          <p:cNvPr id="18" name="Text 16"/>
          <p:cNvSpPr txBox="1"/>
          <p:nvPr/>
        </p:nvSpPr>
        <p:spPr>
          <a:xfrm>
            <a:off x="1280160" y="2423160"/>
            <a:ext cx="3108960" cy="896112"/>
          </a:xfrm>
          <a:prstGeom prst="rect">
            <a:avLst/>
          </a:prstGeom>
          <a:noFill/>
        </p:spPr>
        <p:txBody>
          <a:bodyPr wrap="square" lIns="0" tIns="0" rIns="0" bIns="0" rtlCol="0" anchor="ctr"/>
          <a:lstStyle/>
          <a:p>
            <a:pPr marL="0" indent="0">
              <a:buNone/>
            </a:pPr>
            <a:r>
              <a:rPr lang="en-US" sz="1150" dirty="0">
                <a:solidFill>
                  <a:srgbClr val="0B1B3B"/>
                </a:solidFill>
                <a:latin typeface="Calibri" panose="020F0502020204030204" pitchFamily="34" charset="0"/>
                <a:ea typeface="Calibri" panose="020F0502020204030204" pitchFamily="34" charset="-122"/>
                <a:cs typeface="Calibri" panose="020F0502020204030204" pitchFamily="34" charset="-120"/>
              </a:rPr>
              <a:t>Generate risk levels, confidence scores and an overall contract risk score</a:t>
            </a:r>
            <a:endParaRPr lang="en-US" sz="1150" dirty="0"/>
          </a:p>
        </p:txBody>
      </p:sp>
      <p:sp>
        <p:nvSpPr>
          <p:cNvPr id="19" name="Shape 17"/>
          <p:cNvSpPr/>
          <p:nvPr/>
        </p:nvSpPr>
        <p:spPr>
          <a:xfrm>
            <a:off x="4663440" y="2423160"/>
            <a:ext cx="3931920" cy="896112"/>
          </a:xfrm>
          <a:prstGeom prst="roundRect">
            <a:avLst>
              <a:gd name="adj" fmla="val 8163"/>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20" name="Shape 18"/>
          <p:cNvSpPr/>
          <p:nvPr/>
        </p:nvSpPr>
        <p:spPr>
          <a:xfrm>
            <a:off x="4800600" y="2642616"/>
            <a:ext cx="457200" cy="457200"/>
          </a:xfrm>
          <a:prstGeom prst="ellipse">
            <a:avLst/>
          </a:prstGeom>
          <a:solidFill>
            <a:srgbClr val="3B82F6"/>
          </a:solidFill>
          <a:ln w="12700">
            <a:solidFill>
              <a:srgbClr val="FFFFFF"/>
            </a:solidFill>
            <a:prstDash val="solid"/>
          </a:ln>
        </p:spPr>
        <p:txBody>
          <a:bodyPr/>
          <a:p/>
        </p:txBody>
      </p:sp>
      <p:sp>
        <p:nvSpPr>
          <p:cNvPr id="21" name="Text 19"/>
          <p:cNvSpPr txBox="1"/>
          <p:nvPr/>
        </p:nvSpPr>
        <p:spPr>
          <a:xfrm>
            <a:off x="4800600" y="2642616"/>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500" dirty="0"/>
          </a:p>
        </p:txBody>
      </p:sp>
      <p:sp>
        <p:nvSpPr>
          <p:cNvPr id="22" name="Text 20"/>
          <p:cNvSpPr txBox="1"/>
          <p:nvPr/>
        </p:nvSpPr>
        <p:spPr>
          <a:xfrm>
            <a:off x="5394960" y="2423160"/>
            <a:ext cx="3108960" cy="896112"/>
          </a:xfrm>
          <a:prstGeom prst="rect">
            <a:avLst/>
          </a:prstGeom>
          <a:noFill/>
        </p:spPr>
        <p:txBody>
          <a:bodyPr wrap="square" lIns="0" tIns="0" rIns="0" bIns="0" rtlCol="0" anchor="ctr"/>
          <a:lstStyle/>
          <a:p>
            <a:pPr marL="0" indent="0">
              <a:buNone/>
            </a:pPr>
            <a:r>
              <a:rPr lang="en-US" sz="1150" dirty="0">
                <a:solidFill>
                  <a:srgbClr val="0B1B3B"/>
                </a:solidFill>
                <a:latin typeface="Calibri" panose="020F0502020204030204" pitchFamily="34" charset="0"/>
                <a:ea typeface="Calibri" panose="020F0502020204030204" pitchFamily="34" charset="-122"/>
                <a:cs typeface="Calibri" panose="020F0502020204030204" pitchFamily="34" charset="-120"/>
              </a:rPr>
              <a:t>Explain each risk and suggest a safer alternative clause</a:t>
            </a:r>
            <a:endParaRPr lang="en-US" sz="1150" dirty="0"/>
          </a:p>
        </p:txBody>
      </p:sp>
      <p:sp>
        <p:nvSpPr>
          <p:cNvPr id="23" name="Shape 21"/>
          <p:cNvSpPr/>
          <p:nvPr/>
        </p:nvSpPr>
        <p:spPr>
          <a:xfrm>
            <a:off x="548640" y="3474720"/>
            <a:ext cx="3931920" cy="896112"/>
          </a:xfrm>
          <a:prstGeom prst="roundRect">
            <a:avLst>
              <a:gd name="adj" fmla="val 8163"/>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24" name="Shape 22"/>
          <p:cNvSpPr/>
          <p:nvPr/>
        </p:nvSpPr>
        <p:spPr>
          <a:xfrm>
            <a:off x="685800" y="3694176"/>
            <a:ext cx="457200" cy="457200"/>
          </a:xfrm>
          <a:prstGeom prst="ellipse">
            <a:avLst/>
          </a:prstGeom>
          <a:solidFill>
            <a:srgbClr val="EF4444"/>
          </a:solidFill>
          <a:ln w="12700">
            <a:solidFill>
              <a:srgbClr val="FFFFFF"/>
            </a:solidFill>
            <a:prstDash val="solid"/>
          </a:ln>
        </p:spPr>
        <p:txBody>
          <a:bodyPr/>
          <a:p/>
        </p:txBody>
      </p:sp>
      <p:sp>
        <p:nvSpPr>
          <p:cNvPr id="25" name="Text 23"/>
          <p:cNvSpPr txBox="1"/>
          <p:nvPr/>
        </p:nvSpPr>
        <p:spPr>
          <a:xfrm>
            <a:off x="685800" y="3694176"/>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500" dirty="0"/>
          </a:p>
        </p:txBody>
      </p:sp>
      <p:sp>
        <p:nvSpPr>
          <p:cNvPr id="26" name="Text 24"/>
          <p:cNvSpPr txBox="1"/>
          <p:nvPr/>
        </p:nvSpPr>
        <p:spPr>
          <a:xfrm>
            <a:off x="1280160" y="3474720"/>
            <a:ext cx="3108960" cy="896112"/>
          </a:xfrm>
          <a:prstGeom prst="rect">
            <a:avLst/>
          </a:prstGeom>
          <a:noFill/>
        </p:spPr>
        <p:txBody>
          <a:bodyPr wrap="square" lIns="0" tIns="0" rIns="0" bIns="0" rtlCol="0" anchor="ctr"/>
          <a:lstStyle/>
          <a:p>
            <a:pPr marL="0" indent="0">
              <a:buNone/>
            </a:pPr>
            <a:r>
              <a:rPr lang="en-US" sz="1150" dirty="0">
                <a:solidFill>
                  <a:srgbClr val="0B1B3B"/>
                </a:solidFill>
                <a:latin typeface="Calibri" panose="020F0502020204030204" pitchFamily="34" charset="0"/>
                <a:ea typeface="Calibri" panose="020F0502020204030204" pitchFamily="34" charset="-122"/>
                <a:cs typeface="Calibri" panose="020F0502020204030204" pitchFamily="34" charset="-120"/>
              </a:rPr>
              <a:t>Provide an interactive dashboard with downloadable reports</a:t>
            </a:r>
            <a:endParaRPr lang="en-US" sz="1150" dirty="0"/>
          </a:p>
        </p:txBody>
      </p:sp>
      <p:sp>
        <p:nvSpPr>
          <p:cNvPr id="27" name="Shape 25"/>
          <p:cNvSpPr/>
          <p:nvPr/>
        </p:nvSpPr>
        <p:spPr>
          <a:xfrm>
            <a:off x="4663440" y="3474720"/>
            <a:ext cx="3931920" cy="896112"/>
          </a:xfrm>
          <a:prstGeom prst="roundRect">
            <a:avLst>
              <a:gd name="adj" fmla="val 8163"/>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28" name="Shape 26"/>
          <p:cNvSpPr/>
          <p:nvPr/>
        </p:nvSpPr>
        <p:spPr>
          <a:xfrm>
            <a:off x="4800600" y="3694176"/>
            <a:ext cx="457200" cy="457200"/>
          </a:xfrm>
          <a:prstGeom prst="ellipse">
            <a:avLst/>
          </a:prstGeom>
          <a:solidFill>
            <a:srgbClr val="10B981"/>
          </a:solidFill>
          <a:ln w="12700">
            <a:solidFill>
              <a:srgbClr val="FFFFFF"/>
            </a:solidFill>
            <a:prstDash val="solid"/>
          </a:ln>
        </p:spPr>
        <p:txBody>
          <a:bodyPr/>
          <a:p/>
        </p:txBody>
      </p:sp>
      <p:sp>
        <p:nvSpPr>
          <p:cNvPr id="29" name="Text 27"/>
          <p:cNvSpPr txBox="1"/>
          <p:nvPr/>
        </p:nvSpPr>
        <p:spPr>
          <a:xfrm>
            <a:off x="4800600" y="3694176"/>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500" dirty="0"/>
          </a:p>
        </p:txBody>
      </p:sp>
      <p:sp>
        <p:nvSpPr>
          <p:cNvPr id="30" name="Text 28"/>
          <p:cNvSpPr txBox="1"/>
          <p:nvPr/>
        </p:nvSpPr>
        <p:spPr>
          <a:xfrm>
            <a:off x="5394960" y="3474720"/>
            <a:ext cx="3108960" cy="896112"/>
          </a:xfrm>
          <a:prstGeom prst="rect">
            <a:avLst/>
          </a:prstGeom>
          <a:noFill/>
        </p:spPr>
        <p:txBody>
          <a:bodyPr wrap="square" lIns="0" tIns="0" rIns="0" bIns="0" rtlCol="0" anchor="ctr"/>
          <a:lstStyle/>
          <a:p>
            <a:pPr marL="0" indent="0">
              <a:buNone/>
            </a:pPr>
            <a:r>
              <a:rPr lang="en-US" sz="1150" dirty="0">
                <a:solidFill>
                  <a:srgbClr val="0B1B3B"/>
                </a:solidFill>
                <a:latin typeface="Calibri" panose="020F0502020204030204" pitchFamily="34" charset="0"/>
                <a:ea typeface="Calibri" panose="020F0502020204030204" pitchFamily="34" charset="-122"/>
                <a:cs typeface="Calibri" panose="020F0502020204030204" pitchFamily="34" charset="-120"/>
              </a:rPr>
              <a:t>Build a scalable, secure backend using SQL, NoSQL and microservices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Key Features</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Everything needed for fast, structured preliminary contract review</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9</a:t>
            </a:r>
            <a:endParaRPr lang="en-US" sz="900" dirty="0"/>
          </a:p>
        </p:txBody>
      </p:sp>
      <p:sp>
        <p:nvSpPr>
          <p:cNvPr id="7" name="Shape 5"/>
          <p:cNvSpPr/>
          <p:nvPr/>
        </p:nvSpPr>
        <p:spPr>
          <a:xfrm>
            <a:off x="548640" y="1371600"/>
            <a:ext cx="2514600" cy="1554480"/>
          </a:xfrm>
          <a:prstGeom prst="roundRect">
            <a:avLst>
              <a:gd name="adj" fmla="val 470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731520" y="1554480"/>
            <a:ext cx="457200" cy="54864"/>
          </a:xfrm>
          <a:prstGeom prst="rect">
            <a:avLst/>
          </a:prstGeom>
          <a:solidFill>
            <a:srgbClr val="14B8A6"/>
          </a:solidFill>
          <a:ln w="12700">
            <a:solidFill>
              <a:srgbClr val="14B8A6"/>
            </a:solidFill>
            <a:prstDash val="solid"/>
          </a:ln>
        </p:spPr>
        <p:txBody>
          <a:bodyPr/>
          <a:p/>
        </p:txBody>
      </p:sp>
      <p:sp>
        <p:nvSpPr>
          <p:cNvPr id="9" name="Text 7"/>
          <p:cNvSpPr txBox="1"/>
          <p:nvPr/>
        </p:nvSpPr>
        <p:spPr>
          <a:xfrm>
            <a:off x="731520" y="169164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Clause Extraction</a:t>
            </a:r>
            <a:endParaRPr lang="en-US" sz="1300" dirty="0"/>
          </a:p>
        </p:txBody>
      </p:sp>
      <p:sp>
        <p:nvSpPr>
          <p:cNvPr id="10" name="Text 8"/>
          <p:cNvSpPr txBox="1"/>
          <p:nvPr/>
        </p:nvSpPr>
        <p:spPr>
          <a:xfrm>
            <a:off x="731520" y="2029968"/>
            <a:ext cx="2148840" cy="77724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Payment, termination, liability, IP, renewal, penalties, jurisdiction, privacy</a:t>
            </a:r>
            <a:endParaRPr lang="en-US" sz="1050" dirty="0"/>
          </a:p>
        </p:txBody>
      </p:sp>
      <p:sp>
        <p:nvSpPr>
          <p:cNvPr id="11" name="Shape 9"/>
          <p:cNvSpPr/>
          <p:nvPr/>
        </p:nvSpPr>
        <p:spPr>
          <a:xfrm>
            <a:off x="3246120" y="1371600"/>
            <a:ext cx="2514600" cy="1554480"/>
          </a:xfrm>
          <a:prstGeom prst="roundRect">
            <a:avLst>
              <a:gd name="adj" fmla="val 470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2" name="Shape 10"/>
          <p:cNvSpPr/>
          <p:nvPr/>
        </p:nvSpPr>
        <p:spPr>
          <a:xfrm>
            <a:off x="3429000" y="1554480"/>
            <a:ext cx="457200" cy="54864"/>
          </a:xfrm>
          <a:prstGeom prst="rect">
            <a:avLst/>
          </a:prstGeom>
          <a:solidFill>
            <a:srgbClr val="EF4444"/>
          </a:solidFill>
          <a:ln w="12700">
            <a:solidFill>
              <a:srgbClr val="EF4444"/>
            </a:solidFill>
            <a:prstDash val="solid"/>
          </a:ln>
        </p:spPr>
        <p:txBody>
          <a:bodyPr/>
          <a:p/>
        </p:txBody>
      </p:sp>
      <p:sp>
        <p:nvSpPr>
          <p:cNvPr id="13" name="Text 11"/>
          <p:cNvSpPr txBox="1"/>
          <p:nvPr/>
        </p:nvSpPr>
        <p:spPr>
          <a:xfrm>
            <a:off x="3429000" y="169164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Risk Detection</a:t>
            </a:r>
            <a:endParaRPr lang="en-US" sz="1300" dirty="0"/>
          </a:p>
        </p:txBody>
      </p:sp>
      <p:sp>
        <p:nvSpPr>
          <p:cNvPr id="14" name="Text 12"/>
          <p:cNvSpPr txBox="1"/>
          <p:nvPr/>
        </p:nvSpPr>
        <p:spPr>
          <a:xfrm>
            <a:off x="3429000" y="2029968"/>
            <a:ext cx="2148840" cy="77724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LOW to CRITICAL levels with a confidence score per clause</a:t>
            </a:r>
            <a:endParaRPr lang="en-US" sz="1050" dirty="0"/>
          </a:p>
        </p:txBody>
      </p:sp>
      <p:sp>
        <p:nvSpPr>
          <p:cNvPr id="15" name="Shape 13"/>
          <p:cNvSpPr/>
          <p:nvPr/>
        </p:nvSpPr>
        <p:spPr>
          <a:xfrm>
            <a:off x="5943600" y="1371600"/>
            <a:ext cx="2514600" cy="1554480"/>
          </a:xfrm>
          <a:prstGeom prst="roundRect">
            <a:avLst>
              <a:gd name="adj" fmla="val 470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6" name="Shape 14"/>
          <p:cNvSpPr/>
          <p:nvPr/>
        </p:nvSpPr>
        <p:spPr>
          <a:xfrm>
            <a:off x="6126480" y="1554480"/>
            <a:ext cx="457200" cy="54864"/>
          </a:xfrm>
          <a:prstGeom prst="rect">
            <a:avLst/>
          </a:prstGeom>
          <a:solidFill>
            <a:srgbClr val="F59E0B"/>
          </a:solidFill>
          <a:ln w="12700">
            <a:solidFill>
              <a:srgbClr val="F59E0B"/>
            </a:solidFill>
            <a:prstDash val="solid"/>
          </a:ln>
        </p:spPr>
        <p:txBody>
          <a:bodyPr/>
          <a:p/>
        </p:txBody>
      </p:sp>
      <p:sp>
        <p:nvSpPr>
          <p:cNvPr id="17" name="Text 15"/>
          <p:cNvSpPr txBox="1"/>
          <p:nvPr/>
        </p:nvSpPr>
        <p:spPr>
          <a:xfrm>
            <a:off x="6126480" y="169164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Anomaly &amp; Fraud Alerts</a:t>
            </a:r>
            <a:endParaRPr lang="en-US" sz="1300" dirty="0"/>
          </a:p>
        </p:txBody>
      </p:sp>
      <p:sp>
        <p:nvSpPr>
          <p:cNvPr id="18" name="Text 16"/>
          <p:cNvSpPr txBox="1"/>
          <p:nvPr/>
        </p:nvSpPr>
        <p:spPr>
          <a:xfrm>
            <a:off x="6126480" y="2029968"/>
            <a:ext cx="2148840" cy="77724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Contradictions, undefined terms, conflicting dates, suspicious wording</a:t>
            </a:r>
            <a:endParaRPr lang="en-US" sz="1050" dirty="0"/>
          </a:p>
        </p:txBody>
      </p:sp>
      <p:sp>
        <p:nvSpPr>
          <p:cNvPr id="19" name="Shape 17"/>
          <p:cNvSpPr/>
          <p:nvPr/>
        </p:nvSpPr>
        <p:spPr>
          <a:xfrm>
            <a:off x="548640" y="3108960"/>
            <a:ext cx="2514600" cy="1554480"/>
          </a:xfrm>
          <a:prstGeom prst="roundRect">
            <a:avLst>
              <a:gd name="adj" fmla="val 470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0" name="Shape 18"/>
          <p:cNvSpPr/>
          <p:nvPr/>
        </p:nvSpPr>
        <p:spPr>
          <a:xfrm>
            <a:off x="731520" y="3291840"/>
            <a:ext cx="457200" cy="54864"/>
          </a:xfrm>
          <a:prstGeom prst="rect">
            <a:avLst/>
          </a:prstGeom>
          <a:solidFill>
            <a:srgbClr val="8B5CF6"/>
          </a:solidFill>
          <a:ln w="12700">
            <a:solidFill>
              <a:srgbClr val="8B5CF6"/>
            </a:solidFill>
            <a:prstDash val="solid"/>
          </a:ln>
        </p:spPr>
        <p:txBody>
          <a:bodyPr/>
          <a:p/>
        </p:txBody>
      </p:sp>
      <p:sp>
        <p:nvSpPr>
          <p:cNvPr id="21" name="Text 19"/>
          <p:cNvSpPr txBox="1"/>
          <p:nvPr/>
        </p:nvSpPr>
        <p:spPr>
          <a:xfrm>
            <a:off x="731520" y="342900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Safer Alternatives</a:t>
            </a:r>
            <a:endParaRPr lang="en-US" sz="1300" dirty="0"/>
          </a:p>
        </p:txBody>
      </p:sp>
      <p:sp>
        <p:nvSpPr>
          <p:cNvPr id="22" name="Text 20"/>
          <p:cNvSpPr txBox="1"/>
          <p:nvPr/>
        </p:nvSpPr>
        <p:spPr>
          <a:xfrm>
            <a:off x="731520" y="3767328"/>
            <a:ext cx="2148840" cy="77724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Explains why a clause is risky and suggests a rewrite</a:t>
            </a:r>
            <a:endParaRPr lang="en-US" sz="1050" dirty="0"/>
          </a:p>
        </p:txBody>
      </p:sp>
      <p:sp>
        <p:nvSpPr>
          <p:cNvPr id="23" name="Shape 21"/>
          <p:cNvSpPr/>
          <p:nvPr/>
        </p:nvSpPr>
        <p:spPr>
          <a:xfrm>
            <a:off x="3246120" y="3108960"/>
            <a:ext cx="2514600" cy="1554480"/>
          </a:xfrm>
          <a:prstGeom prst="roundRect">
            <a:avLst>
              <a:gd name="adj" fmla="val 470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4" name="Shape 22"/>
          <p:cNvSpPr/>
          <p:nvPr/>
        </p:nvSpPr>
        <p:spPr>
          <a:xfrm>
            <a:off x="3429000" y="3291840"/>
            <a:ext cx="457200" cy="54864"/>
          </a:xfrm>
          <a:prstGeom prst="rect">
            <a:avLst/>
          </a:prstGeom>
          <a:solidFill>
            <a:srgbClr val="3B82F6"/>
          </a:solidFill>
          <a:ln w="12700">
            <a:solidFill>
              <a:srgbClr val="3B82F6"/>
            </a:solidFill>
            <a:prstDash val="solid"/>
          </a:ln>
        </p:spPr>
        <p:txBody>
          <a:bodyPr/>
          <a:p/>
        </p:txBody>
      </p:sp>
      <p:sp>
        <p:nvSpPr>
          <p:cNvPr id="25" name="Text 23"/>
          <p:cNvSpPr txBox="1"/>
          <p:nvPr/>
        </p:nvSpPr>
        <p:spPr>
          <a:xfrm>
            <a:off x="3429000" y="342900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Overall Risk Score</a:t>
            </a:r>
            <a:endParaRPr lang="en-US" sz="1300" dirty="0"/>
          </a:p>
        </p:txBody>
      </p:sp>
      <p:sp>
        <p:nvSpPr>
          <p:cNvPr id="26" name="Text 24"/>
          <p:cNvSpPr txBox="1"/>
          <p:nvPr/>
        </p:nvSpPr>
        <p:spPr>
          <a:xfrm>
            <a:off x="3429000" y="3767328"/>
            <a:ext cx="2148840" cy="77724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One 0-100 score for instant understanding</a:t>
            </a:r>
            <a:endParaRPr lang="en-US" sz="1050" dirty="0"/>
          </a:p>
        </p:txBody>
      </p:sp>
      <p:sp>
        <p:nvSpPr>
          <p:cNvPr id="27" name="Shape 25"/>
          <p:cNvSpPr/>
          <p:nvPr/>
        </p:nvSpPr>
        <p:spPr>
          <a:xfrm>
            <a:off x="5943600" y="3108960"/>
            <a:ext cx="2514600" cy="1554480"/>
          </a:xfrm>
          <a:prstGeom prst="roundRect">
            <a:avLst>
              <a:gd name="adj" fmla="val 470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8" name="Shape 26"/>
          <p:cNvSpPr/>
          <p:nvPr/>
        </p:nvSpPr>
        <p:spPr>
          <a:xfrm>
            <a:off x="6126480" y="3291840"/>
            <a:ext cx="457200" cy="54864"/>
          </a:xfrm>
          <a:prstGeom prst="rect">
            <a:avLst/>
          </a:prstGeom>
          <a:solidFill>
            <a:srgbClr val="10B981"/>
          </a:solidFill>
          <a:ln w="12700">
            <a:solidFill>
              <a:srgbClr val="10B981"/>
            </a:solidFill>
            <a:prstDash val="solid"/>
          </a:ln>
        </p:spPr>
        <p:txBody>
          <a:bodyPr/>
          <a:p/>
        </p:txBody>
      </p:sp>
      <p:sp>
        <p:nvSpPr>
          <p:cNvPr id="29" name="Text 27"/>
          <p:cNvSpPr txBox="1"/>
          <p:nvPr/>
        </p:nvSpPr>
        <p:spPr>
          <a:xfrm>
            <a:off x="6126480" y="342900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Dashboard &amp; Reports</a:t>
            </a:r>
            <a:endParaRPr lang="en-US" sz="1300" dirty="0"/>
          </a:p>
        </p:txBody>
      </p:sp>
      <p:sp>
        <p:nvSpPr>
          <p:cNvPr id="30" name="Text 28"/>
          <p:cNvSpPr txBox="1"/>
          <p:nvPr/>
        </p:nvSpPr>
        <p:spPr>
          <a:xfrm>
            <a:off x="6126480" y="3767328"/>
            <a:ext cx="2148840" cy="77724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Interactive charts, clause highlights, downloadable reports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Polyglot microservices over a hybrid SQL + NoSQL + vector data layer</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
        <p:nvSpPr>
          <p:cNvPr id="7" name="Shape 5"/>
          <p:cNvSpPr/>
          <p:nvPr/>
        </p:nvSpPr>
        <p:spPr>
          <a:xfrm>
            <a:off x="548640" y="1371600"/>
            <a:ext cx="8046720" cy="694944"/>
          </a:xfrm>
          <a:prstGeom prst="roundRect">
            <a:avLst>
              <a:gd name="adj" fmla="val 10526"/>
            </a:avLst>
          </a:prstGeom>
          <a:solidFill>
            <a:srgbClr val="FFFFFF"/>
          </a:solidFill>
          <a:ln w="19050">
            <a:solidFill>
              <a:srgbClr val="14B8A6"/>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548640" y="1371600"/>
            <a:ext cx="1737360" cy="694944"/>
          </a:xfrm>
          <a:prstGeom prst="rect">
            <a:avLst/>
          </a:prstGeom>
          <a:solidFill>
            <a:srgbClr val="14B8A6"/>
          </a:solidFill>
          <a:ln w="12700">
            <a:solidFill>
              <a:srgbClr val="14B8A6"/>
            </a:solidFill>
            <a:prstDash val="solid"/>
          </a:ln>
        </p:spPr>
        <p:txBody>
          <a:bodyPr/>
          <a:p/>
        </p:txBody>
      </p:sp>
      <p:sp>
        <p:nvSpPr>
          <p:cNvPr id="9" name="Text 7"/>
          <p:cNvSpPr txBox="1"/>
          <p:nvPr/>
        </p:nvSpPr>
        <p:spPr>
          <a:xfrm>
            <a:off x="548640" y="1371600"/>
            <a:ext cx="1737360" cy="694944"/>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Client</a:t>
            </a:r>
            <a:endParaRPr lang="en-US" sz="1500" dirty="0"/>
          </a:p>
        </p:txBody>
      </p:sp>
      <p:sp>
        <p:nvSpPr>
          <p:cNvPr id="10" name="Text 8"/>
          <p:cNvSpPr txBox="1"/>
          <p:nvPr/>
        </p:nvSpPr>
        <p:spPr>
          <a:xfrm>
            <a:off x="2468880" y="1371600"/>
            <a:ext cx="5943600" cy="694944"/>
          </a:xfrm>
          <a:prstGeom prst="rect">
            <a:avLst/>
          </a:prstGeom>
          <a:noFill/>
        </p:spPr>
        <p:txBody>
          <a:bodyPr wrap="square" lIns="0" tIns="0" rIns="0" bIns="0" rtlCol="0" anchor="ctr"/>
          <a:lstStyle/>
          <a:p>
            <a:pPr marL="0" indent="0">
              <a:buNone/>
            </a:pPr>
            <a:r>
              <a:rPr lang="en-US" sz="1250" dirty="0">
                <a:solidFill>
                  <a:srgbClr val="0B1B3B"/>
                </a:solidFill>
                <a:latin typeface="Calibri" panose="020F0502020204030204" pitchFamily="34" charset="0"/>
                <a:ea typeface="Calibri" panose="020F0502020204030204" pitchFamily="34" charset="-122"/>
                <a:cs typeface="Calibri" panose="020F0502020204030204" pitchFamily="34" charset="-120"/>
              </a:rPr>
              <a:t>React + TypeScript + Tailwind (Vite) dashboard</a:t>
            </a:r>
            <a:endParaRPr lang="en-US" sz="1250" dirty="0"/>
          </a:p>
        </p:txBody>
      </p:sp>
      <p:sp>
        <p:nvSpPr>
          <p:cNvPr id="11" name="Shape 9"/>
          <p:cNvSpPr/>
          <p:nvPr/>
        </p:nvSpPr>
        <p:spPr>
          <a:xfrm>
            <a:off x="548640" y="2212848"/>
            <a:ext cx="8046720" cy="694944"/>
          </a:xfrm>
          <a:prstGeom prst="roundRect">
            <a:avLst>
              <a:gd name="adj" fmla="val 10526"/>
            </a:avLst>
          </a:prstGeom>
          <a:solidFill>
            <a:srgbClr val="FFFFFF"/>
          </a:solidFill>
          <a:ln w="19050">
            <a:solidFill>
              <a:srgbClr val="3B82F6"/>
            </a:solidFill>
            <a:prstDash val="solid"/>
          </a:ln>
          <a:effectLst>
            <a:outerShdw blurRad="76200" dist="25400" dir="5400000" algn="bl" rotWithShape="0">
              <a:srgbClr val="000000">
                <a:alpha val="12000"/>
              </a:srgbClr>
            </a:outerShdw>
          </a:effectLst>
        </p:spPr>
        <p:txBody>
          <a:bodyPr/>
          <a:p/>
        </p:txBody>
      </p:sp>
      <p:sp>
        <p:nvSpPr>
          <p:cNvPr id="12" name="Shape 10"/>
          <p:cNvSpPr/>
          <p:nvPr/>
        </p:nvSpPr>
        <p:spPr>
          <a:xfrm>
            <a:off x="548640" y="2212848"/>
            <a:ext cx="1737360" cy="694944"/>
          </a:xfrm>
          <a:prstGeom prst="rect">
            <a:avLst/>
          </a:prstGeom>
          <a:solidFill>
            <a:srgbClr val="3B82F6"/>
          </a:solidFill>
          <a:ln w="12700">
            <a:solidFill>
              <a:srgbClr val="3B82F6"/>
            </a:solidFill>
            <a:prstDash val="solid"/>
          </a:ln>
        </p:spPr>
        <p:txBody>
          <a:bodyPr/>
          <a:p/>
        </p:txBody>
      </p:sp>
      <p:sp>
        <p:nvSpPr>
          <p:cNvPr id="13" name="Text 11"/>
          <p:cNvSpPr txBox="1"/>
          <p:nvPr/>
        </p:nvSpPr>
        <p:spPr>
          <a:xfrm>
            <a:off x="548640" y="2212848"/>
            <a:ext cx="1737360" cy="694944"/>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API Gateway</a:t>
            </a:r>
            <a:endParaRPr lang="en-US" sz="1500" dirty="0"/>
          </a:p>
        </p:txBody>
      </p:sp>
      <p:sp>
        <p:nvSpPr>
          <p:cNvPr id="14" name="Text 12"/>
          <p:cNvSpPr txBox="1"/>
          <p:nvPr/>
        </p:nvSpPr>
        <p:spPr>
          <a:xfrm>
            <a:off x="2468880" y="2212848"/>
            <a:ext cx="5943600" cy="694944"/>
          </a:xfrm>
          <a:prstGeom prst="rect">
            <a:avLst/>
          </a:prstGeom>
          <a:noFill/>
        </p:spPr>
        <p:txBody>
          <a:bodyPr wrap="square" lIns="0" tIns="0" rIns="0" bIns="0" rtlCol="0" anchor="ctr"/>
          <a:lstStyle/>
          <a:p>
            <a:pPr marL="0" indent="0">
              <a:buNone/>
            </a:pPr>
            <a:r>
              <a:rPr lang="en-US" sz="1250" dirty="0">
                <a:solidFill>
                  <a:srgbClr val="0B1B3B"/>
                </a:solidFill>
                <a:latin typeface="Calibri" panose="020F0502020204030204" pitchFamily="34" charset="0"/>
                <a:ea typeface="Calibri" panose="020F0502020204030204" pitchFamily="34" charset="-122"/>
                <a:cs typeface="Calibri" panose="020F0502020204030204" pitchFamily="34" charset="-120"/>
              </a:rPr>
              <a:t>.NET Core 8 gateway: routing, rate limit, circuit breaker</a:t>
            </a:r>
            <a:endParaRPr lang="en-US" sz="1250" dirty="0"/>
          </a:p>
        </p:txBody>
      </p:sp>
      <p:sp>
        <p:nvSpPr>
          <p:cNvPr id="15" name="Shape 13"/>
          <p:cNvSpPr/>
          <p:nvPr/>
        </p:nvSpPr>
        <p:spPr>
          <a:xfrm>
            <a:off x="548640" y="3054096"/>
            <a:ext cx="8046720" cy="694944"/>
          </a:xfrm>
          <a:prstGeom prst="roundRect">
            <a:avLst>
              <a:gd name="adj" fmla="val 10526"/>
            </a:avLst>
          </a:prstGeom>
          <a:solidFill>
            <a:srgbClr val="FFFFFF"/>
          </a:solidFill>
          <a:ln w="19050">
            <a:solidFill>
              <a:srgbClr val="8B5CF6"/>
            </a:solidFill>
            <a:prstDash val="solid"/>
          </a:ln>
          <a:effectLst>
            <a:outerShdw blurRad="76200" dist="25400" dir="5400000" algn="bl" rotWithShape="0">
              <a:srgbClr val="000000">
                <a:alpha val="12000"/>
              </a:srgbClr>
            </a:outerShdw>
          </a:effectLst>
        </p:spPr>
        <p:txBody>
          <a:bodyPr/>
          <a:p/>
        </p:txBody>
      </p:sp>
      <p:sp>
        <p:nvSpPr>
          <p:cNvPr id="16" name="Shape 14"/>
          <p:cNvSpPr/>
          <p:nvPr/>
        </p:nvSpPr>
        <p:spPr>
          <a:xfrm>
            <a:off x="548640" y="3054096"/>
            <a:ext cx="1737360" cy="694944"/>
          </a:xfrm>
          <a:prstGeom prst="rect">
            <a:avLst/>
          </a:prstGeom>
          <a:solidFill>
            <a:srgbClr val="8B5CF6"/>
          </a:solidFill>
          <a:ln w="12700">
            <a:solidFill>
              <a:srgbClr val="8B5CF6"/>
            </a:solidFill>
            <a:prstDash val="solid"/>
          </a:ln>
        </p:spPr>
        <p:txBody>
          <a:bodyPr/>
          <a:p/>
        </p:txBody>
      </p:sp>
      <p:sp>
        <p:nvSpPr>
          <p:cNvPr id="17" name="Text 15"/>
          <p:cNvSpPr txBox="1"/>
          <p:nvPr/>
        </p:nvSpPr>
        <p:spPr>
          <a:xfrm>
            <a:off x="548640" y="3054096"/>
            <a:ext cx="1737360" cy="694944"/>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Services</a:t>
            </a:r>
            <a:endParaRPr lang="en-US" sz="1500" dirty="0"/>
          </a:p>
        </p:txBody>
      </p:sp>
      <p:sp>
        <p:nvSpPr>
          <p:cNvPr id="18" name="Text 16"/>
          <p:cNvSpPr txBox="1"/>
          <p:nvPr/>
        </p:nvSpPr>
        <p:spPr>
          <a:xfrm>
            <a:off x="2468880" y="3054096"/>
            <a:ext cx="5943600" cy="694944"/>
          </a:xfrm>
          <a:prstGeom prst="rect">
            <a:avLst/>
          </a:prstGeom>
          <a:noFill/>
        </p:spPr>
        <p:txBody>
          <a:bodyPr wrap="square" lIns="0" tIns="0" rIns="0" bIns="0" rtlCol="0" anchor="ctr"/>
          <a:lstStyle/>
          <a:p>
            <a:pPr marL="0" indent="0">
              <a:buNone/>
            </a:pPr>
            <a:r>
              <a:rPr lang="en-US" sz="1250" dirty="0">
                <a:solidFill>
                  <a:srgbClr val="0B1B3B"/>
                </a:solidFill>
                <a:latin typeface="Calibri" panose="020F0502020204030204" pitchFamily="34" charset="0"/>
                <a:ea typeface="Calibri" panose="020F0502020204030204" pitchFamily="34" charset="-122"/>
                <a:cs typeface="Calibri" panose="020F0502020204030204" pitchFamily="34" charset="-120"/>
              </a:rPr>
              <a:t>FastAPI core (8000)  |  Node.js activity (3001)  |  Spring Boot reports (8082)</a:t>
            </a:r>
            <a:endParaRPr lang="en-US" sz="1250" dirty="0"/>
          </a:p>
        </p:txBody>
      </p:sp>
      <p:sp>
        <p:nvSpPr>
          <p:cNvPr id="19" name="Shape 17"/>
          <p:cNvSpPr/>
          <p:nvPr/>
        </p:nvSpPr>
        <p:spPr>
          <a:xfrm>
            <a:off x="548640" y="3895344"/>
            <a:ext cx="8046720" cy="694944"/>
          </a:xfrm>
          <a:prstGeom prst="roundRect">
            <a:avLst>
              <a:gd name="adj" fmla="val 10526"/>
            </a:avLst>
          </a:prstGeom>
          <a:solidFill>
            <a:srgbClr val="FFFFFF"/>
          </a:solidFill>
          <a:ln w="19050">
            <a:solidFill>
              <a:srgbClr val="F59E0B"/>
            </a:solidFill>
            <a:prstDash val="solid"/>
          </a:ln>
          <a:effectLst>
            <a:outerShdw blurRad="76200" dist="25400" dir="5400000" algn="bl" rotWithShape="0">
              <a:srgbClr val="000000">
                <a:alpha val="12000"/>
              </a:srgbClr>
            </a:outerShdw>
          </a:effectLst>
        </p:spPr>
        <p:txBody>
          <a:bodyPr/>
          <a:p/>
        </p:txBody>
      </p:sp>
      <p:sp>
        <p:nvSpPr>
          <p:cNvPr id="20" name="Shape 18"/>
          <p:cNvSpPr/>
          <p:nvPr/>
        </p:nvSpPr>
        <p:spPr>
          <a:xfrm>
            <a:off x="548640" y="3895344"/>
            <a:ext cx="1737360" cy="694944"/>
          </a:xfrm>
          <a:prstGeom prst="rect">
            <a:avLst/>
          </a:prstGeom>
          <a:solidFill>
            <a:srgbClr val="F59E0B"/>
          </a:solidFill>
          <a:ln w="12700">
            <a:solidFill>
              <a:srgbClr val="F59E0B"/>
            </a:solidFill>
            <a:prstDash val="solid"/>
          </a:ln>
        </p:spPr>
        <p:txBody>
          <a:bodyPr/>
          <a:p/>
        </p:txBody>
      </p:sp>
      <p:sp>
        <p:nvSpPr>
          <p:cNvPr id="21" name="Text 19"/>
          <p:cNvSpPr txBox="1"/>
          <p:nvPr/>
        </p:nvSpPr>
        <p:spPr>
          <a:xfrm>
            <a:off x="548640" y="3895344"/>
            <a:ext cx="1737360" cy="694944"/>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a:t>
            </a:r>
            <a:endParaRPr lang="en-US" sz="1500" dirty="0"/>
          </a:p>
        </p:txBody>
      </p:sp>
      <p:sp>
        <p:nvSpPr>
          <p:cNvPr id="22" name="Text 20"/>
          <p:cNvSpPr txBox="1"/>
          <p:nvPr/>
        </p:nvSpPr>
        <p:spPr>
          <a:xfrm>
            <a:off x="2468880" y="3895344"/>
            <a:ext cx="5943600" cy="694944"/>
          </a:xfrm>
          <a:prstGeom prst="rect">
            <a:avLst/>
          </a:prstGeom>
          <a:noFill/>
        </p:spPr>
        <p:txBody>
          <a:bodyPr wrap="square" lIns="0" tIns="0" rIns="0" bIns="0" rtlCol="0" anchor="ctr"/>
          <a:lstStyle/>
          <a:p>
            <a:pPr marL="0" indent="0">
              <a:buNone/>
            </a:pPr>
            <a:r>
              <a:rPr lang="en-US" sz="1250" dirty="0">
                <a:solidFill>
                  <a:srgbClr val="0B1B3B"/>
                </a:solidFill>
                <a:latin typeface="Calibri" panose="020F0502020204030204" pitchFamily="34" charset="0"/>
                <a:ea typeface="Calibri" panose="020F0502020204030204" pitchFamily="34" charset="-122"/>
                <a:cs typeface="Calibri" panose="020F0502020204030204" pitchFamily="34" charset="-120"/>
              </a:rPr>
              <a:t/>
            </a:r>
            <a:r>
              <a:rPr lang="en-IN" altLang="en-US" sz="1250" dirty="0">
                <a:solidFill>
                  <a:srgbClr val="0B1B3B"/>
                </a:solidFill>
                <a:latin typeface="Calibri" panose="020F0502020204030204" pitchFamily="34" charset="0"/>
                <a:ea typeface="Calibri" panose="020F0502020204030204" pitchFamily="34" charset="-122"/>
                <a:cs typeface="Calibri" panose="020F0502020204030204" pitchFamily="34" charset="-120"/>
              </a:rPr>
              <a:t>MySQL Workbench</a:t>
            </a:r>
            <a:r>
              <a:rPr lang="en-US" sz="1250" dirty="0">
                <a:solidFill>
                  <a:srgbClr val="0B1B3B"/>
                </a:solidFill>
                <a:latin typeface="Calibri" panose="020F0502020204030204" pitchFamily="34" charset="0"/>
                <a:ea typeface="Calibri" panose="020F0502020204030204" pitchFamily="34" charset="-122"/>
                <a:cs typeface="Calibri" panose="020F0502020204030204" pitchFamily="34" charset="-120"/>
              </a:rPr>
              <a:t>  |  MongoDB (activity logs)  |  OpenAI API</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AI Analysis Engine</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Hybrid approach: LLM analysis with a rule-based fallback</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
        <p:nvSpPr>
          <p:cNvPr id="7" name="Shape 5"/>
          <p:cNvSpPr/>
          <p:nvPr/>
        </p:nvSpPr>
        <p:spPr>
          <a:xfrm>
            <a:off x="548640" y="1371600"/>
            <a:ext cx="3931920" cy="3200400"/>
          </a:xfrm>
          <a:prstGeom prst="roundRect">
            <a:avLst>
              <a:gd name="adj" fmla="val 228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731520" y="1554480"/>
            <a:ext cx="457200" cy="54864"/>
          </a:xfrm>
          <a:prstGeom prst="rect">
            <a:avLst/>
          </a:prstGeom>
          <a:solidFill>
            <a:srgbClr val="14B8A6"/>
          </a:solidFill>
          <a:ln w="12700">
            <a:solidFill>
              <a:srgbClr val="14B8A6"/>
            </a:solidFill>
            <a:prstDash val="solid"/>
          </a:ln>
        </p:spPr>
        <p:txBody>
          <a:bodyPr/>
          <a:p/>
        </p:txBody>
      </p:sp>
      <p:sp>
        <p:nvSpPr>
          <p:cNvPr id="9" name="Text 7"/>
          <p:cNvSpPr txBox="1"/>
          <p:nvPr/>
        </p:nvSpPr>
        <p:spPr>
          <a:xfrm>
            <a:off x="731520" y="1691640"/>
            <a:ext cx="3566160" cy="320040"/>
          </a:xfrm>
          <a:prstGeom prst="rect">
            <a:avLst/>
          </a:prstGeom>
          <a:noFill/>
        </p:spPr>
        <p:txBody>
          <a:bodyPr wrap="square" lIns="0" tIns="0" rIns="0" bIns="0" rtlCol="0" anchor="t"/>
          <a:lstStyle/>
          <a:p>
            <a:pPr marL="0" indent="0">
              <a:buNone/>
            </a:pPr>
            <a:r>
              <a:rPr lang="en-US" sz="1400" b="1" dirty="0">
                <a:solidFill>
                  <a:srgbClr val="0B1B3B"/>
                </a:solidFill>
                <a:latin typeface="Calibri" panose="020F0502020204030204" pitchFamily="34" charset="0"/>
                <a:ea typeface="Calibri" panose="020F0502020204030204" pitchFamily="34" charset="-122"/>
                <a:cs typeface="Calibri" panose="020F0502020204030204" pitchFamily="34" charset="-120"/>
              </a:rPr>
              <a:t>How it works</a:t>
            </a:r>
            <a:endParaRPr lang="en-US" sz="1400" dirty="0"/>
          </a:p>
        </p:txBody>
      </p:sp>
      <p:sp>
        <p:nvSpPr>
          <p:cNvPr id="10" name="Text 8"/>
          <p:cNvSpPr txBox="1"/>
          <p:nvPr/>
        </p:nvSpPr>
        <p:spPr>
          <a:xfrm>
            <a:off x="731520" y="2029968"/>
            <a:ext cx="3566160" cy="2423160"/>
          </a:xfrm>
          <a:prstGeom prst="rect">
            <a:avLst/>
          </a:prstGeom>
          <a:noFill/>
        </p:spPr>
        <p:txBody>
          <a:bodyPr wrap="square" lIns="0" tIns="0" rIns="0" bIns="0" rtlCol="0" anchor="t"/>
          <a:lstStyle/>
          <a:p>
            <a:pPr marL="0" indent="0">
              <a:buNone/>
            </a:pPr>
            <a:endParaRPr lang="en-US" sz="1100" dirty="0"/>
          </a:p>
        </p:txBody>
      </p:sp>
      <p:sp>
        <p:nvSpPr>
          <p:cNvPr id="11" name="Text 9"/>
          <p:cNvSpPr txBox="1"/>
          <p:nvPr/>
        </p:nvSpPr>
        <p:spPr>
          <a:xfrm>
            <a:off x="731520" y="2057400"/>
            <a:ext cx="3566160" cy="2377440"/>
          </a:xfrm>
          <a:prstGeom prst="rect">
            <a:avLst/>
          </a:prstGeom>
          <a:noFill/>
        </p:spPr>
        <p:txBody>
          <a:bodyPr wrap="square" lIns="0" tIns="0" rIns="0" bIns="0" rtlCol="0" anchor="t"/>
          <a:lstStyle/>
          <a:p>
            <a:pPr marL="342900" indent="-342900">
              <a:spcAft>
                <a:spcPts val="600"/>
              </a:spcAft>
              <a:buSzPct val="100000"/>
              <a:buChar char="•"/>
            </a:pPr>
            <a:r>
              <a:rPr lang="en-US" sz="1150" dirty="0">
                <a:solidFill>
                  <a:srgbClr val="5B6B85"/>
                </a:solidFill>
                <a:latin typeface="Calibri" panose="020F0502020204030204" pitchFamily="34" charset="0"/>
                <a:ea typeface="Calibri" panose="020F0502020204030204" pitchFamily="34" charset="-122"/>
                <a:cs typeface="Calibri" panose="020F0502020204030204" pitchFamily="34" charset="-120"/>
              </a:rPr>
              <a:t>Split contract into clauses by headings and paragraphs</a:t>
            </a:r>
            <a:endParaRPr lang="en-US" sz="1150" dirty="0"/>
          </a:p>
          <a:p>
            <a:pPr marL="342900" indent="-342900">
              <a:spcAft>
                <a:spcPts val="600"/>
              </a:spcAft>
              <a:buSzPct val="100000"/>
              <a:buChar char="•"/>
            </a:pPr>
            <a:r>
              <a:rPr lang="en-US" sz="1150" dirty="0">
                <a:solidFill>
                  <a:srgbClr val="5B6B85"/>
                </a:solidFill>
                <a:latin typeface="Calibri" panose="020F0502020204030204" pitchFamily="34" charset="0"/>
                <a:ea typeface="Calibri" panose="020F0502020204030204" pitchFamily="34" charset="-122"/>
                <a:cs typeface="Calibri" panose="020F0502020204030204" pitchFamily="34" charset="-120"/>
              </a:rPr>
              <a:t>LangChain + OpenAI scores each clause</a:t>
            </a:r>
            <a:endParaRPr lang="en-US" sz="1150" dirty="0"/>
          </a:p>
          <a:p>
            <a:pPr marL="342900" indent="-342900">
              <a:spcAft>
                <a:spcPts val="600"/>
              </a:spcAft>
              <a:buSzPct val="100000"/>
              <a:buChar char="•"/>
            </a:pPr>
            <a:r>
              <a:rPr lang="en-US" sz="1150" dirty="0">
                <a:solidFill>
                  <a:srgbClr val="5B6B85"/>
                </a:solidFill>
                <a:latin typeface="Calibri" panose="020F0502020204030204" pitchFamily="34" charset="0"/>
                <a:ea typeface="Calibri" panose="020F0502020204030204" pitchFamily="34" charset="-122"/>
                <a:cs typeface="Calibri" panose="020F0502020204030204" pitchFamily="34" charset="-120"/>
              </a:rPr>
              <a:t>Pattern rules catch 20+ risk flags (unlimited liability, auto-renewal, hidden fees, non-compete, arbitration...)</a:t>
            </a:r>
            <a:endParaRPr lang="en-US" sz="1150" dirty="0"/>
          </a:p>
          <a:p>
            <a:pPr marL="342900" indent="-342900">
              <a:spcAft>
                <a:spcPts val="600"/>
              </a:spcAft>
              <a:buSzPct val="100000"/>
              <a:buChar char="•"/>
            </a:pPr>
            <a:r>
              <a:rPr lang="en-US" sz="1150" dirty="0">
                <a:solidFill>
                  <a:srgbClr val="5B6B85"/>
                </a:solidFill>
                <a:latin typeface="Calibri" panose="020F0502020204030204" pitchFamily="34" charset="0"/>
                <a:ea typeface="Calibri" panose="020F0502020204030204" pitchFamily="34" charset="-122"/>
                <a:cs typeface="Calibri" panose="020F0502020204030204" pitchFamily="34" charset="-120"/>
              </a:rPr>
              <a:t>Fraud checks: conflicting dates, missing signatures, impossible timelines</a:t>
            </a:r>
            <a:endParaRPr lang="en-US" sz="1150" dirty="0"/>
          </a:p>
        </p:txBody>
      </p:sp>
      <p:sp>
        <p:nvSpPr>
          <p:cNvPr id="12" name="Text 10"/>
          <p:cNvSpPr txBox="1"/>
          <p:nvPr/>
        </p:nvSpPr>
        <p:spPr>
          <a:xfrm>
            <a:off x="4754880" y="1371600"/>
            <a:ext cx="3657600" cy="320040"/>
          </a:xfrm>
          <a:prstGeom prst="rect">
            <a:avLst/>
          </a:prstGeom>
          <a:noFill/>
        </p:spPr>
        <p:txBody>
          <a:bodyPr wrap="square" lIns="0" tIns="0" rIns="0" bIns="0" rtlCol="0" anchor="t"/>
          <a:lstStyle/>
          <a:p>
            <a:pPr marL="0" indent="0">
              <a:buNone/>
            </a:pPr>
            <a:r>
              <a:rPr lang="en-US" sz="1500" b="1" dirty="0">
                <a:solidFill>
                  <a:srgbClr val="0B1B3B"/>
                </a:solidFill>
                <a:latin typeface="Calibri" panose="020F0502020204030204" pitchFamily="34" charset="0"/>
                <a:ea typeface="Calibri" panose="020F0502020204030204" pitchFamily="34" charset="-122"/>
                <a:cs typeface="Calibri" panose="020F0502020204030204" pitchFamily="34" charset="-120"/>
              </a:rPr>
              <a:t>Risk Levels</a:t>
            </a:r>
            <a:endParaRPr lang="en-US" sz="1500" dirty="0"/>
          </a:p>
        </p:txBody>
      </p:sp>
      <p:sp>
        <p:nvSpPr>
          <p:cNvPr id="13" name="Shape 11"/>
          <p:cNvSpPr/>
          <p:nvPr/>
        </p:nvSpPr>
        <p:spPr>
          <a:xfrm>
            <a:off x="4754880" y="1783080"/>
            <a:ext cx="3840480" cy="566928"/>
          </a:xfrm>
          <a:prstGeom prst="roundRect">
            <a:avLst>
              <a:gd name="adj" fmla="val 12903"/>
            </a:avLst>
          </a:prstGeom>
          <a:solidFill>
            <a:srgbClr val="10B981"/>
          </a:solidFill>
          <a:ln w="12700">
            <a:solidFill>
              <a:srgbClr val="10B981"/>
            </a:solidFill>
            <a:prstDash val="solid"/>
          </a:ln>
        </p:spPr>
        <p:txBody>
          <a:bodyPr/>
          <a:p/>
        </p:txBody>
      </p:sp>
      <p:sp>
        <p:nvSpPr>
          <p:cNvPr id="14" name="Text 12"/>
          <p:cNvSpPr txBox="1"/>
          <p:nvPr/>
        </p:nvSpPr>
        <p:spPr>
          <a:xfrm>
            <a:off x="4754880" y="1783080"/>
            <a:ext cx="3840480" cy="56692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LOW</a:t>
            </a:r>
            <a:endParaRPr lang="en-US" sz="1600" dirty="0"/>
          </a:p>
        </p:txBody>
      </p:sp>
      <p:sp>
        <p:nvSpPr>
          <p:cNvPr id="15" name="Shape 13"/>
          <p:cNvSpPr/>
          <p:nvPr/>
        </p:nvSpPr>
        <p:spPr>
          <a:xfrm>
            <a:off x="4754880" y="2496312"/>
            <a:ext cx="3840480" cy="566928"/>
          </a:xfrm>
          <a:prstGeom prst="roundRect">
            <a:avLst>
              <a:gd name="adj" fmla="val 12903"/>
            </a:avLst>
          </a:prstGeom>
          <a:solidFill>
            <a:srgbClr val="F59E0B"/>
          </a:solidFill>
          <a:ln w="12700">
            <a:solidFill>
              <a:srgbClr val="F59E0B"/>
            </a:solidFill>
            <a:prstDash val="solid"/>
          </a:ln>
        </p:spPr>
        <p:txBody>
          <a:bodyPr/>
          <a:p/>
        </p:txBody>
      </p:sp>
      <p:sp>
        <p:nvSpPr>
          <p:cNvPr id="16" name="Text 14"/>
          <p:cNvSpPr txBox="1"/>
          <p:nvPr/>
        </p:nvSpPr>
        <p:spPr>
          <a:xfrm>
            <a:off x="4754880" y="2496312"/>
            <a:ext cx="3840480" cy="56692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MEDIUM</a:t>
            </a:r>
            <a:endParaRPr lang="en-US" sz="1600" dirty="0"/>
          </a:p>
        </p:txBody>
      </p:sp>
      <p:sp>
        <p:nvSpPr>
          <p:cNvPr id="17" name="Shape 15"/>
          <p:cNvSpPr/>
          <p:nvPr/>
        </p:nvSpPr>
        <p:spPr>
          <a:xfrm>
            <a:off x="4754880" y="3209544"/>
            <a:ext cx="3840480" cy="566928"/>
          </a:xfrm>
          <a:prstGeom prst="roundRect">
            <a:avLst>
              <a:gd name="adj" fmla="val 12903"/>
            </a:avLst>
          </a:prstGeom>
          <a:solidFill>
            <a:srgbClr val="F97316"/>
          </a:solidFill>
          <a:ln w="12700">
            <a:solidFill>
              <a:srgbClr val="F97316"/>
            </a:solidFill>
            <a:prstDash val="solid"/>
          </a:ln>
        </p:spPr>
        <p:txBody>
          <a:bodyPr/>
          <a:p/>
        </p:txBody>
      </p:sp>
      <p:sp>
        <p:nvSpPr>
          <p:cNvPr id="18" name="Text 16"/>
          <p:cNvSpPr txBox="1"/>
          <p:nvPr/>
        </p:nvSpPr>
        <p:spPr>
          <a:xfrm>
            <a:off x="4754880" y="3209544"/>
            <a:ext cx="3840480" cy="56692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a:t>
            </a:r>
            <a:endParaRPr lang="en-US" sz="1600" dirty="0"/>
          </a:p>
        </p:txBody>
      </p:sp>
      <p:sp>
        <p:nvSpPr>
          <p:cNvPr id="19" name="Shape 17"/>
          <p:cNvSpPr/>
          <p:nvPr/>
        </p:nvSpPr>
        <p:spPr>
          <a:xfrm>
            <a:off x="4754880" y="3922776"/>
            <a:ext cx="3840480" cy="566928"/>
          </a:xfrm>
          <a:prstGeom prst="roundRect">
            <a:avLst>
              <a:gd name="adj" fmla="val 12903"/>
            </a:avLst>
          </a:prstGeom>
          <a:solidFill>
            <a:srgbClr val="EF4444"/>
          </a:solidFill>
          <a:ln w="12700">
            <a:solidFill>
              <a:srgbClr val="EF4444"/>
            </a:solidFill>
            <a:prstDash val="solid"/>
          </a:ln>
        </p:spPr>
        <p:txBody>
          <a:bodyPr/>
          <a:p/>
        </p:txBody>
      </p:sp>
      <p:sp>
        <p:nvSpPr>
          <p:cNvPr id="20" name="Text 18"/>
          <p:cNvSpPr txBox="1"/>
          <p:nvPr/>
        </p:nvSpPr>
        <p:spPr>
          <a:xfrm>
            <a:off x="4754880" y="3922776"/>
            <a:ext cx="3840480" cy="56692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CRITICAL</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Database Design</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Normalized MySQL schema with advanced SQL objects</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
        <p:nvSpPr>
          <p:cNvPr id="7" name="Shape 5"/>
          <p:cNvSpPr/>
          <p:nvPr/>
        </p:nvSpPr>
        <p:spPr>
          <a:xfrm>
            <a:off x="548640" y="1371600"/>
            <a:ext cx="1874520" cy="1188720"/>
          </a:xfrm>
          <a:prstGeom prst="roundRect">
            <a:avLst>
              <a:gd name="adj" fmla="val 6154"/>
            </a:avLst>
          </a:prstGeom>
          <a:solidFill>
            <a:srgbClr val="0B1B3B"/>
          </a:solidFill>
          <a:ln w="12700">
            <a:solidFill>
              <a:srgbClr val="0B1B3B"/>
            </a:solidFill>
            <a:prstDash val="solid"/>
          </a:ln>
        </p:spPr>
        <p:txBody>
          <a:bodyPr/>
          <a:p/>
        </p:txBody>
      </p:sp>
      <p:sp>
        <p:nvSpPr>
          <p:cNvPr id="8" name="Text 6"/>
          <p:cNvSpPr txBox="1"/>
          <p:nvPr/>
        </p:nvSpPr>
        <p:spPr>
          <a:xfrm>
            <a:off x="548640" y="1463040"/>
            <a:ext cx="1874520" cy="640080"/>
          </a:xfrm>
          <a:prstGeom prst="rect">
            <a:avLst/>
          </a:prstGeom>
          <a:noFill/>
        </p:spPr>
        <p:txBody>
          <a:bodyPr wrap="square" lIns="0" tIns="0" rIns="0" bIns="0" rtlCol="0" anchor="t"/>
          <a:lstStyle/>
          <a:p>
            <a:pPr marL="0" indent="0" algn="ctr">
              <a:buNone/>
            </a:pPr>
            <a:r>
              <a:rPr lang="en-US" sz="3600" b="1" dirty="0">
                <a:solidFill>
                  <a:srgbClr val="F59E0B"/>
                </a:solidFill>
                <a:latin typeface="Calibri" panose="020F0502020204030204" pitchFamily="34" charset="0"/>
                <a:ea typeface="Calibri" panose="020F0502020204030204" pitchFamily="34" charset="-122"/>
                <a:cs typeface="Calibri" panose="020F0502020204030204" pitchFamily="34" charset="-120"/>
              </a:rPr>
              <a:t>13</a:t>
            </a:r>
            <a:endParaRPr lang="en-US" sz="3600" dirty="0"/>
          </a:p>
        </p:txBody>
      </p:sp>
      <p:sp>
        <p:nvSpPr>
          <p:cNvPr id="9" name="Text 7"/>
          <p:cNvSpPr txBox="1"/>
          <p:nvPr/>
        </p:nvSpPr>
        <p:spPr>
          <a:xfrm>
            <a:off x="548640" y="2103120"/>
            <a:ext cx="1874520" cy="274320"/>
          </a:xfrm>
          <a:prstGeom prst="rect">
            <a:avLst/>
          </a:prstGeom>
          <a:noFill/>
        </p:spPr>
        <p:txBody>
          <a:bodyPr wrap="square" lIns="0" tIns="0" rIns="0" bIns="0" rtlCol="0" anchor="t"/>
          <a:lstStyle/>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Tables (3NF)</a:t>
            </a:r>
            <a:endParaRPr lang="en-US" sz="1200" dirty="0"/>
          </a:p>
        </p:txBody>
      </p:sp>
      <p:sp>
        <p:nvSpPr>
          <p:cNvPr id="10" name="Shape 8"/>
          <p:cNvSpPr/>
          <p:nvPr/>
        </p:nvSpPr>
        <p:spPr>
          <a:xfrm>
            <a:off x="2606040" y="1371600"/>
            <a:ext cx="1874520" cy="1188720"/>
          </a:xfrm>
          <a:prstGeom prst="roundRect">
            <a:avLst>
              <a:gd name="adj" fmla="val 6154"/>
            </a:avLst>
          </a:prstGeom>
          <a:solidFill>
            <a:srgbClr val="0B1B3B"/>
          </a:solidFill>
          <a:ln w="12700">
            <a:solidFill>
              <a:srgbClr val="0B1B3B"/>
            </a:solidFill>
            <a:prstDash val="solid"/>
          </a:ln>
        </p:spPr>
        <p:txBody>
          <a:bodyPr/>
          <a:p/>
        </p:txBody>
      </p:sp>
      <p:sp>
        <p:nvSpPr>
          <p:cNvPr id="11" name="Text 9"/>
          <p:cNvSpPr txBox="1"/>
          <p:nvPr/>
        </p:nvSpPr>
        <p:spPr>
          <a:xfrm>
            <a:off x="2606040" y="1463040"/>
            <a:ext cx="1874520" cy="640080"/>
          </a:xfrm>
          <a:prstGeom prst="rect">
            <a:avLst/>
          </a:prstGeom>
          <a:noFill/>
        </p:spPr>
        <p:txBody>
          <a:bodyPr wrap="square" lIns="0" tIns="0" rIns="0" bIns="0" rtlCol="0" anchor="t"/>
          <a:lstStyle/>
          <a:p>
            <a:pPr marL="0" indent="0" algn="ctr">
              <a:buNone/>
            </a:pPr>
            <a:r>
              <a:rPr lang="en-US" sz="3600" b="1" dirty="0">
                <a:solidFill>
                  <a:srgbClr val="F59E0B"/>
                </a:solidFill>
                <a:latin typeface="Calibri" panose="020F0502020204030204" pitchFamily="34" charset="0"/>
                <a:ea typeface="Calibri" panose="020F0502020204030204" pitchFamily="34" charset="-122"/>
                <a:cs typeface="Calibri" panose="020F0502020204030204" pitchFamily="34" charset="-120"/>
              </a:rPr>
              <a:t>5</a:t>
            </a:r>
            <a:endParaRPr lang="en-US" sz="3600" dirty="0"/>
          </a:p>
        </p:txBody>
      </p:sp>
      <p:sp>
        <p:nvSpPr>
          <p:cNvPr id="12" name="Text 10"/>
          <p:cNvSpPr txBox="1"/>
          <p:nvPr/>
        </p:nvSpPr>
        <p:spPr>
          <a:xfrm>
            <a:off x="2606040" y="2103120"/>
            <a:ext cx="1874520" cy="274320"/>
          </a:xfrm>
          <a:prstGeom prst="rect">
            <a:avLst/>
          </a:prstGeom>
          <a:noFill/>
        </p:spPr>
        <p:txBody>
          <a:bodyPr wrap="square" lIns="0" tIns="0" rIns="0" bIns="0" rtlCol="0" anchor="t"/>
          <a:lstStyle/>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Views</a:t>
            </a:r>
            <a:endParaRPr lang="en-US" sz="1200" dirty="0"/>
          </a:p>
        </p:txBody>
      </p:sp>
      <p:sp>
        <p:nvSpPr>
          <p:cNvPr id="13" name="Shape 11"/>
          <p:cNvSpPr/>
          <p:nvPr/>
        </p:nvSpPr>
        <p:spPr>
          <a:xfrm>
            <a:off x="4663440" y="1371600"/>
            <a:ext cx="1874520" cy="1188720"/>
          </a:xfrm>
          <a:prstGeom prst="roundRect">
            <a:avLst>
              <a:gd name="adj" fmla="val 6154"/>
            </a:avLst>
          </a:prstGeom>
          <a:solidFill>
            <a:srgbClr val="0B1B3B"/>
          </a:solidFill>
          <a:ln w="12700">
            <a:solidFill>
              <a:srgbClr val="0B1B3B"/>
            </a:solidFill>
            <a:prstDash val="solid"/>
          </a:ln>
        </p:spPr>
        <p:txBody>
          <a:bodyPr/>
          <a:p/>
        </p:txBody>
      </p:sp>
      <p:sp>
        <p:nvSpPr>
          <p:cNvPr id="14" name="Text 12"/>
          <p:cNvSpPr txBox="1"/>
          <p:nvPr/>
        </p:nvSpPr>
        <p:spPr>
          <a:xfrm>
            <a:off x="4663440" y="1463040"/>
            <a:ext cx="1874520" cy="640080"/>
          </a:xfrm>
          <a:prstGeom prst="rect">
            <a:avLst/>
          </a:prstGeom>
          <a:noFill/>
        </p:spPr>
        <p:txBody>
          <a:bodyPr wrap="square" lIns="0" tIns="0" rIns="0" bIns="0" rtlCol="0" anchor="t"/>
          <a:lstStyle/>
          <a:p>
            <a:pPr marL="0" indent="0" algn="ctr">
              <a:buNone/>
            </a:pPr>
            <a:r>
              <a:rPr lang="en-US" sz="3600" b="1" dirty="0">
                <a:solidFill>
                  <a:srgbClr val="F59E0B"/>
                </a:solidFill>
                <a:latin typeface="Calibri" panose="020F0502020204030204" pitchFamily="34" charset="0"/>
                <a:ea typeface="Calibri" panose="020F0502020204030204" pitchFamily="34" charset="-122"/>
                <a:cs typeface="Calibri" panose="020F0502020204030204" pitchFamily="34" charset="-120"/>
              </a:rPr>
              <a:t>4</a:t>
            </a:r>
            <a:endParaRPr lang="en-US" sz="3600" dirty="0"/>
          </a:p>
        </p:txBody>
      </p:sp>
      <p:sp>
        <p:nvSpPr>
          <p:cNvPr id="15" name="Text 13"/>
          <p:cNvSpPr txBox="1"/>
          <p:nvPr/>
        </p:nvSpPr>
        <p:spPr>
          <a:xfrm>
            <a:off x="4663440" y="2103120"/>
            <a:ext cx="1874520" cy="274320"/>
          </a:xfrm>
          <a:prstGeom prst="rect">
            <a:avLst/>
          </a:prstGeom>
          <a:noFill/>
        </p:spPr>
        <p:txBody>
          <a:bodyPr wrap="square" lIns="0" tIns="0" rIns="0" bIns="0" rtlCol="0" anchor="t"/>
          <a:lstStyle/>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Triggers</a:t>
            </a:r>
            <a:endParaRPr lang="en-US" sz="1200" dirty="0"/>
          </a:p>
        </p:txBody>
      </p:sp>
      <p:sp>
        <p:nvSpPr>
          <p:cNvPr id="16" name="Shape 14"/>
          <p:cNvSpPr/>
          <p:nvPr/>
        </p:nvSpPr>
        <p:spPr>
          <a:xfrm>
            <a:off x="6720840" y="1371600"/>
            <a:ext cx="1874520" cy="1188720"/>
          </a:xfrm>
          <a:prstGeom prst="roundRect">
            <a:avLst>
              <a:gd name="adj" fmla="val 6154"/>
            </a:avLst>
          </a:prstGeom>
          <a:solidFill>
            <a:srgbClr val="0B1B3B"/>
          </a:solidFill>
          <a:ln w="12700">
            <a:solidFill>
              <a:srgbClr val="0B1B3B"/>
            </a:solidFill>
            <a:prstDash val="solid"/>
          </a:ln>
        </p:spPr>
        <p:txBody>
          <a:bodyPr/>
          <a:p/>
        </p:txBody>
      </p:sp>
      <p:sp>
        <p:nvSpPr>
          <p:cNvPr id="17" name="Text 15"/>
          <p:cNvSpPr txBox="1"/>
          <p:nvPr/>
        </p:nvSpPr>
        <p:spPr>
          <a:xfrm>
            <a:off x="6720840" y="1463040"/>
            <a:ext cx="1874520" cy="640080"/>
          </a:xfrm>
          <a:prstGeom prst="rect">
            <a:avLst/>
          </a:prstGeom>
          <a:noFill/>
        </p:spPr>
        <p:txBody>
          <a:bodyPr wrap="square" lIns="0" tIns="0" rIns="0" bIns="0" rtlCol="0" anchor="t"/>
          <a:lstStyle/>
          <a:p>
            <a:pPr marL="0" indent="0" algn="ctr">
              <a:buNone/>
            </a:pPr>
            <a:r>
              <a:rPr lang="en-US" sz="3600" b="1" dirty="0">
                <a:solidFill>
                  <a:srgbClr val="F59E0B"/>
                </a:solidFill>
                <a:latin typeface="Calibri" panose="020F0502020204030204" pitchFamily="34" charset="0"/>
                <a:ea typeface="Calibri" panose="020F0502020204030204" pitchFamily="34" charset="-122"/>
                <a:cs typeface="Calibri" panose="020F0502020204030204" pitchFamily="34" charset="-120"/>
              </a:rPr>
              <a:t>30+</a:t>
            </a:r>
            <a:endParaRPr lang="en-US" sz="3600" dirty="0"/>
          </a:p>
        </p:txBody>
      </p:sp>
      <p:sp>
        <p:nvSpPr>
          <p:cNvPr id="18" name="Text 16"/>
          <p:cNvSpPr txBox="1"/>
          <p:nvPr/>
        </p:nvSpPr>
        <p:spPr>
          <a:xfrm>
            <a:off x="6720840" y="2103120"/>
            <a:ext cx="1874520" cy="274320"/>
          </a:xfrm>
          <a:prstGeom prst="rect">
            <a:avLst/>
          </a:prstGeom>
          <a:noFill/>
        </p:spPr>
        <p:txBody>
          <a:bodyPr wrap="square" lIns="0" tIns="0" rIns="0" bIns="0" rtlCol="0" anchor="t"/>
          <a:lstStyle/>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Indexes</a:t>
            </a:r>
            <a:endParaRPr lang="en-US" sz="1200" dirty="0"/>
          </a:p>
        </p:txBody>
      </p:sp>
      <p:sp>
        <p:nvSpPr>
          <p:cNvPr id="19" name="Shape 17"/>
          <p:cNvSpPr/>
          <p:nvPr/>
        </p:nvSpPr>
        <p:spPr>
          <a:xfrm>
            <a:off x="548640" y="2788920"/>
            <a:ext cx="3931920" cy="1783080"/>
          </a:xfrm>
          <a:prstGeom prst="roundRect">
            <a:avLst>
              <a:gd name="adj" fmla="val 4103"/>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0" name="Shape 18"/>
          <p:cNvSpPr/>
          <p:nvPr/>
        </p:nvSpPr>
        <p:spPr>
          <a:xfrm>
            <a:off x="731520" y="2971800"/>
            <a:ext cx="457200" cy="54864"/>
          </a:xfrm>
          <a:prstGeom prst="rect">
            <a:avLst/>
          </a:prstGeom>
          <a:solidFill>
            <a:srgbClr val="14B8A6"/>
          </a:solidFill>
          <a:ln w="12700">
            <a:solidFill>
              <a:srgbClr val="14B8A6"/>
            </a:solidFill>
            <a:prstDash val="solid"/>
          </a:ln>
        </p:spPr>
        <p:txBody>
          <a:bodyPr/>
          <a:p/>
        </p:txBody>
      </p:sp>
      <p:sp>
        <p:nvSpPr>
          <p:cNvPr id="21" name="Text 19"/>
          <p:cNvSpPr txBox="1"/>
          <p:nvPr/>
        </p:nvSpPr>
        <p:spPr>
          <a:xfrm>
            <a:off x="731520" y="3108960"/>
            <a:ext cx="356616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Relational (CO1)</a:t>
            </a:r>
            <a:endParaRPr lang="en-US" sz="1300" dirty="0"/>
          </a:p>
        </p:txBody>
      </p:sp>
      <p:sp>
        <p:nvSpPr>
          <p:cNvPr id="22" name="Text 20"/>
          <p:cNvSpPr txBox="1"/>
          <p:nvPr/>
        </p:nvSpPr>
        <p:spPr>
          <a:xfrm>
            <a:off x="731520" y="3447288"/>
            <a:ext cx="3566160" cy="100584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Users, contracts, analyses, clause_analyses, risk_findings, reports. PK/FK/CHECK constraints, ACID transactions, CTEs, window functions.</a:t>
            </a:r>
            <a:endParaRPr lang="en-US" sz="1050" dirty="0"/>
          </a:p>
        </p:txBody>
      </p:sp>
      <p:sp>
        <p:nvSpPr>
          <p:cNvPr id="23" name="Shape 21"/>
          <p:cNvSpPr/>
          <p:nvPr/>
        </p:nvSpPr>
        <p:spPr>
          <a:xfrm>
            <a:off x="4663440" y="2788920"/>
            <a:ext cx="3931920" cy="1783080"/>
          </a:xfrm>
          <a:prstGeom prst="roundRect">
            <a:avLst>
              <a:gd name="adj" fmla="val 4103"/>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4" name="Shape 22"/>
          <p:cNvSpPr/>
          <p:nvPr/>
        </p:nvSpPr>
        <p:spPr>
          <a:xfrm>
            <a:off x="4846320" y="2971800"/>
            <a:ext cx="457200" cy="54864"/>
          </a:xfrm>
          <a:prstGeom prst="rect">
            <a:avLst/>
          </a:prstGeom>
          <a:solidFill>
            <a:srgbClr val="F59E0B"/>
          </a:solidFill>
          <a:ln w="12700">
            <a:solidFill>
              <a:srgbClr val="F59E0B"/>
            </a:solidFill>
            <a:prstDash val="solid"/>
          </a:ln>
        </p:spPr>
        <p:txBody>
          <a:bodyPr/>
          <a:p/>
        </p:txBody>
      </p:sp>
      <p:sp>
        <p:nvSpPr>
          <p:cNvPr id="25" name="Text 23"/>
          <p:cNvSpPr txBox="1"/>
          <p:nvPr/>
        </p:nvSpPr>
        <p:spPr>
          <a:xfrm>
            <a:off x="4846320" y="3108960"/>
            <a:ext cx="356616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Indexing &amp; Beyond</a:t>
            </a:r>
            <a:endParaRPr lang="en-US" sz="1300" dirty="0"/>
          </a:p>
        </p:txBody>
      </p:sp>
      <p:sp>
        <p:nvSpPr>
          <p:cNvPr id="26" name="Text 24"/>
          <p:cNvSpPr txBox="1"/>
          <p:nvPr/>
        </p:nvSpPr>
        <p:spPr>
          <a:xfrm>
            <a:off x="4846320" y="3447288"/>
            <a:ext cx="3566160" cy="100584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B-Tree, GIN full-text and trigram, partial indexes. pgvector HNSW for semantic search. MongoDB for flexible activity logs.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Course Outcomes Covered</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Every CO1-CO6 is implemented and verified in the project</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13</a:t>
            </a:r>
            <a:endParaRPr lang="en-US" sz="900" dirty="0"/>
          </a:p>
        </p:txBody>
      </p:sp>
      <p:sp>
        <p:nvSpPr>
          <p:cNvPr id="7" name="Shape 5"/>
          <p:cNvSpPr/>
          <p:nvPr/>
        </p:nvSpPr>
        <p:spPr>
          <a:xfrm>
            <a:off x="548640" y="1371600"/>
            <a:ext cx="3931920" cy="868680"/>
          </a:xfrm>
          <a:prstGeom prst="roundRect">
            <a:avLst>
              <a:gd name="adj" fmla="val 8421"/>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685800" y="1527048"/>
            <a:ext cx="822960" cy="548640"/>
          </a:xfrm>
          <a:prstGeom prst="roundRect">
            <a:avLst>
              <a:gd name="adj" fmla="val 13333"/>
            </a:avLst>
          </a:prstGeom>
          <a:solidFill>
            <a:srgbClr val="14B8A6"/>
          </a:solidFill>
          <a:ln w="12700">
            <a:solidFill>
              <a:srgbClr val="14B8A6"/>
            </a:solidFill>
            <a:prstDash val="solid"/>
          </a:ln>
        </p:spPr>
        <p:txBody>
          <a:bodyPr/>
          <a:p/>
        </p:txBody>
      </p:sp>
      <p:sp>
        <p:nvSpPr>
          <p:cNvPr id="9" name="Text 7"/>
          <p:cNvSpPr txBox="1"/>
          <p:nvPr/>
        </p:nvSpPr>
        <p:spPr>
          <a:xfrm>
            <a:off x="685800" y="1527048"/>
            <a:ext cx="82296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CO1</a:t>
            </a:r>
            <a:endParaRPr lang="en-US" sz="1600" dirty="0"/>
          </a:p>
        </p:txBody>
      </p:sp>
      <p:sp>
        <p:nvSpPr>
          <p:cNvPr id="10" name="Text 8"/>
          <p:cNvSpPr txBox="1"/>
          <p:nvPr/>
        </p:nvSpPr>
        <p:spPr>
          <a:xfrm>
            <a:off x="1691640" y="1371600"/>
            <a:ext cx="2697480" cy="868680"/>
          </a:xfrm>
          <a:prstGeom prst="rect">
            <a:avLst/>
          </a:prstGeom>
          <a:noFill/>
        </p:spPr>
        <p:txBody>
          <a:bodyPr wrap="square" lIns="0" tIns="0" rIns="0" bIns="0" rtlCol="0" anchor="ctr"/>
          <a:lstStyle/>
          <a:p>
            <a:pPr marL="0" indent="0">
              <a:buNone/>
            </a:pPr>
            <a:r>
              <a:rPr lang="en-US" sz="1250" dirty="0">
                <a:solidFill>
                  <a:srgbClr val="0B1B3B"/>
                </a:solidFill>
                <a:latin typeface="Calibri" panose="020F0502020204030204" pitchFamily="34" charset="0"/>
                <a:ea typeface="Calibri" panose="020F0502020204030204" pitchFamily="34" charset="-122"/>
                <a:cs typeface="Calibri" panose="020F0502020204030204" pitchFamily="34" charset="-120"/>
              </a:rPr>
              <a:t>Relational DBMS &amp; advanced SQL</a:t>
            </a:r>
            <a:endParaRPr lang="en-US" sz="1250" dirty="0"/>
          </a:p>
        </p:txBody>
      </p:sp>
      <p:sp>
        <p:nvSpPr>
          <p:cNvPr id="11" name="Shape 9"/>
          <p:cNvSpPr/>
          <p:nvPr/>
        </p:nvSpPr>
        <p:spPr>
          <a:xfrm>
            <a:off x="4663440" y="1371600"/>
            <a:ext cx="3931920" cy="868680"/>
          </a:xfrm>
          <a:prstGeom prst="roundRect">
            <a:avLst>
              <a:gd name="adj" fmla="val 8421"/>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12" name="Shape 10"/>
          <p:cNvSpPr/>
          <p:nvPr/>
        </p:nvSpPr>
        <p:spPr>
          <a:xfrm>
            <a:off x="4800600" y="1527048"/>
            <a:ext cx="822960" cy="548640"/>
          </a:xfrm>
          <a:prstGeom prst="roundRect">
            <a:avLst>
              <a:gd name="adj" fmla="val 13333"/>
            </a:avLst>
          </a:prstGeom>
          <a:solidFill>
            <a:srgbClr val="F59E0B"/>
          </a:solidFill>
          <a:ln w="12700">
            <a:solidFill>
              <a:srgbClr val="F59E0B"/>
            </a:solidFill>
            <a:prstDash val="solid"/>
          </a:ln>
        </p:spPr>
        <p:txBody>
          <a:bodyPr/>
          <a:p/>
        </p:txBody>
      </p:sp>
      <p:sp>
        <p:nvSpPr>
          <p:cNvPr id="13" name="Text 11"/>
          <p:cNvSpPr txBox="1"/>
          <p:nvPr/>
        </p:nvSpPr>
        <p:spPr>
          <a:xfrm>
            <a:off x="4800600" y="1527048"/>
            <a:ext cx="82296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CO2</a:t>
            </a:r>
            <a:endParaRPr lang="en-US" sz="1600" dirty="0"/>
          </a:p>
        </p:txBody>
      </p:sp>
      <p:sp>
        <p:nvSpPr>
          <p:cNvPr id="14" name="Text 12"/>
          <p:cNvSpPr txBox="1"/>
          <p:nvPr/>
        </p:nvSpPr>
        <p:spPr>
          <a:xfrm>
            <a:off x="5806440" y="1371600"/>
            <a:ext cx="2697480" cy="868680"/>
          </a:xfrm>
          <a:prstGeom prst="rect">
            <a:avLst/>
          </a:prstGeom>
          <a:noFill/>
        </p:spPr>
        <p:txBody>
          <a:bodyPr wrap="square" lIns="0" tIns="0" rIns="0" bIns="0" rtlCol="0" anchor="ctr"/>
          <a:lstStyle/>
          <a:p>
            <a:pPr marL="0" indent="0">
              <a:buNone/>
            </a:pPr>
            <a:r>
              <a:rPr lang="en-US" sz="1250" dirty="0">
                <a:solidFill>
                  <a:srgbClr val="0B1B3B"/>
                </a:solidFill>
                <a:latin typeface="Calibri" panose="020F0502020204030204" pitchFamily="34" charset="0"/>
                <a:ea typeface="Calibri" panose="020F0502020204030204" pitchFamily="34" charset="-122"/>
                <a:cs typeface="Calibri" panose="020F0502020204030204" pitchFamily="34" charset="-120"/>
              </a:rPr>
              <a:t>NoSQL &amp; vector databases</a:t>
            </a:r>
            <a:endParaRPr lang="en-US" sz="1250" dirty="0"/>
          </a:p>
        </p:txBody>
      </p:sp>
      <p:sp>
        <p:nvSpPr>
          <p:cNvPr id="15" name="Shape 13"/>
          <p:cNvSpPr/>
          <p:nvPr/>
        </p:nvSpPr>
        <p:spPr>
          <a:xfrm>
            <a:off x="548640" y="2423160"/>
            <a:ext cx="3931920" cy="868680"/>
          </a:xfrm>
          <a:prstGeom prst="roundRect">
            <a:avLst>
              <a:gd name="adj" fmla="val 8421"/>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16" name="Shape 14"/>
          <p:cNvSpPr/>
          <p:nvPr/>
        </p:nvSpPr>
        <p:spPr>
          <a:xfrm>
            <a:off x="685800" y="2578608"/>
            <a:ext cx="822960" cy="548640"/>
          </a:xfrm>
          <a:prstGeom prst="roundRect">
            <a:avLst>
              <a:gd name="adj" fmla="val 13333"/>
            </a:avLst>
          </a:prstGeom>
          <a:solidFill>
            <a:srgbClr val="3B82F6"/>
          </a:solidFill>
          <a:ln w="12700">
            <a:solidFill>
              <a:srgbClr val="3B82F6"/>
            </a:solidFill>
            <a:prstDash val="solid"/>
          </a:ln>
        </p:spPr>
        <p:txBody>
          <a:bodyPr/>
          <a:p/>
        </p:txBody>
      </p:sp>
      <p:sp>
        <p:nvSpPr>
          <p:cNvPr id="17" name="Text 15"/>
          <p:cNvSpPr txBox="1"/>
          <p:nvPr/>
        </p:nvSpPr>
        <p:spPr>
          <a:xfrm>
            <a:off x="685800" y="2578608"/>
            <a:ext cx="82296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CO3</a:t>
            </a:r>
            <a:endParaRPr lang="en-US" sz="1600" dirty="0"/>
          </a:p>
        </p:txBody>
      </p:sp>
      <p:sp>
        <p:nvSpPr>
          <p:cNvPr id="18" name="Text 16"/>
          <p:cNvSpPr txBox="1"/>
          <p:nvPr/>
        </p:nvSpPr>
        <p:spPr>
          <a:xfrm>
            <a:off x="1691640" y="2423160"/>
            <a:ext cx="2697480" cy="868680"/>
          </a:xfrm>
          <a:prstGeom prst="rect">
            <a:avLst/>
          </a:prstGeom>
          <a:noFill/>
        </p:spPr>
        <p:txBody>
          <a:bodyPr wrap="square" lIns="0" tIns="0" rIns="0" bIns="0" rtlCol="0" anchor="ctr"/>
          <a:lstStyle/>
          <a:p>
            <a:pPr marL="0" indent="0">
              <a:buNone/>
            </a:pPr>
            <a:r>
              <a:rPr lang="en-US" sz="1250" dirty="0">
                <a:solidFill>
                  <a:srgbClr val="0B1B3B"/>
                </a:solidFill>
                <a:latin typeface="Calibri" panose="020F0502020204030204" pitchFamily="34" charset="0"/>
                <a:ea typeface="Calibri" panose="020F0502020204030204" pitchFamily="34" charset="-122"/>
                <a:cs typeface="Calibri" panose="020F0502020204030204" pitchFamily="34" charset="-120"/>
              </a:rPr>
              <a:t>RESTful APIs, JWT auth, FastAPI</a:t>
            </a:r>
            <a:endParaRPr lang="en-US" sz="1250" dirty="0"/>
          </a:p>
        </p:txBody>
      </p:sp>
      <p:sp>
        <p:nvSpPr>
          <p:cNvPr id="19" name="Shape 17"/>
          <p:cNvSpPr/>
          <p:nvPr/>
        </p:nvSpPr>
        <p:spPr>
          <a:xfrm>
            <a:off x="4663440" y="2423160"/>
            <a:ext cx="3931920" cy="868680"/>
          </a:xfrm>
          <a:prstGeom prst="roundRect">
            <a:avLst>
              <a:gd name="adj" fmla="val 8421"/>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20" name="Shape 18"/>
          <p:cNvSpPr/>
          <p:nvPr/>
        </p:nvSpPr>
        <p:spPr>
          <a:xfrm>
            <a:off x="4800600" y="2578608"/>
            <a:ext cx="822960" cy="548640"/>
          </a:xfrm>
          <a:prstGeom prst="roundRect">
            <a:avLst>
              <a:gd name="adj" fmla="val 13333"/>
            </a:avLst>
          </a:prstGeom>
          <a:solidFill>
            <a:srgbClr val="8B5CF6"/>
          </a:solidFill>
          <a:ln w="12700">
            <a:solidFill>
              <a:srgbClr val="8B5CF6"/>
            </a:solidFill>
            <a:prstDash val="solid"/>
          </a:ln>
        </p:spPr>
        <p:txBody>
          <a:bodyPr/>
          <a:p/>
        </p:txBody>
      </p:sp>
      <p:sp>
        <p:nvSpPr>
          <p:cNvPr id="21" name="Text 19"/>
          <p:cNvSpPr txBox="1"/>
          <p:nvPr/>
        </p:nvSpPr>
        <p:spPr>
          <a:xfrm>
            <a:off x="4800600" y="2578608"/>
            <a:ext cx="82296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CO4</a:t>
            </a:r>
            <a:endParaRPr lang="en-US" sz="1600" dirty="0"/>
          </a:p>
        </p:txBody>
      </p:sp>
      <p:sp>
        <p:nvSpPr>
          <p:cNvPr id="22" name="Text 20"/>
          <p:cNvSpPr txBox="1"/>
          <p:nvPr/>
        </p:nvSpPr>
        <p:spPr>
          <a:xfrm>
            <a:off x="5806440" y="2423160"/>
            <a:ext cx="2697480" cy="868680"/>
          </a:xfrm>
          <a:prstGeom prst="rect">
            <a:avLst/>
          </a:prstGeom>
          <a:noFill/>
        </p:spPr>
        <p:txBody>
          <a:bodyPr wrap="square" lIns="0" tIns="0" rIns="0" bIns="0" rtlCol="0" anchor="ctr"/>
          <a:lstStyle/>
          <a:p>
            <a:pPr marL="0" indent="0">
              <a:buNone/>
            </a:pPr>
            <a:r>
              <a:rPr lang="en-US" sz="1250" dirty="0">
                <a:solidFill>
                  <a:srgbClr val="0B1B3B"/>
                </a:solidFill>
                <a:latin typeface="Calibri" panose="020F0502020204030204" pitchFamily="34" charset="0"/>
                <a:ea typeface="Calibri" panose="020F0502020204030204" pitchFamily="34" charset="-122"/>
                <a:cs typeface="Calibri" panose="020F0502020204030204" pitchFamily="34" charset="-120"/>
              </a:rPr>
              <a:t>Microservices: Python, Node, Java, .NET</a:t>
            </a:r>
            <a:endParaRPr lang="en-US" sz="1250" dirty="0"/>
          </a:p>
        </p:txBody>
      </p:sp>
      <p:sp>
        <p:nvSpPr>
          <p:cNvPr id="23" name="Shape 21"/>
          <p:cNvSpPr/>
          <p:nvPr/>
        </p:nvSpPr>
        <p:spPr>
          <a:xfrm>
            <a:off x="548640" y="3474720"/>
            <a:ext cx="3931920" cy="868680"/>
          </a:xfrm>
          <a:prstGeom prst="roundRect">
            <a:avLst>
              <a:gd name="adj" fmla="val 8421"/>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24" name="Shape 22"/>
          <p:cNvSpPr/>
          <p:nvPr/>
        </p:nvSpPr>
        <p:spPr>
          <a:xfrm>
            <a:off x="685800" y="3630168"/>
            <a:ext cx="822960" cy="548640"/>
          </a:xfrm>
          <a:prstGeom prst="roundRect">
            <a:avLst>
              <a:gd name="adj" fmla="val 13333"/>
            </a:avLst>
          </a:prstGeom>
          <a:solidFill>
            <a:srgbClr val="10B981"/>
          </a:solidFill>
          <a:ln w="12700">
            <a:solidFill>
              <a:srgbClr val="10B981"/>
            </a:solidFill>
            <a:prstDash val="solid"/>
          </a:ln>
        </p:spPr>
        <p:txBody>
          <a:bodyPr/>
          <a:p/>
        </p:txBody>
      </p:sp>
      <p:sp>
        <p:nvSpPr>
          <p:cNvPr id="25" name="Text 23"/>
          <p:cNvSpPr txBox="1"/>
          <p:nvPr/>
        </p:nvSpPr>
        <p:spPr>
          <a:xfrm>
            <a:off x="685800" y="3630168"/>
            <a:ext cx="82296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CO5</a:t>
            </a:r>
            <a:endParaRPr lang="en-US" sz="1600" dirty="0"/>
          </a:p>
        </p:txBody>
      </p:sp>
      <p:sp>
        <p:nvSpPr>
          <p:cNvPr id="26" name="Text 24"/>
          <p:cNvSpPr txBox="1"/>
          <p:nvPr/>
        </p:nvSpPr>
        <p:spPr>
          <a:xfrm>
            <a:off x="1691640" y="3474720"/>
            <a:ext cx="2697480" cy="868680"/>
          </a:xfrm>
          <a:prstGeom prst="rect">
            <a:avLst/>
          </a:prstGeom>
          <a:noFill/>
        </p:spPr>
        <p:txBody>
          <a:bodyPr wrap="square" lIns="0" tIns="0" rIns="0" bIns="0" rtlCol="0" anchor="ctr"/>
          <a:lstStyle/>
          <a:p>
            <a:pPr marL="0" indent="0">
              <a:buNone/>
            </a:pPr>
            <a:r>
              <a:rPr lang="en-US" sz="1250" dirty="0">
                <a:solidFill>
                  <a:srgbClr val="0B1B3B"/>
                </a:solidFill>
                <a:latin typeface="Calibri" panose="020F0502020204030204" pitchFamily="34" charset="0"/>
                <a:ea typeface="Calibri" panose="020F0502020204030204" pitchFamily="34" charset="-122"/>
                <a:cs typeface="Calibri" panose="020F0502020204030204" pitchFamily="34" charset="-120"/>
              </a:rPr>
              <a:t>Caching, rate limiting, circuit breaker</a:t>
            </a:r>
            <a:endParaRPr lang="en-US" sz="1250" dirty="0"/>
          </a:p>
        </p:txBody>
      </p:sp>
      <p:sp>
        <p:nvSpPr>
          <p:cNvPr id="27" name="Shape 25"/>
          <p:cNvSpPr/>
          <p:nvPr/>
        </p:nvSpPr>
        <p:spPr>
          <a:xfrm>
            <a:off x="4663440" y="3474720"/>
            <a:ext cx="3931920" cy="868680"/>
          </a:xfrm>
          <a:prstGeom prst="roundRect">
            <a:avLst>
              <a:gd name="adj" fmla="val 8421"/>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txBody>
          <a:bodyPr/>
          <a:p/>
        </p:txBody>
      </p:sp>
      <p:sp>
        <p:nvSpPr>
          <p:cNvPr id="28" name="Shape 26"/>
          <p:cNvSpPr/>
          <p:nvPr/>
        </p:nvSpPr>
        <p:spPr>
          <a:xfrm>
            <a:off x="4800600" y="3630168"/>
            <a:ext cx="822960" cy="548640"/>
          </a:xfrm>
          <a:prstGeom prst="roundRect">
            <a:avLst>
              <a:gd name="adj" fmla="val 13333"/>
            </a:avLst>
          </a:prstGeom>
          <a:solidFill>
            <a:srgbClr val="EF4444"/>
          </a:solidFill>
          <a:ln w="12700">
            <a:solidFill>
              <a:srgbClr val="EF4444"/>
            </a:solidFill>
            <a:prstDash val="solid"/>
          </a:ln>
        </p:spPr>
        <p:txBody>
          <a:bodyPr/>
          <a:p/>
        </p:txBody>
      </p:sp>
      <p:sp>
        <p:nvSpPr>
          <p:cNvPr id="29" name="Text 27"/>
          <p:cNvSpPr txBox="1"/>
          <p:nvPr/>
        </p:nvSpPr>
        <p:spPr>
          <a:xfrm>
            <a:off x="4800600" y="3630168"/>
            <a:ext cx="82296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CO6</a:t>
            </a:r>
            <a:endParaRPr lang="en-US" sz="1600" dirty="0"/>
          </a:p>
        </p:txBody>
      </p:sp>
      <p:sp>
        <p:nvSpPr>
          <p:cNvPr id="30" name="Text 28"/>
          <p:cNvSpPr txBox="1"/>
          <p:nvPr/>
        </p:nvSpPr>
        <p:spPr>
          <a:xfrm>
            <a:off x="5806440" y="3474720"/>
            <a:ext cx="2697480" cy="868680"/>
          </a:xfrm>
          <a:prstGeom prst="rect">
            <a:avLst/>
          </a:prstGeom>
          <a:noFill/>
        </p:spPr>
        <p:txBody>
          <a:bodyPr wrap="square" lIns="0" tIns="0" rIns="0" bIns="0" rtlCol="0" anchor="ctr"/>
          <a:lstStyle/>
          <a:p>
            <a:pPr marL="0" indent="0">
              <a:buNone/>
            </a:pPr>
            <a:r>
              <a:rPr lang="en-US" sz="1250" dirty="0">
                <a:solidFill>
                  <a:srgbClr val="0B1B3B"/>
                </a:solidFill>
                <a:latin typeface="Calibri" panose="020F0502020204030204" pitchFamily="34" charset="0"/>
                <a:ea typeface="Calibri" panose="020F0502020204030204" pitchFamily="34" charset="-122"/>
                <a:cs typeface="Calibri" panose="020F0502020204030204" pitchFamily="34" charset="-120"/>
              </a:rPr>
              <a:t>Docker, Kubernetes, CI/CD, Prometheus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Tech Stack &amp; DevOps</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Modern tools from frontend to deployment</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
        <p:nvSpPr>
          <p:cNvPr id="7" name="Shape 5"/>
          <p:cNvSpPr/>
          <p:nvPr/>
        </p:nvSpPr>
        <p:spPr>
          <a:xfrm>
            <a:off x="548640" y="1371600"/>
            <a:ext cx="2514600" cy="1234440"/>
          </a:xfrm>
          <a:prstGeom prst="roundRect">
            <a:avLst>
              <a:gd name="adj" fmla="val 592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731520" y="1554480"/>
            <a:ext cx="457200" cy="54864"/>
          </a:xfrm>
          <a:prstGeom prst="rect">
            <a:avLst/>
          </a:prstGeom>
          <a:solidFill>
            <a:srgbClr val="14B8A6"/>
          </a:solidFill>
          <a:ln w="12700">
            <a:solidFill>
              <a:srgbClr val="14B8A6"/>
            </a:solidFill>
            <a:prstDash val="solid"/>
          </a:ln>
        </p:spPr>
        <p:txBody>
          <a:bodyPr/>
          <a:p/>
        </p:txBody>
      </p:sp>
      <p:sp>
        <p:nvSpPr>
          <p:cNvPr id="9" name="Text 7"/>
          <p:cNvSpPr txBox="1"/>
          <p:nvPr/>
        </p:nvSpPr>
        <p:spPr>
          <a:xfrm>
            <a:off x="731520" y="169164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Frontend</a:t>
            </a:r>
            <a:endParaRPr lang="en-US" sz="1300" dirty="0"/>
          </a:p>
        </p:txBody>
      </p:sp>
      <p:sp>
        <p:nvSpPr>
          <p:cNvPr id="10" name="Text 8"/>
          <p:cNvSpPr txBox="1"/>
          <p:nvPr/>
        </p:nvSpPr>
        <p:spPr>
          <a:xfrm>
            <a:off x="731520" y="2029968"/>
            <a:ext cx="2148840" cy="45720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React.js, TypeScript, Tailwind CSS, Vite</a:t>
            </a:r>
            <a:endParaRPr lang="en-US" sz="1050" dirty="0"/>
          </a:p>
        </p:txBody>
      </p:sp>
      <p:sp>
        <p:nvSpPr>
          <p:cNvPr id="11" name="Shape 9"/>
          <p:cNvSpPr/>
          <p:nvPr/>
        </p:nvSpPr>
        <p:spPr>
          <a:xfrm>
            <a:off x="3246120" y="1371600"/>
            <a:ext cx="2514600" cy="1234440"/>
          </a:xfrm>
          <a:prstGeom prst="roundRect">
            <a:avLst>
              <a:gd name="adj" fmla="val 592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2" name="Shape 10"/>
          <p:cNvSpPr/>
          <p:nvPr/>
        </p:nvSpPr>
        <p:spPr>
          <a:xfrm>
            <a:off x="3429000" y="1554480"/>
            <a:ext cx="457200" cy="54864"/>
          </a:xfrm>
          <a:prstGeom prst="rect">
            <a:avLst/>
          </a:prstGeom>
          <a:solidFill>
            <a:srgbClr val="3B82F6"/>
          </a:solidFill>
          <a:ln w="12700">
            <a:solidFill>
              <a:srgbClr val="3B82F6"/>
            </a:solidFill>
            <a:prstDash val="solid"/>
          </a:ln>
        </p:spPr>
        <p:txBody>
          <a:bodyPr/>
          <a:p/>
        </p:txBody>
      </p:sp>
      <p:sp>
        <p:nvSpPr>
          <p:cNvPr id="13" name="Text 11"/>
          <p:cNvSpPr txBox="1"/>
          <p:nvPr/>
        </p:nvSpPr>
        <p:spPr>
          <a:xfrm>
            <a:off x="3429000" y="169164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Backend</a:t>
            </a:r>
            <a:endParaRPr lang="en-US" sz="1300" dirty="0"/>
          </a:p>
        </p:txBody>
      </p:sp>
      <p:sp>
        <p:nvSpPr>
          <p:cNvPr id="14" name="Text 12"/>
          <p:cNvSpPr txBox="1"/>
          <p:nvPr/>
        </p:nvSpPr>
        <p:spPr>
          <a:xfrm>
            <a:off x="3429000" y="2029968"/>
            <a:ext cx="2148840" cy="45720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Python, FastAPI, Pydantic, JWT</a:t>
            </a:r>
            <a:endParaRPr lang="en-US" sz="1050" dirty="0"/>
          </a:p>
        </p:txBody>
      </p:sp>
      <p:sp>
        <p:nvSpPr>
          <p:cNvPr id="15" name="Shape 13"/>
          <p:cNvSpPr/>
          <p:nvPr/>
        </p:nvSpPr>
        <p:spPr>
          <a:xfrm>
            <a:off x="5943600" y="1371600"/>
            <a:ext cx="2514600" cy="1234440"/>
          </a:xfrm>
          <a:prstGeom prst="roundRect">
            <a:avLst>
              <a:gd name="adj" fmla="val 592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6" name="Shape 14"/>
          <p:cNvSpPr/>
          <p:nvPr/>
        </p:nvSpPr>
        <p:spPr>
          <a:xfrm>
            <a:off x="6126480" y="1554480"/>
            <a:ext cx="457200" cy="54864"/>
          </a:xfrm>
          <a:prstGeom prst="rect">
            <a:avLst/>
          </a:prstGeom>
          <a:solidFill>
            <a:srgbClr val="8B5CF6"/>
          </a:solidFill>
          <a:ln w="12700">
            <a:solidFill>
              <a:srgbClr val="8B5CF6"/>
            </a:solidFill>
            <a:prstDash val="solid"/>
          </a:ln>
        </p:spPr>
        <p:txBody>
          <a:bodyPr/>
          <a:p/>
        </p:txBody>
      </p:sp>
      <p:sp>
        <p:nvSpPr>
          <p:cNvPr id="17" name="Text 15"/>
          <p:cNvSpPr txBox="1"/>
          <p:nvPr/>
        </p:nvSpPr>
        <p:spPr>
          <a:xfrm>
            <a:off x="6126480" y="169164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AI / NLP</a:t>
            </a:r>
            <a:endParaRPr lang="en-US" sz="1300" dirty="0"/>
          </a:p>
        </p:txBody>
      </p:sp>
      <p:sp>
        <p:nvSpPr>
          <p:cNvPr id="18" name="Text 16"/>
          <p:cNvSpPr txBox="1"/>
          <p:nvPr/>
        </p:nvSpPr>
        <p:spPr>
          <a:xfrm>
            <a:off x="6126480" y="2029968"/>
            <a:ext cx="2148840" cy="45720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OpenAI API, LangChain, NLP, pgvector</a:t>
            </a:r>
            <a:endParaRPr lang="en-US" sz="1050" dirty="0"/>
          </a:p>
        </p:txBody>
      </p:sp>
      <p:sp>
        <p:nvSpPr>
          <p:cNvPr id="19" name="Shape 17"/>
          <p:cNvSpPr/>
          <p:nvPr/>
        </p:nvSpPr>
        <p:spPr>
          <a:xfrm>
            <a:off x="548640" y="2788920"/>
            <a:ext cx="2514600" cy="1234440"/>
          </a:xfrm>
          <a:prstGeom prst="roundRect">
            <a:avLst>
              <a:gd name="adj" fmla="val 592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0" name="Shape 18"/>
          <p:cNvSpPr/>
          <p:nvPr/>
        </p:nvSpPr>
        <p:spPr>
          <a:xfrm>
            <a:off x="731520" y="2971800"/>
            <a:ext cx="457200" cy="54864"/>
          </a:xfrm>
          <a:prstGeom prst="rect">
            <a:avLst/>
          </a:prstGeom>
          <a:solidFill>
            <a:srgbClr val="F59E0B"/>
          </a:solidFill>
          <a:ln w="12700">
            <a:solidFill>
              <a:srgbClr val="F59E0B"/>
            </a:solidFill>
            <a:prstDash val="solid"/>
          </a:ln>
        </p:spPr>
        <p:txBody>
          <a:bodyPr/>
          <a:p/>
        </p:txBody>
      </p:sp>
      <p:sp>
        <p:nvSpPr>
          <p:cNvPr id="21" name="Text 19"/>
          <p:cNvSpPr txBox="1"/>
          <p:nvPr/>
        </p:nvSpPr>
        <p:spPr>
          <a:xfrm>
            <a:off x="731520" y="310896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Documents</a:t>
            </a:r>
            <a:endParaRPr lang="en-US" sz="1300" dirty="0"/>
          </a:p>
        </p:txBody>
      </p:sp>
      <p:sp>
        <p:nvSpPr>
          <p:cNvPr id="22" name="Text 20"/>
          <p:cNvSpPr txBox="1"/>
          <p:nvPr/>
        </p:nvSpPr>
        <p:spPr>
          <a:xfrm>
            <a:off x="731520" y="3447288"/>
            <a:ext cx="2148840" cy="45720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PyMuPDF, python-docx, Tesseract OCR</a:t>
            </a:r>
            <a:endParaRPr lang="en-US" sz="1050" dirty="0"/>
          </a:p>
        </p:txBody>
      </p:sp>
      <p:sp>
        <p:nvSpPr>
          <p:cNvPr id="23" name="Shape 21"/>
          <p:cNvSpPr/>
          <p:nvPr/>
        </p:nvSpPr>
        <p:spPr>
          <a:xfrm>
            <a:off x="3246120" y="2788920"/>
            <a:ext cx="2514600" cy="1234440"/>
          </a:xfrm>
          <a:prstGeom prst="roundRect">
            <a:avLst>
              <a:gd name="adj" fmla="val 592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4" name="Shape 22"/>
          <p:cNvSpPr/>
          <p:nvPr/>
        </p:nvSpPr>
        <p:spPr>
          <a:xfrm>
            <a:off x="3429000" y="2971800"/>
            <a:ext cx="457200" cy="54864"/>
          </a:xfrm>
          <a:prstGeom prst="rect">
            <a:avLst/>
          </a:prstGeom>
          <a:solidFill>
            <a:srgbClr val="EF4444"/>
          </a:solidFill>
          <a:ln w="12700">
            <a:solidFill>
              <a:srgbClr val="EF4444"/>
            </a:solidFill>
            <a:prstDash val="solid"/>
          </a:ln>
        </p:spPr>
        <p:txBody>
          <a:bodyPr/>
          <a:p/>
        </p:txBody>
      </p:sp>
      <p:sp>
        <p:nvSpPr>
          <p:cNvPr id="25" name="Text 23"/>
          <p:cNvSpPr txBox="1"/>
          <p:nvPr/>
        </p:nvSpPr>
        <p:spPr>
          <a:xfrm>
            <a:off x="3429000" y="310896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Databases</a:t>
            </a:r>
            <a:endParaRPr lang="en-US" sz="1300" dirty="0"/>
          </a:p>
        </p:txBody>
      </p:sp>
      <p:sp>
        <p:nvSpPr>
          <p:cNvPr id="26" name="Text 24"/>
          <p:cNvSpPr txBox="1"/>
          <p:nvPr/>
        </p:nvSpPr>
        <p:spPr>
          <a:xfrm>
            <a:off x="3429000" y="3447288"/>
            <a:ext cx="2148840" cy="45720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MySQL, MongoDB</a:t>
            </a:r>
            <a:endParaRPr lang="en-US" sz="1050" dirty="0"/>
          </a:p>
        </p:txBody>
      </p:sp>
      <p:sp>
        <p:nvSpPr>
          <p:cNvPr id="27" name="Shape 25"/>
          <p:cNvSpPr/>
          <p:nvPr/>
        </p:nvSpPr>
        <p:spPr>
          <a:xfrm>
            <a:off x="5943600" y="2788920"/>
            <a:ext cx="2514600" cy="1234440"/>
          </a:xfrm>
          <a:prstGeom prst="roundRect">
            <a:avLst>
              <a:gd name="adj" fmla="val 5926"/>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8" name="Shape 26"/>
          <p:cNvSpPr/>
          <p:nvPr/>
        </p:nvSpPr>
        <p:spPr>
          <a:xfrm>
            <a:off x="6126480" y="2971800"/>
            <a:ext cx="457200" cy="54864"/>
          </a:xfrm>
          <a:prstGeom prst="rect">
            <a:avLst/>
          </a:prstGeom>
          <a:solidFill>
            <a:srgbClr val="10B981"/>
          </a:solidFill>
          <a:ln w="12700">
            <a:solidFill>
              <a:srgbClr val="10B981"/>
            </a:solidFill>
            <a:prstDash val="solid"/>
          </a:ln>
        </p:spPr>
        <p:txBody>
          <a:bodyPr/>
          <a:p/>
        </p:txBody>
      </p:sp>
      <p:sp>
        <p:nvSpPr>
          <p:cNvPr id="29" name="Text 27"/>
          <p:cNvSpPr txBox="1"/>
          <p:nvPr/>
        </p:nvSpPr>
        <p:spPr>
          <a:xfrm>
            <a:off x="6126480" y="310896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DevOps</a:t>
            </a:r>
            <a:endParaRPr lang="en-US" sz="1300" dirty="0"/>
          </a:p>
        </p:txBody>
      </p:sp>
      <p:sp>
        <p:nvSpPr>
          <p:cNvPr id="30" name="Text 28"/>
          <p:cNvSpPr txBox="1"/>
          <p:nvPr/>
        </p:nvSpPr>
        <p:spPr>
          <a:xfrm>
            <a:off x="6126480" y="3447288"/>
            <a:ext cx="2148840" cy="457200"/>
          </a:xfrm>
          <a:prstGeom prst="rect">
            <a:avLst/>
          </a:prstGeom>
          <a:noFill/>
        </p:spPr>
        <p:txBody>
          <a:bodyPr wrap="square" lIns="0" tIns="0" rIns="0" bIns="0" rtlCol="0" anchor="t"/>
          <a:lstStyle/>
          <a:p>
            <a:pPr marL="0" indent="0">
              <a:buNone/>
            </a:pP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Docker Compose, Kubernetes, GitHub Actions, Prometheus, Grafana</a:t>
            </a:r>
            <a:endParaRPr lang="en-US" sz="1050" dirty="0"/>
          </a:p>
        </p:txBody>
      </p:sp>
      <p:sp>
        <p:nvSpPr>
          <p:cNvPr id="31" name="Shape 29"/>
          <p:cNvSpPr/>
          <p:nvPr/>
        </p:nvSpPr>
        <p:spPr>
          <a:xfrm>
            <a:off x="548640" y="4206240"/>
            <a:ext cx="8046720" cy="457200"/>
          </a:xfrm>
          <a:prstGeom prst="roundRect">
            <a:avLst>
              <a:gd name="adj" fmla="val 16000"/>
            </a:avLst>
          </a:prstGeom>
          <a:solidFill>
            <a:srgbClr val="0B1B3B"/>
          </a:solidFill>
          <a:ln w="12700">
            <a:solidFill>
              <a:srgbClr val="0B1B3B"/>
            </a:solidFill>
            <a:prstDash val="solid"/>
          </a:ln>
        </p:spPr>
        <p:txBody>
          <a:bodyPr/>
          <a:p/>
        </p:txBody>
      </p:sp>
      <p:sp>
        <p:nvSpPr>
          <p:cNvPr id="32" name="Text 30"/>
          <p:cNvSpPr txBox="1"/>
          <p:nvPr/>
        </p:nvSpPr>
        <p:spPr>
          <a:xfrm>
            <a:off x="548640" y="4206240"/>
            <a:ext cx="804672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Automated verification: 28 checks across CO1-CO6, all passing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Conclusion</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What we built and delivered</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16</a:t>
            </a:r>
            <a:endParaRPr lang="en-US" sz="900" dirty="0"/>
          </a:p>
        </p:txBody>
      </p:sp>
      <p:sp>
        <p:nvSpPr>
          <p:cNvPr id="7" name="Shape 5"/>
          <p:cNvSpPr/>
          <p:nvPr/>
        </p:nvSpPr>
        <p:spPr>
          <a:xfrm>
            <a:off x="548640" y="1463040"/>
            <a:ext cx="2514600" cy="2286000"/>
          </a:xfrm>
          <a:prstGeom prst="roundRect">
            <a:avLst>
              <a:gd name="adj" fmla="val 3200"/>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731520" y="1645920"/>
            <a:ext cx="457200" cy="54864"/>
          </a:xfrm>
          <a:prstGeom prst="rect">
            <a:avLst/>
          </a:prstGeom>
          <a:solidFill>
            <a:srgbClr val="14B8A6"/>
          </a:solidFill>
          <a:ln w="12700">
            <a:solidFill>
              <a:srgbClr val="14B8A6"/>
            </a:solidFill>
            <a:prstDash val="solid"/>
          </a:ln>
        </p:spPr>
        <p:txBody>
          <a:bodyPr/>
          <a:p/>
        </p:txBody>
      </p:sp>
      <p:sp>
        <p:nvSpPr>
          <p:cNvPr id="9" name="Text 7"/>
          <p:cNvSpPr txBox="1"/>
          <p:nvPr/>
        </p:nvSpPr>
        <p:spPr>
          <a:xfrm>
            <a:off x="731520" y="1783080"/>
            <a:ext cx="2148840" cy="320040"/>
          </a:xfrm>
          <a:prstGeom prst="rect">
            <a:avLst/>
          </a:prstGeom>
          <a:noFill/>
        </p:spPr>
        <p:txBody>
          <a:bodyPr wrap="square" lIns="0" tIns="0" rIns="0" bIns="0" rtlCol="0" anchor="t"/>
          <a:lstStyle/>
          <a:p>
            <a:pPr marL="0" indent="0">
              <a:buNone/>
            </a:pPr>
            <a:r>
              <a:rPr lang="en-US" sz="1500" b="1" dirty="0">
                <a:solidFill>
                  <a:srgbClr val="0B1B3B"/>
                </a:solidFill>
                <a:latin typeface="Calibri" panose="020F0502020204030204" pitchFamily="34" charset="0"/>
                <a:ea typeface="Calibri" panose="020F0502020204030204" pitchFamily="34" charset="-122"/>
                <a:cs typeface="Calibri" panose="020F0502020204030204" pitchFamily="34" charset="-120"/>
              </a:rPr>
              <a:t>Faster review</a:t>
            </a:r>
            <a:endParaRPr lang="en-US" sz="1500" dirty="0"/>
          </a:p>
        </p:txBody>
      </p:sp>
      <p:sp>
        <p:nvSpPr>
          <p:cNvPr id="10" name="Text 8"/>
          <p:cNvSpPr txBox="1"/>
          <p:nvPr/>
        </p:nvSpPr>
        <p:spPr>
          <a:xfrm>
            <a:off x="731520" y="2121408"/>
            <a:ext cx="2148840" cy="1508760"/>
          </a:xfrm>
          <a:prstGeom prst="rect">
            <a:avLst/>
          </a:prstGeom>
          <a:noFill/>
        </p:spPr>
        <p:txBody>
          <a:bodyPr wrap="square" lIns="0" tIns="0" rIns="0" bIns="0" rtlCol="0" anchor="t"/>
          <a:lstStyle/>
          <a:p>
            <a:pPr marL="0" indent="0">
              <a:buNone/>
            </a:pPr>
            <a:r>
              <a:rPr lang="en-US" sz="12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 are analyzed in seconds instead of hours</a:t>
            </a:r>
            <a:endParaRPr lang="en-US" sz="1200" dirty="0"/>
          </a:p>
        </p:txBody>
      </p:sp>
      <p:sp>
        <p:nvSpPr>
          <p:cNvPr id="11" name="Shape 9"/>
          <p:cNvSpPr/>
          <p:nvPr/>
        </p:nvSpPr>
        <p:spPr>
          <a:xfrm>
            <a:off x="3246120" y="1463040"/>
            <a:ext cx="2514600" cy="2286000"/>
          </a:xfrm>
          <a:prstGeom prst="roundRect">
            <a:avLst>
              <a:gd name="adj" fmla="val 3200"/>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2" name="Shape 10"/>
          <p:cNvSpPr/>
          <p:nvPr/>
        </p:nvSpPr>
        <p:spPr>
          <a:xfrm>
            <a:off x="3429000" y="1645920"/>
            <a:ext cx="457200" cy="54864"/>
          </a:xfrm>
          <a:prstGeom prst="rect">
            <a:avLst/>
          </a:prstGeom>
          <a:solidFill>
            <a:srgbClr val="F59E0B"/>
          </a:solidFill>
          <a:ln w="12700">
            <a:solidFill>
              <a:srgbClr val="F59E0B"/>
            </a:solidFill>
            <a:prstDash val="solid"/>
          </a:ln>
        </p:spPr>
        <p:txBody>
          <a:bodyPr/>
          <a:p/>
        </p:txBody>
      </p:sp>
      <p:sp>
        <p:nvSpPr>
          <p:cNvPr id="13" name="Text 11"/>
          <p:cNvSpPr txBox="1"/>
          <p:nvPr/>
        </p:nvSpPr>
        <p:spPr>
          <a:xfrm>
            <a:off x="3429000" y="1783080"/>
            <a:ext cx="2148840" cy="320040"/>
          </a:xfrm>
          <a:prstGeom prst="rect">
            <a:avLst/>
          </a:prstGeom>
          <a:noFill/>
        </p:spPr>
        <p:txBody>
          <a:bodyPr wrap="square" lIns="0" tIns="0" rIns="0" bIns="0" rtlCol="0" anchor="t"/>
          <a:lstStyle/>
          <a:p>
            <a:pPr marL="0" indent="0">
              <a:buNone/>
            </a:pPr>
            <a:r>
              <a:rPr lang="en-US" sz="1500" b="1" dirty="0">
                <a:solidFill>
                  <a:srgbClr val="0B1B3B"/>
                </a:solidFill>
                <a:latin typeface="Calibri" panose="020F0502020204030204" pitchFamily="34" charset="0"/>
                <a:ea typeface="Calibri" panose="020F0502020204030204" pitchFamily="34" charset="-122"/>
                <a:cs typeface="Calibri" panose="020F0502020204030204" pitchFamily="34" charset="-120"/>
              </a:rPr>
              <a:t>Clearer understanding</a:t>
            </a:r>
            <a:endParaRPr lang="en-US" sz="1500" dirty="0"/>
          </a:p>
        </p:txBody>
      </p:sp>
      <p:sp>
        <p:nvSpPr>
          <p:cNvPr id="14" name="Text 12"/>
          <p:cNvSpPr txBox="1"/>
          <p:nvPr/>
        </p:nvSpPr>
        <p:spPr>
          <a:xfrm>
            <a:off x="3429000" y="2121408"/>
            <a:ext cx="2148840" cy="1508760"/>
          </a:xfrm>
          <a:prstGeom prst="rect">
            <a:avLst/>
          </a:prstGeom>
          <a:noFill/>
        </p:spPr>
        <p:txBody>
          <a:bodyPr wrap="square" lIns="0" tIns="0" rIns="0" bIns="0" rtlCol="0" anchor="t"/>
          <a:lstStyle/>
          <a:p>
            <a:pPr marL="0" indent="0">
              <a:buNone/>
            </a:pPr>
            <a:r>
              <a:rPr lang="en-US" sz="1200" dirty="0">
                <a:solidFill>
                  <a:srgbClr val="5B6B85"/>
                </a:solidFill>
                <a:latin typeface="Calibri" panose="020F0502020204030204" pitchFamily="34" charset="0"/>
                <a:ea typeface="Calibri" panose="020F0502020204030204" pitchFamily="34" charset="-122"/>
                <a:cs typeface="Calibri" panose="020F0502020204030204" pitchFamily="34" charset="-120"/>
              </a:rPr>
              <a:t>Plain-language summaries, risk scores and safer wording</a:t>
            </a:r>
            <a:endParaRPr lang="en-US" sz="1200" dirty="0"/>
          </a:p>
        </p:txBody>
      </p:sp>
      <p:sp>
        <p:nvSpPr>
          <p:cNvPr id="15" name="Shape 13"/>
          <p:cNvSpPr/>
          <p:nvPr/>
        </p:nvSpPr>
        <p:spPr>
          <a:xfrm>
            <a:off x="5943600" y="1463040"/>
            <a:ext cx="2514600" cy="2286000"/>
          </a:xfrm>
          <a:prstGeom prst="roundRect">
            <a:avLst>
              <a:gd name="adj" fmla="val 3200"/>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6" name="Shape 14"/>
          <p:cNvSpPr/>
          <p:nvPr/>
        </p:nvSpPr>
        <p:spPr>
          <a:xfrm>
            <a:off x="6126480" y="1645920"/>
            <a:ext cx="457200" cy="54864"/>
          </a:xfrm>
          <a:prstGeom prst="rect">
            <a:avLst/>
          </a:prstGeom>
          <a:solidFill>
            <a:srgbClr val="8B5CF6"/>
          </a:solidFill>
          <a:ln w="12700">
            <a:solidFill>
              <a:srgbClr val="8B5CF6"/>
            </a:solidFill>
            <a:prstDash val="solid"/>
          </a:ln>
        </p:spPr>
        <p:txBody>
          <a:bodyPr/>
          <a:p/>
        </p:txBody>
      </p:sp>
      <p:sp>
        <p:nvSpPr>
          <p:cNvPr id="17" name="Text 15"/>
          <p:cNvSpPr txBox="1"/>
          <p:nvPr/>
        </p:nvSpPr>
        <p:spPr>
          <a:xfrm>
            <a:off x="6126480" y="1783080"/>
            <a:ext cx="2148840" cy="320040"/>
          </a:xfrm>
          <a:prstGeom prst="rect">
            <a:avLst/>
          </a:prstGeom>
          <a:noFill/>
        </p:spPr>
        <p:txBody>
          <a:bodyPr wrap="square" lIns="0" tIns="0" rIns="0" bIns="0" rtlCol="0" anchor="t"/>
          <a:lstStyle/>
          <a:p>
            <a:pPr marL="0" indent="0">
              <a:buNone/>
            </a:pPr>
            <a:r>
              <a:rPr lang="en-US" sz="1500" b="1" dirty="0">
                <a:solidFill>
                  <a:srgbClr val="0B1B3B"/>
                </a:solidFill>
                <a:latin typeface="Calibri" panose="020F0502020204030204" pitchFamily="34" charset="0"/>
                <a:ea typeface="Calibri" panose="020F0502020204030204" pitchFamily="34" charset="-122"/>
                <a:cs typeface="Calibri" panose="020F0502020204030204" pitchFamily="34" charset="-120"/>
              </a:rPr>
              <a:t>Robust system</a:t>
            </a:r>
            <a:endParaRPr lang="en-US" sz="1500" dirty="0"/>
          </a:p>
        </p:txBody>
      </p:sp>
      <p:sp>
        <p:nvSpPr>
          <p:cNvPr id="18" name="Text 16"/>
          <p:cNvSpPr txBox="1"/>
          <p:nvPr/>
        </p:nvSpPr>
        <p:spPr>
          <a:xfrm>
            <a:off x="6126480" y="2121408"/>
            <a:ext cx="2148840" cy="1508760"/>
          </a:xfrm>
          <a:prstGeom prst="rect">
            <a:avLst/>
          </a:prstGeom>
          <a:noFill/>
        </p:spPr>
        <p:txBody>
          <a:bodyPr wrap="square" lIns="0" tIns="0" rIns="0" bIns="0" rtlCol="0" anchor="t"/>
          <a:lstStyle/>
          <a:p>
            <a:pPr marL="0" indent="0">
              <a:buNone/>
            </a:pPr>
            <a:r>
              <a:rPr lang="en-US" sz="1200" dirty="0">
                <a:solidFill>
                  <a:srgbClr val="5B6B85"/>
                </a:solidFill>
                <a:latin typeface="Calibri" panose="020F0502020204030204" pitchFamily="34" charset="0"/>
                <a:ea typeface="Calibri" panose="020F0502020204030204" pitchFamily="34" charset="-122"/>
                <a:cs typeface="Calibri" panose="020F0502020204030204" pitchFamily="34" charset="-120"/>
              </a:rPr>
              <a:t>Microservices with MySQL, MongoDB and vector search, verified by 28 automated checks</a:t>
            </a:r>
            <a:endParaRPr lang="en-US" sz="1200" dirty="0"/>
          </a:p>
        </p:txBody>
      </p:sp>
      <p:sp>
        <p:nvSpPr>
          <p:cNvPr id="19" name="Shape 17"/>
          <p:cNvSpPr/>
          <p:nvPr/>
        </p:nvSpPr>
        <p:spPr>
          <a:xfrm>
            <a:off x="548640" y="3931920"/>
            <a:ext cx="8046720" cy="640080"/>
          </a:xfrm>
          <a:prstGeom prst="roundRect">
            <a:avLst>
              <a:gd name="adj" fmla="val 11429"/>
            </a:avLst>
          </a:prstGeom>
          <a:solidFill>
            <a:srgbClr val="0B1B3B"/>
          </a:solidFill>
          <a:ln w="12700">
            <a:solidFill>
              <a:srgbClr val="0B1B3B"/>
            </a:solidFill>
            <a:prstDash val="solid"/>
          </a:ln>
        </p:spPr>
        <p:txBody>
          <a:bodyPr/>
          <a:p/>
        </p:txBody>
      </p:sp>
      <p:sp>
        <p:nvSpPr>
          <p:cNvPr id="20" name="Text 18"/>
          <p:cNvSpPr txBox="1"/>
          <p:nvPr/>
        </p:nvSpPr>
        <p:spPr>
          <a:xfrm>
            <a:off x="548640" y="3931920"/>
            <a:ext cx="8046720" cy="64008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 preliminary review aid. Final legal decisions need professional advice.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548640" y="320040"/>
            <a:ext cx="8046720" cy="548640"/>
          </a:xfrm>
          <a:prstGeom prst="rect">
            <a:avLst/>
          </a:prstGeom>
          <a:noFill/>
        </p:spPr>
        <p:txBody>
          <a:bodyPr wrap="square" lIns="0" tIns="0" rIns="0" bIns="0" rtlCol="0" anchor="t"/>
          <a:lstStyle/>
          <a:p>
            <a:pPr marL="0" indent="0">
              <a:buNone/>
            </a:pPr>
            <a:r>
              <a:rPr lang="en-US" sz="2800" b="1" dirty="0">
                <a:solidFill>
                  <a:srgbClr val="0B1B3B"/>
                </a:solidFill>
                <a:latin typeface="Calibri" panose="020F0502020204030204" pitchFamily="34" charset="0"/>
                <a:ea typeface="Calibri" panose="020F0502020204030204" pitchFamily="34" charset="-122"/>
                <a:cs typeface="Calibri" panose="020F0502020204030204" pitchFamily="34" charset="-120"/>
              </a:rPr>
              <a:t>Future Scope</a:t>
            </a:r>
            <a:endParaRPr lang="en-US" sz="2800" dirty="0"/>
          </a:p>
        </p:txBody>
      </p:sp>
      <p:sp>
        <p:nvSpPr>
          <p:cNvPr id="4" name="Text 2"/>
          <p:cNvSpPr txBox="1"/>
          <p:nvPr/>
        </p:nvSpPr>
        <p:spPr>
          <a:xfrm>
            <a:off x="548640" y="868680"/>
            <a:ext cx="8046720" cy="320040"/>
          </a:xfrm>
          <a:prstGeom prst="rect">
            <a:avLst/>
          </a:prstGeom>
          <a:noFill/>
        </p:spPr>
        <p:txBody>
          <a:bodyPr wrap="square" lIns="0" tIns="0" rIns="0" bIns="0" rtlCol="0" anchor="t"/>
          <a:lstStyle/>
          <a:p>
            <a:pPr marL="0" indent="0">
              <a:buNone/>
            </a:pPr>
            <a:r>
              <a:rPr lang="en-US" sz="1400" dirty="0">
                <a:solidFill>
                  <a:srgbClr val="5B6B85"/>
                </a:solidFill>
                <a:latin typeface="Calibri" panose="020F0502020204030204" pitchFamily="34" charset="0"/>
                <a:ea typeface="Calibri" panose="020F0502020204030204" pitchFamily="34" charset="-122"/>
                <a:cs typeface="Calibri" panose="020F0502020204030204" pitchFamily="34" charset="-120"/>
              </a:rPr>
              <a:t>Where the project can grow</a:t>
            </a:r>
            <a:endParaRPr lang="en-US" sz="1400" dirty="0"/>
          </a:p>
        </p:txBody>
      </p:sp>
      <p:sp>
        <p:nvSpPr>
          <p:cNvPr id="5" name="Text 3"/>
          <p:cNvSpPr txBox="1"/>
          <p:nvPr/>
        </p:nvSpPr>
        <p:spPr>
          <a:xfrm>
            <a:off x="548640" y="4800600"/>
            <a:ext cx="5486400" cy="228600"/>
          </a:xfrm>
          <a:prstGeom prst="rect">
            <a:avLst/>
          </a:prstGeom>
          <a:noFill/>
        </p:spPr>
        <p:txBody>
          <a:bodyPr wrap="square" lIns="0" tIns="0" rIns="0" bIns="0" rtlCol="0" anchor="t"/>
          <a:lstStyle/>
          <a:p>
            <a:pPr marL="0" indent="0">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ContractSentinel AI  |  Team 3  |  Sec 7</a:t>
            </a:r>
            <a:endParaRPr lang="en-US" sz="900" dirty="0"/>
          </a:p>
        </p:txBody>
      </p:sp>
      <p:sp>
        <p:nvSpPr>
          <p:cNvPr id="6" name="Text 4"/>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17</a:t>
            </a:r>
            <a:endParaRPr lang="en-US" sz="900" dirty="0"/>
          </a:p>
        </p:txBody>
      </p:sp>
      <p:sp>
        <p:nvSpPr>
          <p:cNvPr id="7" name="Shape 5"/>
          <p:cNvSpPr/>
          <p:nvPr/>
        </p:nvSpPr>
        <p:spPr>
          <a:xfrm>
            <a:off x="548640" y="1371600"/>
            <a:ext cx="2514600" cy="1463040"/>
          </a:xfrm>
          <a:prstGeom prst="roundRect">
            <a:avLst>
              <a:gd name="adj" fmla="val 5000"/>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8" name="Shape 6"/>
          <p:cNvSpPr/>
          <p:nvPr/>
        </p:nvSpPr>
        <p:spPr>
          <a:xfrm>
            <a:off x="731520" y="1554480"/>
            <a:ext cx="457200" cy="54864"/>
          </a:xfrm>
          <a:prstGeom prst="rect">
            <a:avLst/>
          </a:prstGeom>
          <a:solidFill>
            <a:srgbClr val="14B8A6"/>
          </a:solidFill>
          <a:ln w="12700">
            <a:solidFill>
              <a:srgbClr val="14B8A6"/>
            </a:solidFill>
            <a:prstDash val="solid"/>
          </a:ln>
        </p:spPr>
        <p:txBody>
          <a:bodyPr/>
          <a:p/>
        </p:txBody>
      </p:sp>
      <p:sp>
        <p:nvSpPr>
          <p:cNvPr id="9" name="Text 7"/>
          <p:cNvSpPr txBox="1"/>
          <p:nvPr/>
        </p:nvSpPr>
        <p:spPr>
          <a:xfrm>
            <a:off x="731520" y="169164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Multilingual support</a:t>
            </a:r>
            <a:endParaRPr lang="en-US" sz="1300" dirty="0"/>
          </a:p>
        </p:txBody>
      </p:sp>
      <p:sp>
        <p:nvSpPr>
          <p:cNvPr id="10" name="Text 8"/>
          <p:cNvSpPr txBox="1"/>
          <p:nvPr/>
        </p:nvSpPr>
        <p:spPr>
          <a:xfrm>
            <a:off x="731520" y="2029968"/>
            <a:ext cx="2148840" cy="68580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Analyze contracts in Indian and global languages</a:t>
            </a:r>
            <a:endParaRPr lang="en-US" sz="1100" dirty="0"/>
          </a:p>
        </p:txBody>
      </p:sp>
      <p:sp>
        <p:nvSpPr>
          <p:cNvPr id="11" name="Shape 9"/>
          <p:cNvSpPr/>
          <p:nvPr/>
        </p:nvSpPr>
        <p:spPr>
          <a:xfrm>
            <a:off x="3246120" y="1371600"/>
            <a:ext cx="2514600" cy="1463040"/>
          </a:xfrm>
          <a:prstGeom prst="roundRect">
            <a:avLst>
              <a:gd name="adj" fmla="val 5000"/>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2" name="Shape 10"/>
          <p:cNvSpPr/>
          <p:nvPr/>
        </p:nvSpPr>
        <p:spPr>
          <a:xfrm>
            <a:off x="3429000" y="1554480"/>
            <a:ext cx="457200" cy="54864"/>
          </a:xfrm>
          <a:prstGeom prst="rect">
            <a:avLst/>
          </a:prstGeom>
          <a:solidFill>
            <a:srgbClr val="F59E0B"/>
          </a:solidFill>
          <a:ln w="12700">
            <a:solidFill>
              <a:srgbClr val="F59E0B"/>
            </a:solidFill>
            <a:prstDash val="solid"/>
          </a:ln>
        </p:spPr>
        <p:txBody>
          <a:bodyPr/>
          <a:p/>
        </p:txBody>
      </p:sp>
      <p:sp>
        <p:nvSpPr>
          <p:cNvPr id="13" name="Text 11"/>
          <p:cNvSpPr txBox="1"/>
          <p:nvPr/>
        </p:nvSpPr>
        <p:spPr>
          <a:xfrm>
            <a:off x="3429000" y="169164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Version comparison</a:t>
            </a:r>
            <a:endParaRPr lang="en-US" sz="1300" dirty="0"/>
          </a:p>
        </p:txBody>
      </p:sp>
      <p:sp>
        <p:nvSpPr>
          <p:cNvPr id="14" name="Text 12"/>
          <p:cNvSpPr txBox="1"/>
          <p:nvPr/>
        </p:nvSpPr>
        <p:spPr>
          <a:xfrm>
            <a:off x="3429000" y="2029968"/>
            <a:ext cx="2148840" cy="68580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Highlight changes between contract drafts</a:t>
            </a:r>
            <a:endParaRPr lang="en-US" sz="1100" dirty="0"/>
          </a:p>
        </p:txBody>
      </p:sp>
      <p:sp>
        <p:nvSpPr>
          <p:cNvPr id="15" name="Shape 13"/>
          <p:cNvSpPr/>
          <p:nvPr/>
        </p:nvSpPr>
        <p:spPr>
          <a:xfrm>
            <a:off x="5943600" y="1371600"/>
            <a:ext cx="2514600" cy="1463040"/>
          </a:xfrm>
          <a:prstGeom prst="roundRect">
            <a:avLst>
              <a:gd name="adj" fmla="val 5000"/>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16" name="Shape 14"/>
          <p:cNvSpPr/>
          <p:nvPr/>
        </p:nvSpPr>
        <p:spPr>
          <a:xfrm>
            <a:off x="6126480" y="1554480"/>
            <a:ext cx="457200" cy="54864"/>
          </a:xfrm>
          <a:prstGeom prst="rect">
            <a:avLst/>
          </a:prstGeom>
          <a:solidFill>
            <a:srgbClr val="8B5CF6"/>
          </a:solidFill>
          <a:ln w="12700">
            <a:solidFill>
              <a:srgbClr val="8B5CF6"/>
            </a:solidFill>
            <a:prstDash val="solid"/>
          </a:ln>
        </p:spPr>
        <p:txBody>
          <a:bodyPr/>
          <a:p/>
        </p:txBody>
      </p:sp>
      <p:sp>
        <p:nvSpPr>
          <p:cNvPr id="17" name="Text 15"/>
          <p:cNvSpPr txBox="1"/>
          <p:nvPr/>
        </p:nvSpPr>
        <p:spPr>
          <a:xfrm>
            <a:off x="6126480" y="169164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Legal-specific LLM</a:t>
            </a:r>
            <a:endParaRPr lang="en-US" sz="1300" dirty="0"/>
          </a:p>
        </p:txBody>
      </p:sp>
      <p:sp>
        <p:nvSpPr>
          <p:cNvPr id="18" name="Text 16"/>
          <p:cNvSpPr txBox="1"/>
          <p:nvPr/>
        </p:nvSpPr>
        <p:spPr>
          <a:xfrm>
            <a:off x="6126480" y="2029968"/>
            <a:ext cx="2148840" cy="68580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Fine-tuned model for higher accuracy</a:t>
            </a:r>
            <a:endParaRPr lang="en-US" sz="1100" dirty="0"/>
          </a:p>
        </p:txBody>
      </p:sp>
      <p:sp>
        <p:nvSpPr>
          <p:cNvPr id="19" name="Shape 17"/>
          <p:cNvSpPr/>
          <p:nvPr/>
        </p:nvSpPr>
        <p:spPr>
          <a:xfrm>
            <a:off x="548640" y="3017520"/>
            <a:ext cx="2514600" cy="1463040"/>
          </a:xfrm>
          <a:prstGeom prst="roundRect">
            <a:avLst>
              <a:gd name="adj" fmla="val 5000"/>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0" name="Shape 18"/>
          <p:cNvSpPr/>
          <p:nvPr/>
        </p:nvSpPr>
        <p:spPr>
          <a:xfrm>
            <a:off x="731520" y="3200400"/>
            <a:ext cx="457200" cy="54864"/>
          </a:xfrm>
          <a:prstGeom prst="rect">
            <a:avLst/>
          </a:prstGeom>
          <a:solidFill>
            <a:srgbClr val="3B82F6"/>
          </a:solidFill>
          <a:ln w="12700">
            <a:solidFill>
              <a:srgbClr val="3B82F6"/>
            </a:solidFill>
            <a:prstDash val="solid"/>
          </a:ln>
        </p:spPr>
        <p:txBody>
          <a:bodyPr/>
          <a:p/>
        </p:txBody>
      </p:sp>
      <p:sp>
        <p:nvSpPr>
          <p:cNvPr id="21" name="Text 19"/>
          <p:cNvSpPr txBox="1"/>
          <p:nvPr/>
        </p:nvSpPr>
        <p:spPr>
          <a:xfrm>
            <a:off x="731520" y="333756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Jurisdiction rules</a:t>
            </a:r>
            <a:endParaRPr lang="en-US" sz="1300" dirty="0"/>
          </a:p>
        </p:txBody>
      </p:sp>
      <p:sp>
        <p:nvSpPr>
          <p:cNvPr id="22" name="Text 20"/>
          <p:cNvSpPr txBox="1"/>
          <p:nvPr/>
        </p:nvSpPr>
        <p:spPr>
          <a:xfrm>
            <a:off x="731520" y="3675888"/>
            <a:ext cx="2148840" cy="68580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Check clauses against local laws and acts</a:t>
            </a:r>
            <a:endParaRPr lang="en-US" sz="1100" dirty="0"/>
          </a:p>
        </p:txBody>
      </p:sp>
      <p:sp>
        <p:nvSpPr>
          <p:cNvPr id="23" name="Shape 21"/>
          <p:cNvSpPr/>
          <p:nvPr/>
        </p:nvSpPr>
        <p:spPr>
          <a:xfrm>
            <a:off x="3246120" y="3017520"/>
            <a:ext cx="2514600" cy="1463040"/>
          </a:xfrm>
          <a:prstGeom prst="roundRect">
            <a:avLst>
              <a:gd name="adj" fmla="val 5000"/>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4" name="Shape 22"/>
          <p:cNvSpPr/>
          <p:nvPr/>
        </p:nvSpPr>
        <p:spPr>
          <a:xfrm>
            <a:off x="3429000" y="3200400"/>
            <a:ext cx="457200" cy="54864"/>
          </a:xfrm>
          <a:prstGeom prst="rect">
            <a:avLst/>
          </a:prstGeom>
          <a:solidFill>
            <a:srgbClr val="EF4444"/>
          </a:solidFill>
          <a:ln w="12700">
            <a:solidFill>
              <a:srgbClr val="EF4444"/>
            </a:solidFill>
            <a:prstDash val="solid"/>
          </a:ln>
        </p:spPr>
        <p:txBody>
          <a:bodyPr/>
          <a:p/>
        </p:txBody>
      </p:sp>
      <p:sp>
        <p:nvSpPr>
          <p:cNvPr id="25" name="Text 23"/>
          <p:cNvSpPr txBox="1"/>
          <p:nvPr/>
        </p:nvSpPr>
        <p:spPr>
          <a:xfrm>
            <a:off x="3429000" y="333756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E-signature &amp; CLM</a:t>
            </a:r>
            <a:endParaRPr lang="en-US" sz="1300" dirty="0"/>
          </a:p>
        </p:txBody>
      </p:sp>
      <p:sp>
        <p:nvSpPr>
          <p:cNvPr id="26" name="Text 24"/>
          <p:cNvSpPr txBox="1"/>
          <p:nvPr/>
        </p:nvSpPr>
        <p:spPr>
          <a:xfrm>
            <a:off x="3429000" y="3675888"/>
            <a:ext cx="2148840" cy="68580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Integrate signing and renewal reminders</a:t>
            </a:r>
            <a:endParaRPr lang="en-US" sz="1100" dirty="0"/>
          </a:p>
        </p:txBody>
      </p:sp>
      <p:sp>
        <p:nvSpPr>
          <p:cNvPr id="27" name="Shape 25"/>
          <p:cNvSpPr/>
          <p:nvPr/>
        </p:nvSpPr>
        <p:spPr>
          <a:xfrm>
            <a:off x="5943600" y="3017520"/>
            <a:ext cx="2514600" cy="1463040"/>
          </a:xfrm>
          <a:prstGeom prst="roundRect">
            <a:avLst>
              <a:gd name="adj" fmla="val 5000"/>
            </a:avLst>
          </a:prstGeom>
          <a:solidFill>
            <a:srgbClr val="FFFFFF"/>
          </a:solidFill>
          <a:ln w="9525">
            <a:solidFill>
              <a:srgbClr val="E2E8F0"/>
            </a:solidFill>
            <a:prstDash val="solid"/>
          </a:ln>
          <a:effectLst>
            <a:outerShdw blurRad="76200" dist="25400" dir="5400000" algn="bl" rotWithShape="0">
              <a:srgbClr val="000000">
                <a:alpha val="12000"/>
              </a:srgbClr>
            </a:outerShdw>
          </a:effectLst>
        </p:spPr>
        <p:txBody>
          <a:bodyPr/>
          <a:p/>
        </p:txBody>
      </p:sp>
      <p:sp>
        <p:nvSpPr>
          <p:cNvPr id="28" name="Shape 26"/>
          <p:cNvSpPr/>
          <p:nvPr/>
        </p:nvSpPr>
        <p:spPr>
          <a:xfrm>
            <a:off x="6126480" y="3200400"/>
            <a:ext cx="457200" cy="54864"/>
          </a:xfrm>
          <a:prstGeom prst="rect">
            <a:avLst/>
          </a:prstGeom>
          <a:solidFill>
            <a:srgbClr val="10B981"/>
          </a:solidFill>
          <a:ln w="12700">
            <a:solidFill>
              <a:srgbClr val="10B981"/>
            </a:solidFill>
            <a:prstDash val="solid"/>
          </a:ln>
        </p:spPr>
        <p:txBody>
          <a:bodyPr/>
          <a:p/>
        </p:txBody>
      </p:sp>
      <p:sp>
        <p:nvSpPr>
          <p:cNvPr id="29" name="Text 27"/>
          <p:cNvSpPr txBox="1"/>
          <p:nvPr/>
        </p:nvSpPr>
        <p:spPr>
          <a:xfrm>
            <a:off x="6126480" y="3337560"/>
            <a:ext cx="2148840" cy="320040"/>
          </a:xfrm>
          <a:prstGeom prst="rect">
            <a:avLst/>
          </a:prstGeom>
          <a:noFill/>
        </p:spPr>
        <p:txBody>
          <a:bodyPr wrap="square" lIns="0" tIns="0" rIns="0" bIns="0" rtlCol="0" anchor="t"/>
          <a:lstStyle/>
          <a:p>
            <a:pPr marL="0" indent="0">
              <a:buNone/>
            </a:pPr>
            <a:r>
              <a:rPr lang="en-US" sz="1300" b="1" dirty="0">
                <a:solidFill>
                  <a:srgbClr val="0B1B3B"/>
                </a:solidFill>
                <a:latin typeface="Calibri" panose="020F0502020204030204" pitchFamily="34" charset="0"/>
                <a:ea typeface="Calibri" panose="020F0502020204030204" pitchFamily="34" charset="-122"/>
                <a:cs typeface="Calibri" panose="020F0502020204030204" pitchFamily="34" charset="-120"/>
              </a:rPr>
              <a:t>Mobile app</a:t>
            </a:r>
            <a:endParaRPr lang="en-US" sz="1300" dirty="0"/>
          </a:p>
        </p:txBody>
      </p:sp>
      <p:sp>
        <p:nvSpPr>
          <p:cNvPr id="30" name="Text 28"/>
          <p:cNvSpPr txBox="1"/>
          <p:nvPr/>
        </p:nvSpPr>
        <p:spPr>
          <a:xfrm>
            <a:off x="6126480" y="3675888"/>
            <a:ext cx="2148840" cy="685800"/>
          </a:xfrm>
          <a:prstGeom prst="rect">
            <a:avLst/>
          </a:prstGeom>
          <a:noFill/>
        </p:spPr>
        <p:txBody>
          <a:bodyPr wrap="square" lIns="0" tIns="0" rIns="0" bIns="0" rtlCol="0" anchor="t"/>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Scan and review contracts on the go</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B3B"/>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14B8A6"/>
          </a:solidFill>
          <a:ln w="12700">
            <a:solidFill>
              <a:srgbClr val="14B8A6"/>
            </a:solidFill>
            <a:prstDash val="solid"/>
          </a:ln>
        </p:spPr>
        <p:txBody>
          <a:bodyPr/>
          <a:p/>
        </p:txBody>
      </p:sp>
      <p:sp>
        <p:nvSpPr>
          <p:cNvPr id="3" name="Text 1"/>
          <p:cNvSpPr txBox="1"/>
          <p:nvPr/>
        </p:nvSpPr>
        <p:spPr>
          <a:xfrm>
            <a:off x="822960" y="1371600"/>
            <a:ext cx="7680960" cy="1005840"/>
          </a:xfrm>
          <a:prstGeom prst="rect">
            <a:avLst/>
          </a:prstGeom>
          <a:noFill/>
        </p:spPr>
        <p:txBody>
          <a:bodyPr wrap="square" lIns="0" tIns="0" rIns="0" bIns="0" rtlCol="0" anchor="t"/>
          <a:lstStyle/>
          <a:p>
            <a:pPr marL="0" indent="0">
              <a:buNone/>
            </a:pPr>
            <a:r>
              <a:rPr lang="en-US" sz="6000" b="1" dirty="0">
                <a:solidFill>
                  <a:srgbClr val="F59E0B"/>
                </a:solidFill>
                <a:latin typeface="Calibri" panose="020F0502020204030204" pitchFamily="34" charset="0"/>
                <a:ea typeface="Calibri" panose="020F0502020204030204" pitchFamily="34" charset="-122"/>
                <a:cs typeface="Calibri" panose="020F0502020204030204" pitchFamily="34" charset="-120"/>
              </a:rPr>
              <a:t>Thank You</a:t>
            </a:r>
            <a:endParaRPr lang="en-US" sz="6000" dirty="0"/>
          </a:p>
        </p:txBody>
      </p:sp>
      <p:sp>
        <p:nvSpPr>
          <p:cNvPr id="5" name="Text 3"/>
          <p:cNvSpPr txBox="1"/>
          <p:nvPr/>
        </p:nvSpPr>
        <p:spPr>
          <a:xfrm>
            <a:off x="822960" y="3291840"/>
            <a:ext cx="7680960" cy="320040"/>
          </a:xfrm>
          <a:prstGeom prst="rect">
            <a:avLst/>
          </a:prstGeom>
          <a:noFill/>
        </p:spPr>
        <p:txBody>
          <a:bodyPr wrap="square" lIns="0" tIns="0" rIns="0" bIns="0" rtlCol="0" anchor="t"/>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ContractSentinel AI  |  Sec 7  |  Team 3</a:t>
            </a:r>
            <a:endParaRPr lang="en-US" sz="1400" dirty="0"/>
          </a:p>
        </p:txBody>
      </p:sp>
      <p:sp>
        <p:nvSpPr>
          <p:cNvPr id="6" name="Text 4"/>
          <p:cNvSpPr txBox="1"/>
          <p:nvPr/>
        </p:nvSpPr>
        <p:spPr>
          <a:xfrm>
            <a:off x="822960" y="3657600"/>
            <a:ext cx="7680960" cy="320040"/>
          </a:xfrm>
          <a:prstGeom prst="rect">
            <a:avLst/>
          </a:prstGeom>
          <a:noFill/>
        </p:spPr>
        <p:txBody>
          <a:bodyPr wrap="square" lIns="0" tIns="0" rIns="0" bIns="0" rtlCol="0" anchor="t"/>
          <a:lstStyle/>
          <a:p>
            <a:pPr marL="0" indent="0">
              <a:buNone/>
            </a:pPr>
            <a:r>
              <a:rPr lang="en-US" sz="1200" dirty="0">
                <a:solidFill>
                  <a:srgbClr val="CBD5E1"/>
                </a:solidFill>
                <a:latin typeface="Calibri" panose="020F0502020204030204" pitchFamily="34" charset="0"/>
                <a:ea typeface="Calibri" panose="020F0502020204030204" pitchFamily="34" charset="-122"/>
                <a:cs typeface="Calibri" panose="020F0502020204030204" pitchFamily="34" charset="-120"/>
              </a:rPr>
              <a:t>Pranaw Reddy  |  Anudeep Potnuru  |  Asritha Chowdary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6683</Words>
  <Application>WPS Presentation</Application>
  <PresentationFormat>On-screen Show (16:9)</PresentationFormat>
  <Paragraphs>447</Paragraphs>
  <Slides>17</Slides>
  <Notes>18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ContractSentinel AI</dc:title>
  <dc:creator>Team 3 - Sec 7</dc:creator>
  <dc:subject>PptxGenJS Presentation</dc:subject>
  <cp:lastModifiedBy>lakshmi narayana reddy b</cp:lastModifiedBy>
  <cp:revision>3</cp:revision>
  <dcterms:created xsi:type="dcterms:W3CDTF">2026-10-02T13:23:00Z</dcterms:created>
  <dcterms:modified xsi:type="dcterms:W3CDTF">2026-10-02T13:37:46Z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D2EA917F4FA849F083EE4334ED5A4676_13</vt:lpwstr>
  </property>
  <property fmtid="{D5CDD505-2E9C-101B-9397-08002B2CF9AE}" pid="3" name="KSOProductBuildVer">
    <vt:lpwstr>1033-12.1.0.28485</vt:lpwstr>
  </property>
</Properties>
</file>